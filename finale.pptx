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>
  <p:sldMasterIdLst>
    <p:sldMasterId id="2147483648" r:id="rId1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4608"/>
        <p:guide pos="2592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54678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0072493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49056446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0586573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96518589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308543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75152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3218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40663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7339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91791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84566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8691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73280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9167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AE4ECC-A62B-88F4-4CB7-71776E2C6E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9262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9859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87884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E5C139-B151-53E3-A39E-3EEB2FE3AA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16392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0620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470161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CDE648-79EF-EDEF-7BC3-3EAE1285BD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8992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77333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037369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D3A0BA-5741-2340-4947-30010A29462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3897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34688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9254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3101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8776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18504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9257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59519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56158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6854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8712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395608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1957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1834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42714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5B7D9B-C7A1-0993-1F89-092130D029A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4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6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1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19154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319632087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396377520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2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344085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73659168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964828395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3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607048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63875340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457904917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4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376578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296655109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370925250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5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118688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115446164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084287938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6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086343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57600884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22666400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7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6220422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702150122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88291391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media1.sv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media2.sv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media3.sv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media4.sv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media5.svg"/><Relationship Id="rId15" Type="http://schemas.openxmlformats.org/officeDocument/2006/relationships/image" Target="../media/image21.png"/><Relationship Id="rId16" Type="http://schemas.openxmlformats.org/officeDocument/2006/relationships/image" Target="../media/image22.png"/><Relationship Id="rId17" Type="http://schemas.openxmlformats.org/officeDocument/2006/relationships/image" Target="../media/media6.sv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Relationship Id="rId4" Type="http://schemas.openxmlformats.org/officeDocument/2006/relationships/image" Target="../media/media7.svg"/><Relationship Id="rId5" Type="http://schemas.openxmlformats.org/officeDocument/2006/relationships/image" Target="../media/image24.png"/><Relationship Id="rId6" Type="http://schemas.openxmlformats.org/officeDocument/2006/relationships/image" Target="../media/media8.svg"/><Relationship Id="rId7" Type="http://schemas.openxmlformats.org/officeDocument/2006/relationships/image" Target="../media/image25.png"/><Relationship Id="rId8" Type="http://schemas.openxmlformats.org/officeDocument/2006/relationships/image" Target="../media/media9.svg"/><Relationship Id="rId9" Type="http://schemas.openxmlformats.org/officeDocument/2006/relationships/image" Target="../media/image26.png"/><Relationship Id="rId10" Type="http://schemas.openxmlformats.org/officeDocument/2006/relationships/image" Target="../media/media10.svg"/><Relationship Id="rId11" Type="http://schemas.openxmlformats.org/officeDocument/2006/relationships/image" Target="../media/image27.png"/><Relationship Id="rId12" Type="http://schemas.openxmlformats.org/officeDocument/2006/relationships/image" Target="../media/media11.sv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8.png"/><Relationship Id="rId4" Type="http://schemas.openxmlformats.org/officeDocument/2006/relationships/image" Target="../media/media12.sv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media13.sv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media14.sv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media15.svg"/><Relationship Id="rId12" Type="http://schemas.openxmlformats.org/officeDocument/2006/relationships/image" Target="../media/image40.png"/><Relationship Id="rId13" Type="http://schemas.openxmlformats.org/officeDocument/2006/relationships/image" Target="../media/image41.png"/><Relationship Id="rId14" Type="http://schemas.openxmlformats.org/officeDocument/2006/relationships/image" Target="../media/media16.sv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2.png"/><Relationship Id="rId4" Type="http://schemas.openxmlformats.org/officeDocument/2006/relationships/image" Target="../media/media17.svg"/><Relationship Id="rId5" Type="http://schemas.openxmlformats.org/officeDocument/2006/relationships/image" Target="../media/image43.png"/><Relationship Id="rId6" Type="http://schemas.openxmlformats.org/officeDocument/2006/relationships/image" Target="../media/media18.svg"/><Relationship Id="rId7" Type="http://schemas.openxmlformats.org/officeDocument/2006/relationships/image" Target="../media/image44.png"/><Relationship Id="rId8" Type="http://schemas.openxmlformats.org/officeDocument/2006/relationships/image" Target="../media/media19.svg"/><Relationship Id="rId9" Type="http://schemas.openxmlformats.org/officeDocument/2006/relationships/image" Target="../media/image4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6.png"/><Relationship Id="rId4" Type="http://schemas.openxmlformats.org/officeDocument/2006/relationships/image" Target="../media/media20.svg"/><Relationship Id="rId5" Type="http://schemas.openxmlformats.org/officeDocument/2006/relationships/image" Target="../media/image47.png"/><Relationship Id="rId6" Type="http://schemas.openxmlformats.org/officeDocument/2006/relationships/image" Target="../media/media21.svg"/><Relationship Id="rId7" Type="http://schemas.openxmlformats.org/officeDocument/2006/relationships/image" Target="../media/image48.png"/><Relationship Id="rId8" Type="http://schemas.openxmlformats.org/officeDocument/2006/relationships/image" Target="../media/media22.svg"/><Relationship Id="rId9" Type="http://schemas.openxmlformats.org/officeDocument/2006/relationships/image" Target="../media/image49.png"/><Relationship Id="rId10" Type="http://schemas.openxmlformats.org/officeDocument/2006/relationships/image" Target="../media/media23.svg"/><Relationship Id="rId11" Type="http://schemas.openxmlformats.org/officeDocument/2006/relationships/image" Target="../media/image50.png"/><Relationship Id="rId12" Type="http://schemas.openxmlformats.org/officeDocument/2006/relationships/image" Target="../media/media24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6506027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1408466325" name="Text 0"/>
          <p:cNvSpPr/>
          <p:nvPr/>
        </p:nvSpPr>
        <p:spPr bwMode="auto">
          <a:xfrm>
            <a:off x="793790" y="244447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Mini Cozy Room</a:t>
            </a:r>
            <a:endParaRPr lang="en-US" sz="4450"/>
          </a:p>
        </p:txBody>
      </p:sp>
      <p:sp>
        <p:nvSpPr>
          <p:cNvPr id="1015176060" name="Shape 1"/>
          <p:cNvSpPr/>
          <p:nvPr/>
        </p:nvSpPr>
        <p:spPr bwMode="auto">
          <a:xfrm>
            <a:off x="793790" y="3493413"/>
            <a:ext cx="2813566" cy="426244"/>
          </a:xfrm>
          <a:prstGeom prst="roundRect">
            <a:avLst>
              <a:gd name="adj" fmla="val 6386"/>
            </a:avLst>
          </a:prstGeom>
          <a:solidFill>
            <a:srgbClr val="D7D6F5"/>
          </a:solidFill>
          <a:ln/>
        </p:spPr>
      </p:sp>
      <p:pic>
        <p:nvPicPr>
          <p:cNvPr id="526359510" name="Image 1" descr="preencoded.p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929878" y="3615809"/>
            <a:ext cx="181451" cy="181451"/>
          </a:xfrm>
          <a:prstGeom prst="rect">
            <a:avLst/>
          </a:prstGeom>
        </p:spPr>
      </p:pic>
      <p:sp>
        <p:nvSpPr>
          <p:cNvPr id="1360205273" name="Text 2"/>
          <p:cNvSpPr/>
          <p:nvPr/>
        </p:nvSpPr>
        <p:spPr bwMode="auto">
          <a:xfrm>
            <a:off x="1202055" y="3561398"/>
            <a:ext cx="226921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PROGETTO IFTS 2025/2026</a:t>
            </a:r>
            <a:endParaRPr lang="en-US" sz="1400"/>
          </a:p>
        </p:txBody>
      </p:sp>
      <p:sp>
        <p:nvSpPr>
          <p:cNvPr id="567165755" name="Text 3"/>
          <p:cNvSpPr/>
          <p:nvPr/>
        </p:nvSpPr>
        <p:spPr bwMode="auto">
          <a:xfrm>
            <a:off x="793790" y="4010382"/>
            <a:ext cx="7556421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Relax Room</a:t>
            </a:r>
            <a:r>
              <a:rPr lang="en-US" sz="22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 — Il tuo compagno desktop per il relax e la produttività consapevole</a:t>
            </a:r>
            <a:endParaRPr lang="en-US" sz="2200"/>
          </a:p>
        </p:txBody>
      </p:sp>
      <p:sp>
        <p:nvSpPr>
          <p:cNvPr id="1133025235" name="Text 4"/>
          <p:cNvSpPr/>
          <p:nvPr/>
        </p:nvSpPr>
        <p:spPr bwMode="auto">
          <a:xfrm>
            <a:off x="793790" y="5059204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Presentazione Aprile 2026 | </a:t>
            </a:r>
            <a:r>
              <a:rPr lang="en-US" sz="17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Renan Augusto Macena</a:t>
            </a:r>
            <a:r>
              <a:rPr lang="en-US" sz="17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· </a:t>
            </a:r>
            <a:r>
              <a:rPr lang="en-US" sz="17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Elia Zoccatelli</a:t>
            </a:r>
            <a:r>
              <a:rPr lang="en-US" sz="17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· </a:t>
            </a:r>
            <a:r>
              <a:rPr lang="en-US" sz="17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Cristian Marino</a:t>
            </a:r>
            <a:endParaRPr lang="en-US" sz="1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7239970" name="Text 0"/>
          <p:cNvSpPr/>
          <p:nvPr/>
        </p:nvSpPr>
        <p:spPr bwMode="auto">
          <a:xfrm>
            <a:off x="793790" y="645081"/>
            <a:ext cx="472880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  <a:defRPr/>
            </a:pPr>
            <a:r>
              <a:rPr lang="en-US" sz="35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Il Team + Il Progetto</a:t>
            </a:r>
            <a:endParaRPr lang="en-US" sz="3550"/>
          </a:p>
        </p:txBody>
      </p:sp>
      <p:sp>
        <p:nvSpPr>
          <p:cNvPr id="1030489323" name="Shape 1"/>
          <p:cNvSpPr/>
          <p:nvPr/>
        </p:nvSpPr>
        <p:spPr bwMode="auto">
          <a:xfrm>
            <a:off x="793790" y="1592937"/>
            <a:ext cx="6974324" cy="1904405"/>
          </a:xfrm>
          <a:prstGeom prst="roundRect">
            <a:avLst>
              <a:gd name="adj" fmla="val 5762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110847810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70930" y="1592937"/>
            <a:ext cx="91440" cy="1904405"/>
          </a:xfrm>
          <a:prstGeom prst="rect">
            <a:avLst/>
          </a:prstGeom>
        </p:spPr>
      </p:pic>
      <p:sp>
        <p:nvSpPr>
          <p:cNvPr id="506491929" name="Text 2"/>
          <p:cNvSpPr/>
          <p:nvPr/>
        </p:nvSpPr>
        <p:spPr bwMode="auto">
          <a:xfrm>
            <a:off x="1066681" y="1797247"/>
            <a:ext cx="6497122" cy="56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7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Renan Augusto Macena — </a:t>
            </a:r>
            <a:r>
              <a:rPr lang="en-US" sz="175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Team Lead &amp; Architetto Software</a:t>
            </a:r>
            <a:endParaRPr lang="en-US" sz="1750"/>
          </a:p>
        </p:txBody>
      </p:sp>
      <p:sp>
        <p:nvSpPr>
          <p:cNvPr id="2116242316" name="Text 3"/>
          <p:cNvSpPr/>
          <p:nvPr/>
        </p:nvSpPr>
        <p:spPr bwMode="auto">
          <a:xfrm>
            <a:off x="1066681" y="2509361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Progettazione dell'architettura signal-driven, sviluppo dei sistemi core (SaveManager, AuthManager, GameManager, SupabaseClient, Logger), assistenza per il team e gestione del repository Git.</a:t>
            </a:r>
            <a:endParaRPr lang="en-US" sz="1400"/>
          </a:p>
        </p:txBody>
      </p:sp>
      <p:sp>
        <p:nvSpPr>
          <p:cNvPr id="1148995428" name="Shape 4"/>
          <p:cNvSpPr/>
          <p:nvPr/>
        </p:nvSpPr>
        <p:spPr bwMode="auto">
          <a:xfrm>
            <a:off x="793790" y="3642479"/>
            <a:ext cx="6974324" cy="1620917"/>
          </a:xfrm>
          <a:prstGeom prst="roundRect">
            <a:avLst>
              <a:gd name="adj" fmla="val 6770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1956157238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70930" y="3642479"/>
            <a:ext cx="91440" cy="1620917"/>
          </a:xfrm>
          <a:prstGeom prst="rect">
            <a:avLst/>
          </a:prstGeom>
        </p:spPr>
      </p:pic>
      <p:sp>
        <p:nvSpPr>
          <p:cNvPr id="1058587300" name="Text 5"/>
          <p:cNvSpPr/>
          <p:nvPr/>
        </p:nvSpPr>
        <p:spPr bwMode="auto">
          <a:xfrm>
            <a:off x="1066681" y="3846790"/>
            <a:ext cx="4183142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7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Elia Zoccatelli — </a:t>
            </a:r>
            <a:r>
              <a:rPr lang="en-US" sz="175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Database Engineer</a:t>
            </a:r>
            <a:endParaRPr lang="en-US" sz="1750"/>
          </a:p>
        </p:txBody>
      </p:sp>
      <p:sp>
        <p:nvSpPr>
          <p:cNvPr id="420114395" name="Text 6"/>
          <p:cNvSpPr/>
          <p:nvPr/>
        </p:nvSpPr>
        <p:spPr bwMode="auto">
          <a:xfrm>
            <a:off x="1066681" y="4275415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Progettazione dello schema dati locale (SQLite, 11 tabelle) e cloud (Supabase PostgreSQL, 15 tabelle con Row-Level Security). Modellazione relazionale, politiche di sicurezza per-utente, migrazioni automatiche.</a:t>
            </a:r>
            <a:endParaRPr lang="en-US" sz="1400"/>
          </a:p>
        </p:txBody>
      </p:sp>
      <p:sp>
        <p:nvSpPr>
          <p:cNvPr id="1582302347" name="Shape 7"/>
          <p:cNvSpPr/>
          <p:nvPr/>
        </p:nvSpPr>
        <p:spPr bwMode="auto">
          <a:xfrm>
            <a:off x="793790" y="5408533"/>
            <a:ext cx="6974324" cy="1620917"/>
          </a:xfrm>
          <a:prstGeom prst="roundRect">
            <a:avLst>
              <a:gd name="adj" fmla="val 6770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154846072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70930" y="5408533"/>
            <a:ext cx="91440" cy="1620917"/>
          </a:xfrm>
          <a:prstGeom prst="rect">
            <a:avLst/>
          </a:prstGeom>
        </p:spPr>
      </p:pic>
      <p:sp>
        <p:nvSpPr>
          <p:cNvPr id="398412300" name="Text 8"/>
          <p:cNvSpPr/>
          <p:nvPr/>
        </p:nvSpPr>
        <p:spPr bwMode="auto">
          <a:xfrm>
            <a:off x="1066681" y="5612844"/>
            <a:ext cx="492275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7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Cristian Marino — </a:t>
            </a:r>
            <a:r>
              <a:rPr lang="en-US" sz="175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Asset Pipeline &amp; CI/CD</a:t>
            </a:r>
            <a:endParaRPr lang="en-US" sz="1750"/>
          </a:p>
        </p:txBody>
      </p:sp>
      <p:sp>
        <p:nvSpPr>
          <p:cNvPr id="2105754934" name="Text 9"/>
          <p:cNvSpPr/>
          <p:nvPr/>
        </p:nvSpPr>
        <p:spPr bwMode="auto">
          <a:xfrm>
            <a:off x="1066681" y="6041469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Creazione degli asset pixel art (personaggi, decorazioni, sfondi), configurazione della pipeline di integrazione continua a 9 job paralleli, gestione dei build automatizzati per Windows e Web.</a:t>
            </a:r>
            <a:endParaRPr lang="en-US" sz="1400"/>
          </a:p>
        </p:txBody>
      </p:sp>
      <p:sp>
        <p:nvSpPr>
          <p:cNvPr id="1880070150" name="Text 10"/>
          <p:cNvSpPr/>
          <p:nvPr/>
        </p:nvSpPr>
        <p:spPr bwMode="auto">
          <a:xfrm>
            <a:off x="793790" y="7192685"/>
            <a:ext cx="6974324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Tre ruoli complementari, un obiettivo comune.</a:t>
            </a:r>
            <a:endParaRPr lang="en-US" sz="1400"/>
          </a:p>
        </p:txBody>
      </p:sp>
      <p:sp>
        <p:nvSpPr>
          <p:cNvPr id="1843047440" name="Shape 11"/>
          <p:cNvSpPr/>
          <p:nvPr/>
        </p:nvSpPr>
        <p:spPr bwMode="auto">
          <a:xfrm>
            <a:off x="8087797" y="1429703"/>
            <a:ext cx="5886926" cy="6154817"/>
          </a:xfrm>
          <a:prstGeom prst="roundRect">
            <a:avLst>
              <a:gd name="adj" fmla="val 462"/>
            </a:avLst>
          </a:prstGeom>
          <a:solidFill>
            <a:srgbClr val="E7E0FF"/>
          </a:solidFill>
          <a:ln/>
        </p:spPr>
      </p:sp>
      <p:sp>
        <p:nvSpPr>
          <p:cNvPr id="41964410" name="Text 12"/>
          <p:cNvSpPr/>
          <p:nvPr/>
        </p:nvSpPr>
        <p:spPr bwMode="auto">
          <a:xfrm>
            <a:off x="8269248" y="1574840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7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Cos'è Relax Room?</a:t>
            </a:r>
            <a:endParaRPr lang="en-US" sz="1750"/>
          </a:p>
        </p:txBody>
      </p:sp>
      <p:sp>
        <p:nvSpPr>
          <p:cNvPr id="1719195486" name="Text 13"/>
          <p:cNvSpPr/>
          <p:nvPr/>
        </p:nvSpPr>
        <p:spPr bwMode="auto">
          <a:xfrm>
            <a:off x="8269248" y="2003465"/>
            <a:ext cx="5524024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Un'applicazione desktop che trasforma il tuo PC in uno spazio accogliente e personalizzabile.</a:t>
            </a:r>
            <a:endParaRPr lang="en-US" sz="1400"/>
          </a:p>
        </p:txBody>
      </p:sp>
      <p:sp>
        <p:nvSpPr>
          <p:cNvPr id="198310677" name="Text 14"/>
          <p:cNvSpPr/>
          <p:nvPr/>
        </p:nvSpPr>
        <p:spPr bwMode="auto">
          <a:xfrm>
            <a:off x="8269248" y="2656523"/>
            <a:ext cx="5524024" cy="265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🎨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4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Stanza Pixel Art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Decorabile con 129 oggetti in 13 categorie</a:t>
            </a:r>
            <a:endParaRPr lang="en-US" sz="14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🎵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4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Musica Lo-Fi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2 tracce ambient con crossfade automatico</a:t>
            </a:r>
            <a:endParaRPr lang="en-US" sz="14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🧍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4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Personaggio animato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Sprite 32×32 in 8 direzioni</a:t>
            </a:r>
            <a:endParaRPr lang="en-US" sz="14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🐈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4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Pet Virtuale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Gattino con comportamento autonomo</a:t>
            </a:r>
            <a:endParaRPr lang="en-US" sz="14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📋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4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Produttività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Strumenti organizzativi consapevoli</a:t>
            </a:r>
            <a:endParaRPr lang="en-US" sz="14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📴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4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Offline-first</a:t>
            </a: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Funziona senza internet, sync cloud opzionale</a:t>
            </a:r>
            <a:endParaRPr lang="en-US" sz="1400"/>
          </a:p>
        </p:txBody>
      </p:sp>
      <p:sp>
        <p:nvSpPr>
          <p:cNvPr id="1961027287" name="Text 15"/>
          <p:cNvSpPr/>
          <p:nvPr/>
        </p:nvSpPr>
        <p:spPr bwMode="auto">
          <a:xfrm>
            <a:off x="8541425" y="5470088"/>
            <a:ext cx="5251847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Non è un gioco. È un ambiente. Un luogo dove tornare quando hai bisogno di un momento di calma.</a:t>
            </a:r>
            <a:endParaRPr lang="en-US" sz="1400"/>
          </a:p>
        </p:txBody>
      </p:sp>
      <p:sp>
        <p:nvSpPr>
          <p:cNvPr id="875721883" name="Shape 16"/>
          <p:cNvSpPr/>
          <p:nvPr/>
        </p:nvSpPr>
        <p:spPr bwMode="auto">
          <a:xfrm>
            <a:off x="8269248" y="5470088"/>
            <a:ext cx="22860" cy="522446"/>
          </a:xfrm>
          <a:prstGeom prst="rect">
            <a:avLst/>
          </a:prstGeom>
          <a:solidFill>
            <a:srgbClr val="403CC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13373" name="Text 0"/>
          <p:cNvSpPr/>
          <p:nvPr/>
        </p:nvSpPr>
        <p:spPr bwMode="auto">
          <a:xfrm>
            <a:off x="793789" y="852844"/>
            <a:ext cx="5954196" cy="6379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99"/>
              </a:lnSpc>
              <a:buNone/>
              <a:defRPr/>
            </a:pPr>
            <a:r>
              <a:rPr lang="en-US" sz="40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Funzionalità Principali</a:t>
            </a:r>
            <a:endParaRPr lang="en-US" sz="4000"/>
          </a:p>
        </p:txBody>
      </p:sp>
      <p:sp>
        <p:nvSpPr>
          <p:cNvPr id="603449371" name="Text 1"/>
          <p:cNvSpPr/>
          <p:nvPr/>
        </p:nvSpPr>
        <p:spPr bwMode="auto">
          <a:xfrm>
            <a:off x="793789" y="1858207"/>
            <a:ext cx="13042820" cy="3102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99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Cinque pilastri che definiscono l'esperienza di gioco, dalla decorazione alla musica, dal personaggio al tutorial.</a:t>
            </a:r>
            <a:endParaRPr lang="en-US" sz="1600"/>
          </a:p>
        </p:txBody>
      </p:sp>
      <p:sp>
        <p:nvSpPr>
          <p:cNvPr id="1341987121" name="Shape 2"/>
          <p:cNvSpPr/>
          <p:nvPr/>
        </p:nvSpPr>
        <p:spPr bwMode="auto">
          <a:xfrm>
            <a:off x="793789" y="2375177"/>
            <a:ext cx="4225051" cy="2564010"/>
          </a:xfrm>
          <a:prstGeom prst="roundRect">
            <a:avLst>
              <a:gd name="adj" fmla="val 1194"/>
            </a:avLst>
          </a:prstGeom>
          <a:solidFill>
            <a:srgbClr val="EAE8F3"/>
          </a:solidFill>
          <a:ln/>
        </p:spPr>
      </p:sp>
      <p:pic>
        <p:nvPicPr>
          <p:cNvPr id="49200460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97862" y="2579250"/>
            <a:ext cx="612337" cy="612337"/>
          </a:xfrm>
          <a:prstGeom prst="rect">
            <a:avLst/>
          </a:prstGeom>
        </p:spPr>
      </p:pic>
      <p:pic>
        <p:nvPicPr>
          <p:cNvPr id="1060734893" name="Image 1" descr="preencoded.p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1166216" y="2747604"/>
            <a:ext cx="275510" cy="275510"/>
          </a:xfrm>
          <a:prstGeom prst="rect">
            <a:avLst/>
          </a:prstGeom>
        </p:spPr>
      </p:pic>
      <p:sp>
        <p:nvSpPr>
          <p:cNvPr id="1760252080" name="Text 3"/>
          <p:cNvSpPr/>
          <p:nvPr/>
        </p:nvSpPr>
        <p:spPr bwMode="auto">
          <a:xfrm>
            <a:off x="997862" y="3375302"/>
            <a:ext cx="3776781" cy="318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99"/>
              </a:lnSpc>
              <a:buNone/>
              <a:defRPr/>
            </a:pP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Decorazione Drag-and-Drop</a:t>
            </a:r>
            <a:endParaRPr lang="en-US" sz="2000"/>
          </a:p>
        </p:txBody>
      </p:sp>
      <p:sp>
        <p:nvSpPr>
          <p:cNvPr id="580473731" name="Text 4"/>
          <p:cNvSpPr/>
          <p:nvPr/>
        </p:nvSpPr>
        <p:spPr bwMode="auto">
          <a:xfrm>
            <a:off x="997862" y="3804284"/>
            <a:ext cx="3816905" cy="930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99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129 oggetti in 13 categorie. Azioni R, F, S, X. Salvataggio persistente della posizione.</a:t>
            </a:r>
            <a:endParaRPr lang="en-US" sz="1600"/>
          </a:p>
        </p:txBody>
      </p:sp>
      <p:sp>
        <p:nvSpPr>
          <p:cNvPr id="919154811" name="Shape 5"/>
          <p:cNvSpPr/>
          <p:nvPr/>
        </p:nvSpPr>
        <p:spPr bwMode="auto">
          <a:xfrm>
            <a:off x="5202553" y="2375177"/>
            <a:ext cx="4225170" cy="2564010"/>
          </a:xfrm>
          <a:prstGeom prst="roundRect">
            <a:avLst>
              <a:gd name="adj" fmla="val 1194"/>
            </a:avLst>
          </a:prstGeom>
          <a:solidFill>
            <a:srgbClr val="EAE8F3"/>
          </a:solidFill>
          <a:ln/>
        </p:spPr>
      </p:sp>
      <p:pic>
        <p:nvPicPr>
          <p:cNvPr id="800000577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406627" y="2579250"/>
            <a:ext cx="612337" cy="612337"/>
          </a:xfrm>
          <a:prstGeom prst="rect">
            <a:avLst/>
          </a:prstGeom>
        </p:spPr>
      </p:pic>
      <p:pic>
        <p:nvPicPr>
          <p:cNvPr id="1469940055" name="Image 3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5574982" y="2747604"/>
            <a:ext cx="275510" cy="275510"/>
          </a:xfrm>
          <a:prstGeom prst="rect">
            <a:avLst/>
          </a:prstGeom>
        </p:spPr>
      </p:pic>
      <p:sp>
        <p:nvSpPr>
          <p:cNvPr id="989675437" name="Text 6"/>
          <p:cNvSpPr/>
          <p:nvPr/>
        </p:nvSpPr>
        <p:spPr bwMode="auto">
          <a:xfrm>
            <a:off x="5406627" y="3375302"/>
            <a:ext cx="2794991" cy="318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99"/>
              </a:lnSpc>
              <a:buNone/>
              <a:defRPr/>
            </a:pP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Personaggio Animato</a:t>
            </a:r>
            <a:endParaRPr lang="en-US" sz="2000"/>
          </a:p>
        </p:txBody>
      </p:sp>
      <p:sp>
        <p:nvSpPr>
          <p:cNvPr id="1210307080" name="Text 7"/>
          <p:cNvSpPr/>
          <p:nvPr/>
        </p:nvSpPr>
        <p:spPr bwMode="auto">
          <a:xfrm>
            <a:off x="5406627" y="3804284"/>
            <a:ext cx="3817024" cy="930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99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Sprite 32×32, 8 direzioni, 4 frame per camminata, velocità 120 px/s con WASD o frecce.</a:t>
            </a:r>
            <a:endParaRPr lang="en-US" sz="1600"/>
          </a:p>
        </p:txBody>
      </p:sp>
      <p:sp>
        <p:nvSpPr>
          <p:cNvPr id="1988913318" name="Shape 8"/>
          <p:cNvSpPr/>
          <p:nvPr/>
        </p:nvSpPr>
        <p:spPr bwMode="auto">
          <a:xfrm>
            <a:off x="9611438" y="2375177"/>
            <a:ext cx="4225170" cy="2564010"/>
          </a:xfrm>
          <a:prstGeom prst="roundRect">
            <a:avLst>
              <a:gd name="adj" fmla="val 1194"/>
            </a:avLst>
          </a:prstGeom>
          <a:solidFill>
            <a:srgbClr val="EAE8F3"/>
          </a:solidFill>
          <a:ln/>
        </p:spPr>
      </p:sp>
      <p:pic>
        <p:nvPicPr>
          <p:cNvPr id="745620257" name="Image 4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9815511" y="2579250"/>
            <a:ext cx="612337" cy="612337"/>
          </a:xfrm>
          <a:prstGeom prst="rect">
            <a:avLst/>
          </a:prstGeom>
        </p:spPr>
      </p:pic>
      <p:pic>
        <p:nvPicPr>
          <p:cNvPr id="396065627" name="Image 5" descr="preencoded.png"/>
          <p:cNvPicPr>
            <a:picLocks noChangeAspect="1"/>
          </p:cNvPicPr>
          <p:nvPr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 bwMode="auto">
          <a:xfrm>
            <a:off x="9983866" y="2747604"/>
            <a:ext cx="275510" cy="275510"/>
          </a:xfrm>
          <a:prstGeom prst="rect">
            <a:avLst/>
          </a:prstGeom>
        </p:spPr>
      </p:pic>
      <p:sp>
        <p:nvSpPr>
          <p:cNvPr id="98018669" name="Text 9"/>
          <p:cNvSpPr/>
          <p:nvPr/>
        </p:nvSpPr>
        <p:spPr bwMode="auto">
          <a:xfrm>
            <a:off x="9815511" y="3375302"/>
            <a:ext cx="2551747" cy="318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99"/>
              </a:lnSpc>
              <a:buNone/>
              <a:defRPr/>
            </a:pP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Pet Virtuale</a:t>
            </a:r>
            <a:endParaRPr lang="en-US" sz="2000"/>
          </a:p>
        </p:txBody>
      </p:sp>
      <p:sp>
        <p:nvSpPr>
          <p:cNvPr id="345398613" name="Text 10"/>
          <p:cNvSpPr/>
          <p:nvPr/>
        </p:nvSpPr>
        <p:spPr bwMode="auto">
          <a:xfrm>
            <a:off x="9815511" y="3804284"/>
            <a:ext cx="3817024" cy="930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99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Gattino con macchina a stati: idle, wander, follow, sleep, play. Animazioni dedicate per ogni stato.</a:t>
            </a:r>
            <a:endParaRPr lang="en-US" sz="1600"/>
          </a:p>
        </p:txBody>
      </p:sp>
      <p:sp>
        <p:nvSpPr>
          <p:cNvPr id="1656272719" name="Shape 11"/>
          <p:cNvSpPr/>
          <p:nvPr/>
        </p:nvSpPr>
        <p:spPr bwMode="auto">
          <a:xfrm>
            <a:off x="793789" y="5122901"/>
            <a:ext cx="6429493" cy="2253733"/>
          </a:xfrm>
          <a:prstGeom prst="roundRect">
            <a:avLst>
              <a:gd name="adj" fmla="val 1359"/>
            </a:avLst>
          </a:prstGeom>
          <a:solidFill>
            <a:srgbClr val="EAE8F3"/>
          </a:solidFill>
          <a:ln/>
        </p:spPr>
      </p:sp>
      <p:pic>
        <p:nvPicPr>
          <p:cNvPr id="1586050121" name="Image 6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997862" y="5326974"/>
            <a:ext cx="612337" cy="612337"/>
          </a:xfrm>
          <a:prstGeom prst="rect">
            <a:avLst/>
          </a:prstGeom>
        </p:spPr>
      </p:pic>
      <p:pic>
        <p:nvPicPr>
          <p:cNvPr id="207662887" name="Image 7" descr="preencoded.png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>
            <a:off x="1166216" y="5495329"/>
            <a:ext cx="275510" cy="275510"/>
          </a:xfrm>
          <a:prstGeom prst="rect">
            <a:avLst/>
          </a:prstGeom>
        </p:spPr>
      </p:pic>
      <p:sp>
        <p:nvSpPr>
          <p:cNvPr id="341057249" name="Text 12"/>
          <p:cNvSpPr/>
          <p:nvPr/>
        </p:nvSpPr>
        <p:spPr bwMode="auto">
          <a:xfrm>
            <a:off x="997862" y="6123026"/>
            <a:ext cx="2551747" cy="318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99"/>
              </a:lnSpc>
              <a:buNone/>
              <a:defRPr/>
            </a:pP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Audio Lo-Fi</a:t>
            </a:r>
            <a:endParaRPr lang="en-US" sz="2000"/>
          </a:p>
        </p:txBody>
      </p:sp>
      <p:sp>
        <p:nvSpPr>
          <p:cNvPr id="369781385" name="Text 13"/>
          <p:cNvSpPr/>
          <p:nvPr/>
        </p:nvSpPr>
        <p:spPr bwMode="auto">
          <a:xfrm>
            <a:off x="997862" y="6552009"/>
            <a:ext cx="6021347" cy="620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99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2 tracce ambient con crossfade a 2s. 3 modalità playlist. 3 bus volume indipendenti.</a:t>
            </a:r>
            <a:endParaRPr lang="en-US" sz="1600"/>
          </a:p>
        </p:txBody>
      </p:sp>
      <p:sp>
        <p:nvSpPr>
          <p:cNvPr id="919926843" name="Shape 14"/>
          <p:cNvSpPr/>
          <p:nvPr/>
        </p:nvSpPr>
        <p:spPr bwMode="auto">
          <a:xfrm>
            <a:off x="7406996" y="5122901"/>
            <a:ext cx="6429612" cy="2253733"/>
          </a:xfrm>
          <a:prstGeom prst="roundRect">
            <a:avLst>
              <a:gd name="adj" fmla="val 1359"/>
            </a:avLst>
          </a:prstGeom>
          <a:solidFill>
            <a:srgbClr val="EAE8F3"/>
          </a:solidFill>
          <a:ln/>
        </p:spPr>
      </p:sp>
      <p:pic>
        <p:nvPicPr>
          <p:cNvPr id="1178889143" name="Image 8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7611069" y="5326974"/>
            <a:ext cx="612337" cy="612337"/>
          </a:xfrm>
          <a:prstGeom prst="rect">
            <a:avLst/>
          </a:prstGeom>
        </p:spPr>
      </p:pic>
      <p:pic>
        <p:nvPicPr>
          <p:cNvPr id="1761341919" name="Image 9" descr="preencoded.png"/>
          <p:cNvPicPr>
            <a:picLocks noChangeAspect="1"/>
          </p:cNvPicPr>
          <p:nvPr/>
        </p:nvPicPr>
        <p:blipFill rotWithShape="1"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/>
        </p:blipFill>
        <p:spPr bwMode="auto">
          <a:xfrm>
            <a:off x="7779424" y="5495329"/>
            <a:ext cx="275510" cy="275510"/>
          </a:xfrm>
          <a:prstGeom prst="rect">
            <a:avLst/>
          </a:prstGeom>
        </p:spPr>
      </p:pic>
      <p:sp>
        <p:nvSpPr>
          <p:cNvPr id="604937765" name="Text 15"/>
          <p:cNvSpPr/>
          <p:nvPr/>
        </p:nvSpPr>
        <p:spPr bwMode="auto">
          <a:xfrm>
            <a:off x="7611069" y="6123026"/>
            <a:ext cx="2551747" cy="318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99"/>
              </a:lnSpc>
              <a:buNone/>
              <a:defRPr/>
            </a:pP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Tutorial Interattivo</a:t>
            </a:r>
            <a:endParaRPr lang="en-US" sz="2000"/>
          </a:p>
        </p:txBody>
      </p:sp>
      <p:sp>
        <p:nvSpPr>
          <p:cNvPr id="1061741473" name="Text 16"/>
          <p:cNvSpPr/>
          <p:nvPr/>
        </p:nvSpPr>
        <p:spPr bwMode="auto">
          <a:xfrm>
            <a:off x="7611069" y="6552009"/>
            <a:ext cx="6021466" cy="620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99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Missione guidata in 9 passi. Avanzamento basato su segnali: aspetta l'azione del giocatore.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1056001" name="Text 0"/>
          <p:cNvSpPr/>
          <p:nvPr/>
        </p:nvSpPr>
        <p:spPr bwMode="auto">
          <a:xfrm>
            <a:off x="595312" y="534351"/>
            <a:ext cx="4296965" cy="345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99"/>
              </a:lnSpc>
              <a:buNone/>
              <a:defRPr/>
            </a:pPr>
            <a:r>
              <a:rPr lang="en-US" sz="21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Gameplay &amp; Asset in Dettaglio</a:t>
            </a:r>
            <a:endParaRPr lang="en-US" sz="2150"/>
          </a:p>
        </p:txBody>
      </p:sp>
      <p:sp>
        <p:nvSpPr>
          <p:cNvPr id="230380967" name="Shape 1"/>
          <p:cNvSpPr/>
          <p:nvPr/>
        </p:nvSpPr>
        <p:spPr bwMode="auto">
          <a:xfrm>
            <a:off x="515658" y="960714"/>
            <a:ext cx="6744294" cy="2867738"/>
          </a:xfrm>
          <a:prstGeom prst="roundRect">
            <a:avLst>
              <a:gd name="adj" fmla="val 578"/>
            </a:avLst>
          </a:prstGeom>
          <a:solidFill>
            <a:srgbClr val="5955EB"/>
          </a:solidFill>
          <a:ln/>
        </p:spPr>
      </p:sp>
      <p:sp>
        <p:nvSpPr>
          <p:cNvPr id="546781960" name="Text 2"/>
          <p:cNvSpPr/>
          <p:nvPr/>
        </p:nvSpPr>
        <p:spPr bwMode="auto">
          <a:xfrm>
            <a:off x="626149" y="1014531"/>
            <a:ext cx="1990724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</a:rPr>
              <a:t>Movimento del Personaggio</a:t>
            </a:r>
            <a:endParaRPr lang="en-US" sz="1050"/>
          </a:p>
        </p:txBody>
      </p:sp>
      <p:sp>
        <p:nvSpPr>
          <p:cNvPr id="404342681" name="Text 3"/>
          <p:cNvSpPr/>
          <p:nvPr/>
        </p:nvSpPr>
        <p:spPr bwMode="auto">
          <a:xfrm>
            <a:off x="626149" y="1241107"/>
            <a:ext cx="6523314" cy="263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Sprite </a:t>
            </a:r>
            <a:r>
              <a:rPr lang="en-US" sz="8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32×32 pixel</a:t>
            </a: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controllato con </a:t>
            </a:r>
            <a:r>
              <a:rPr lang="en-US" sz="8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WASD o frecce direzionali</a:t>
            </a: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. Movimento in </a:t>
            </a:r>
            <a:r>
              <a:rPr lang="en-US" sz="8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 direzioni</a:t>
            </a: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con animazioni fluide — idle, walk, interact — a </a:t>
            </a:r>
            <a:r>
              <a:rPr lang="en-US" sz="8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 frame per camminata</a:t>
            </a: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e velocità </a:t>
            </a:r>
            <a:r>
              <a:rPr lang="en-US" sz="8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120 pixel/secondo</a:t>
            </a: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. Il personaggio ricorda l'ultima direzione quando si ferma.</a:t>
            </a:r>
            <a:endParaRPr lang="en-US" sz="850"/>
          </a:p>
        </p:txBody>
      </p:sp>
      <p:sp>
        <p:nvSpPr>
          <p:cNvPr id="1640645414" name="Text 4"/>
          <p:cNvSpPr/>
          <p:nvPr/>
        </p:nvSpPr>
        <p:spPr bwMode="auto">
          <a:xfrm>
            <a:off x="626149" y="1558051"/>
            <a:ext cx="1382196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</a:rPr>
              <a:t>Esperienza Sonora</a:t>
            </a:r>
            <a:endParaRPr lang="en-US" sz="1050"/>
          </a:p>
        </p:txBody>
      </p:sp>
      <p:sp>
        <p:nvSpPr>
          <p:cNvPr id="1353568530" name="Text 5"/>
          <p:cNvSpPr/>
          <p:nvPr/>
        </p:nvSpPr>
        <p:spPr bwMode="auto">
          <a:xfrm>
            <a:off x="626149" y="1784628"/>
            <a:ext cx="6523314" cy="263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Musica lo-fi con riproduzione automatica. Due tracce ambientali — </a:t>
            </a:r>
            <a:r>
              <a:rPr lang="en-US" sz="8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Light Rain</a:t>
            </a: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e </a:t>
            </a:r>
            <a:r>
              <a:rPr lang="en-US" sz="8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Rain &amp; Thunder</a:t>
            </a:r>
            <a:r>
              <a:rPr lang="en-US" sz="85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— con crossfade a 2 secondi. Tre modalità playlist (Sequenziale, Shuffle, Ripeti) e controllo volume su tre bus: Master, Music, Ambience.</a:t>
            </a:r>
            <a:endParaRPr lang="en-US" sz="850"/>
          </a:p>
        </p:txBody>
      </p:sp>
      <p:sp>
        <p:nvSpPr>
          <p:cNvPr id="1466484012" name="Text 6"/>
          <p:cNvSpPr/>
          <p:nvPr/>
        </p:nvSpPr>
        <p:spPr bwMode="auto">
          <a:xfrm>
            <a:off x="7457716" y="1014531"/>
            <a:ext cx="3717607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Sistema di Decorazione — 129 oggetti in 13 categorie</a:t>
            </a:r>
            <a:endParaRPr lang="en-US" sz="1050"/>
          </a:p>
        </p:txBody>
      </p:sp>
      <p:sp>
        <p:nvSpPr>
          <p:cNvPr id="1582686201" name="Shape 7"/>
          <p:cNvSpPr/>
          <p:nvPr/>
        </p:nvSpPr>
        <p:spPr bwMode="auto">
          <a:xfrm>
            <a:off x="7457716" y="1247893"/>
            <a:ext cx="6584989" cy="2339934"/>
          </a:xfrm>
          <a:prstGeom prst="roundRect">
            <a:avLst>
              <a:gd name="adj" fmla="val 709"/>
            </a:avLst>
          </a:prstGeom>
          <a:noFill/>
          <a:ln w="7620">
            <a:solidFill>
              <a:srgbClr val="000000">
                <a:alpha val="7999"/>
              </a:srgbClr>
            </a:solidFill>
            <a:prstDash val="solid"/>
          </a:ln>
        </p:spPr>
      </p:sp>
      <p:sp>
        <p:nvSpPr>
          <p:cNvPr id="1140900238" name="Shape 8"/>
          <p:cNvSpPr/>
          <p:nvPr/>
        </p:nvSpPr>
        <p:spPr bwMode="auto">
          <a:xfrm>
            <a:off x="7465338" y="1255513"/>
            <a:ext cx="6569749" cy="211335"/>
          </a:xfrm>
          <a:prstGeom prst="rect">
            <a:avLst/>
          </a:prstGeom>
          <a:solidFill>
            <a:srgbClr val="FFFFFF">
              <a:alpha val="3999"/>
            </a:srgbClr>
          </a:solidFill>
          <a:ln/>
        </p:spPr>
      </p:sp>
      <p:sp>
        <p:nvSpPr>
          <p:cNvPr id="1678565392" name="Text 9"/>
          <p:cNvSpPr/>
          <p:nvPr/>
        </p:nvSpPr>
        <p:spPr bwMode="auto">
          <a:xfrm>
            <a:off x="7575946" y="1295399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Categoria</a:t>
            </a:r>
            <a:endParaRPr lang="en-US" sz="850"/>
          </a:p>
        </p:txBody>
      </p:sp>
      <p:sp>
        <p:nvSpPr>
          <p:cNvPr id="854286625" name="Text 10"/>
          <p:cNvSpPr/>
          <p:nvPr/>
        </p:nvSpPr>
        <p:spPr bwMode="auto">
          <a:xfrm>
            <a:off x="11521558" y="1295399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Oggetti</a:t>
            </a:r>
            <a:endParaRPr lang="en-US" sz="850"/>
          </a:p>
        </p:txBody>
      </p:sp>
      <p:sp>
        <p:nvSpPr>
          <p:cNvPr id="407369376" name="Shape 11"/>
          <p:cNvSpPr/>
          <p:nvPr/>
        </p:nvSpPr>
        <p:spPr bwMode="auto">
          <a:xfrm>
            <a:off x="7465338" y="1466848"/>
            <a:ext cx="6569749" cy="211335"/>
          </a:xfrm>
          <a:prstGeom prst="rect">
            <a:avLst/>
          </a:prstGeom>
          <a:solidFill>
            <a:srgbClr val="000000">
              <a:alpha val="3999"/>
            </a:srgbClr>
          </a:solidFill>
          <a:ln/>
        </p:spPr>
      </p:sp>
      <p:sp>
        <p:nvSpPr>
          <p:cNvPr id="1977459653" name="Text 12"/>
          <p:cNvSpPr/>
          <p:nvPr/>
        </p:nvSpPr>
        <p:spPr bwMode="auto">
          <a:xfrm>
            <a:off x="7575946" y="1506735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Potted Plants</a:t>
            </a:r>
            <a:endParaRPr lang="en-US" sz="850"/>
          </a:p>
        </p:txBody>
      </p:sp>
      <p:sp>
        <p:nvSpPr>
          <p:cNvPr id="1818232141" name="Text 13"/>
          <p:cNvSpPr/>
          <p:nvPr/>
        </p:nvSpPr>
        <p:spPr bwMode="auto">
          <a:xfrm>
            <a:off x="11521558" y="1506735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19</a:t>
            </a:r>
            <a:endParaRPr lang="en-US" sz="850"/>
          </a:p>
        </p:txBody>
      </p:sp>
      <p:sp>
        <p:nvSpPr>
          <p:cNvPr id="403758402" name="Shape 14"/>
          <p:cNvSpPr/>
          <p:nvPr/>
        </p:nvSpPr>
        <p:spPr bwMode="auto">
          <a:xfrm>
            <a:off x="7465338" y="1678185"/>
            <a:ext cx="6569749" cy="211335"/>
          </a:xfrm>
          <a:prstGeom prst="rect">
            <a:avLst/>
          </a:prstGeom>
          <a:solidFill>
            <a:srgbClr val="FFFFFF">
              <a:alpha val="3999"/>
            </a:srgbClr>
          </a:solidFill>
          <a:ln/>
        </p:spPr>
      </p:sp>
      <p:sp>
        <p:nvSpPr>
          <p:cNvPr id="606152230" name="Text 15"/>
          <p:cNvSpPr/>
          <p:nvPr/>
        </p:nvSpPr>
        <p:spPr bwMode="auto">
          <a:xfrm>
            <a:off x="7575946" y="1718071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Accessories</a:t>
            </a:r>
            <a:endParaRPr lang="en-US" sz="850"/>
          </a:p>
        </p:txBody>
      </p:sp>
      <p:sp>
        <p:nvSpPr>
          <p:cNvPr id="1561627328" name="Text 16"/>
          <p:cNvSpPr/>
          <p:nvPr/>
        </p:nvSpPr>
        <p:spPr bwMode="auto">
          <a:xfrm>
            <a:off x="11521558" y="1718071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17</a:t>
            </a:r>
            <a:endParaRPr lang="en-US" sz="850"/>
          </a:p>
        </p:txBody>
      </p:sp>
      <p:sp>
        <p:nvSpPr>
          <p:cNvPr id="1503954242" name="Shape 17"/>
          <p:cNvSpPr/>
          <p:nvPr/>
        </p:nvSpPr>
        <p:spPr bwMode="auto">
          <a:xfrm>
            <a:off x="7465338" y="1889521"/>
            <a:ext cx="6569749" cy="211335"/>
          </a:xfrm>
          <a:prstGeom prst="rect">
            <a:avLst/>
          </a:prstGeom>
          <a:solidFill>
            <a:srgbClr val="000000">
              <a:alpha val="3999"/>
            </a:srgbClr>
          </a:solidFill>
          <a:ln/>
        </p:spPr>
      </p:sp>
      <p:sp>
        <p:nvSpPr>
          <p:cNvPr id="623259898" name="Text 18"/>
          <p:cNvSpPr/>
          <p:nvPr/>
        </p:nvSpPr>
        <p:spPr bwMode="auto">
          <a:xfrm>
            <a:off x="7575946" y="1929407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Chairs</a:t>
            </a:r>
            <a:endParaRPr lang="en-US" sz="850"/>
          </a:p>
        </p:txBody>
      </p:sp>
      <p:sp>
        <p:nvSpPr>
          <p:cNvPr id="584743276" name="Text 19"/>
          <p:cNvSpPr/>
          <p:nvPr/>
        </p:nvSpPr>
        <p:spPr bwMode="auto">
          <a:xfrm>
            <a:off x="11521558" y="1929407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14</a:t>
            </a:r>
            <a:endParaRPr lang="en-US" sz="850"/>
          </a:p>
        </p:txBody>
      </p:sp>
      <p:sp>
        <p:nvSpPr>
          <p:cNvPr id="1084531817" name="Shape 20"/>
          <p:cNvSpPr/>
          <p:nvPr/>
        </p:nvSpPr>
        <p:spPr bwMode="auto">
          <a:xfrm>
            <a:off x="7465338" y="2100857"/>
            <a:ext cx="6569749" cy="211335"/>
          </a:xfrm>
          <a:prstGeom prst="rect">
            <a:avLst/>
          </a:prstGeom>
          <a:solidFill>
            <a:srgbClr val="FFFFFF">
              <a:alpha val="3999"/>
            </a:srgbClr>
          </a:solidFill>
          <a:ln/>
        </p:spPr>
      </p:sp>
      <p:sp>
        <p:nvSpPr>
          <p:cNvPr id="1836623649" name="Text 21"/>
          <p:cNvSpPr/>
          <p:nvPr/>
        </p:nvSpPr>
        <p:spPr bwMode="auto">
          <a:xfrm>
            <a:off x="7575946" y="2140743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Plants</a:t>
            </a:r>
            <a:endParaRPr lang="en-US" sz="850"/>
          </a:p>
        </p:txBody>
      </p:sp>
      <p:sp>
        <p:nvSpPr>
          <p:cNvPr id="1719405199" name="Text 22"/>
          <p:cNvSpPr/>
          <p:nvPr/>
        </p:nvSpPr>
        <p:spPr bwMode="auto">
          <a:xfrm>
            <a:off x="11521558" y="2140743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14</a:t>
            </a:r>
            <a:endParaRPr lang="en-US" sz="850"/>
          </a:p>
        </p:txBody>
      </p:sp>
      <p:sp>
        <p:nvSpPr>
          <p:cNvPr id="1895253631" name="Shape 23"/>
          <p:cNvSpPr/>
          <p:nvPr/>
        </p:nvSpPr>
        <p:spPr bwMode="auto">
          <a:xfrm>
            <a:off x="7465338" y="2312193"/>
            <a:ext cx="6569749" cy="211335"/>
          </a:xfrm>
          <a:prstGeom prst="rect">
            <a:avLst/>
          </a:prstGeom>
          <a:solidFill>
            <a:srgbClr val="000000">
              <a:alpha val="3999"/>
            </a:srgbClr>
          </a:solidFill>
          <a:ln/>
        </p:spPr>
      </p:sp>
      <p:sp>
        <p:nvSpPr>
          <p:cNvPr id="1376196563" name="Text 24"/>
          <p:cNvSpPr/>
          <p:nvPr/>
        </p:nvSpPr>
        <p:spPr bwMode="auto">
          <a:xfrm>
            <a:off x="7575946" y="2352079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Tables</a:t>
            </a:r>
            <a:endParaRPr lang="en-US" sz="850"/>
          </a:p>
        </p:txBody>
      </p:sp>
      <p:sp>
        <p:nvSpPr>
          <p:cNvPr id="343930046" name="Text 25"/>
          <p:cNvSpPr/>
          <p:nvPr/>
        </p:nvSpPr>
        <p:spPr bwMode="auto">
          <a:xfrm>
            <a:off x="11521558" y="2352079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12</a:t>
            </a:r>
            <a:endParaRPr lang="en-US" sz="850"/>
          </a:p>
        </p:txBody>
      </p:sp>
      <p:sp>
        <p:nvSpPr>
          <p:cNvPr id="509951391" name="Shape 26"/>
          <p:cNvSpPr/>
          <p:nvPr/>
        </p:nvSpPr>
        <p:spPr bwMode="auto">
          <a:xfrm>
            <a:off x="7465338" y="2523529"/>
            <a:ext cx="6569749" cy="211335"/>
          </a:xfrm>
          <a:prstGeom prst="rect">
            <a:avLst/>
          </a:prstGeom>
          <a:solidFill>
            <a:srgbClr val="FFFFFF">
              <a:alpha val="3999"/>
            </a:srgbClr>
          </a:solidFill>
          <a:ln/>
        </p:spPr>
      </p:sp>
      <p:sp>
        <p:nvSpPr>
          <p:cNvPr id="1480342887" name="Text 27"/>
          <p:cNvSpPr/>
          <p:nvPr/>
        </p:nvSpPr>
        <p:spPr bwMode="auto">
          <a:xfrm>
            <a:off x="7575946" y="2563416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Beds</a:t>
            </a:r>
            <a:endParaRPr lang="en-US" sz="850"/>
          </a:p>
        </p:txBody>
      </p:sp>
      <p:sp>
        <p:nvSpPr>
          <p:cNvPr id="63734202" name="Text 28"/>
          <p:cNvSpPr/>
          <p:nvPr/>
        </p:nvSpPr>
        <p:spPr bwMode="auto">
          <a:xfrm>
            <a:off x="11521558" y="2563416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11</a:t>
            </a:r>
            <a:endParaRPr lang="en-US" sz="850"/>
          </a:p>
        </p:txBody>
      </p:sp>
      <p:sp>
        <p:nvSpPr>
          <p:cNvPr id="1930539863" name="Shape 29"/>
          <p:cNvSpPr/>
          <p:nvPr/>
        </p:nvSpPr>
        <p:spPr bwMode="auto">
          <a:xfrm>
            <a:off x="7465338" y="2734866"/>
            <a:ext cx="6569749" cy="211335"/>
          </a:xfrm>
          <a:prstGeom prst="rect">
            <a:avLst/>
          </a:prstGeom>
          <a:solidFill>
            <a:srgbClr val="000000">
              <a:alpha val="3999"/>
            </a:srgbClr>
          </a:solidFill>
          <a:ln/>
        </p:spPr>
      </p:sp>
      <p:sp>
        <p:nvSpPr>
          <p:cNvPr id="1527713884" name="Text 30"/>
          <p:cNvSpPr/>
          <p:nvPr/>
        </p:nvSpPr>
        <p:spPr bwMode="auto">
          <a:xfrm>
            <a:off x="7575946" y="2774751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Wardrobes</a:t>
            </a:r>
            <a:endParaRPr lang="en-US" sz="850"/>
          </a:p>
        </p:txBody>
      </p:sp>
      <p:sp>
        <p:nvSpPr>
          <p:cNvPr id="1507934444" name="Text 31"/>
          <p:cNvSpPr/>
          <p:nvPr/>
        </p:nvSpPr>
        <p:spPr bwMode="auto">
          <a:xfrm>
            <a:off x="11521558" y="2774751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11</a:t>
            </a:r>
            <a:endParaRPr lang="en-US" sz="850"/>
          </a:p>
        </p:txBody>
      </p:sp>
      <p:sp>
        <p:nvSpPr>
          <p:cNvPr id="137082559" name="Shape 32"/>
          <p:cNvSpPr/>
          <p:nvPr/>
        </p:nvSpPr>
        <p:spPr bwMode="auto">
          <a:xfrm>
            <a:off x="7465338" y="2946201"/>
            <a:ext cx="6569749" cy="211335"/>
          </a:xfrm>
          <a:prstGeom prst="rect">
            <a:avLst/>
          </a:prstGeom>
          <a:solidFill>
            <a:srgbClr val="FFFFFF">
              <a:alpha val="3999"/>
            </a:srgbClr>
          </a:solidFill>
          <a:ln/>
        </p:spPr>
      </p:sp>
      <p:sp>
        <p:nvSpPr>
          <p:cNvPr id="572034642" name="Text 33"/>
          <p:cNvSpPr/>
          <p:nvPr/>
        </p:nvSpPr>
        <p:spPr bwMode="auto">
          <a:xfrm>
            <a:off x="7575946" y="2986087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Room Elements</a:t>
            </a:r>
            <a:endParaRPr lang="en-US" sz="850"/>
          </a:p>
        </p:txBody>
      </p:sp>
      <p:sp>
        <p:nvSpPr>
          <p:cNvPr id="1120782354" name="Text 34"/>
          <p:cNvSpPr/>
          <p:nvPr/>
        </p:nvSpPr>
        <p:spPr bwMode="auto">
          <a:xfrm>
            <a:off x="11521558" y="2986087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9</a:t>
            </a:r>
            <a:endParaRPr lang="en-US" sz="850"/>
          </a:p>
        </p:txBody>
      </p:sp>
      <p:sp>
        <p:nvSpPr>
          <p:cNvPr id="423994353" name="Shape 35"/>
          <p:cNvSpPr/>
          <p:nvPr/>
        </p:nvSpPr>
        <p:spPr bwMode="auto">
          <a:xfrm>
            <a:off x="7465338" y="3157537"/>
            <a:ext cx="6569749" cy="211335"/>
          </a:xfrm>
          <a:prstGeom prst="rect">
            <a:avLst/>
          </a:prstGeom>
          <a:solidFill>
            <a:srgbClr val="000000">
              <a:alpha val="3999"/>
            </a:srgbClr>
          </a:solidFill>
          <a:ln/>
        </p:spPr>
      </p:sp>
      <p:sp>
        <p:nvSpPr>
          <p:cNvPr id="2107730425" name="Text 36"/>
          <p:cNvSpPr/>
          <p:nvPr/>
        </p:nvSpPr>
        <p:spPr bwMode="auto">
          <a:xfrm>
            <a:off x="7575946" y="3197422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Desks</a:t>
            </a:r>
            <a:endParaRPr lang="en-US" sz="850"/>
          </a:p>
        </p:txBody>
      </p:sp>
      <p:sp>
        <p:nvSpPr>
          <p:cNvPr id="1924328984" name="Text 37"/>
          <p:cNvSpPr/>
          <p:nvPr/>
        </p:nvSpPr>
        <p:spPr bwMode="auto">
          <a:xfrm>
            <a:off x="11521558" y="3197422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7</a:t>
            </a:r>
            <a:endParaRPr lang="en-US" sz="850"/>
          </a:p>
        </p:txBody>
      </p:sp>
      <p:sp>
        <p:nvSpPr>
          <p:cNvPr id="1993524160" name="Shape 38"/>
          <p:cNvSpPr/>
          <p:nvPr/>
        </p:nvSpPr>
        <p:spPr bwMode="auto">
          <a:xfrm>
            <a:off x="7465338" y="3368872"/>
            <a:ext cx="6569749" cy="211335"/>
          </a:xfrm>
          <a:prstGeom prst="rect">
            <a:avLst/>
          </a:prstGeom>
          <a:solidFill>
            <a:srgbClr val="FFFFFF">
              <a:alpha val="3999"/>
            </a:srgbClr>
          </a:solidFill>
          <a:ln/>
        </p:spPr>
      </p:sp>
      <p:sp>
        <p:nvSpPr>
          <p:cNvPr id="1153183056" name="Text 39"/>
          <p:cNvSpPr/>
          <p:nvPr/>
        </p:nvSpPr>
        <p:spPr bwMode="auto">
          <a:xfrm>
            <a:off x="7575946" y="3408759"/>
            <a:ext cx="3717011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Windows + Doors + Wall Decor + Pets</a:t>
            </a:r>
            <a:endParaRPr lang="en-US" sz="850"/>
          </a:p>
        </p:txBody>
      </p:sp>
      <p:sp>
        <p:nvSpPr>
          <p:cNvPr id="293139953" name="Text 40"/>
          <p:cNvSpPr/>
          <p:nvPr/>
        </p:nvSpPr>
        <p:spPr bwMode="auto">
          <a:xfrm>
            <a:off x="11521558" y="3408759"/>
            <a:ext cx="2403037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15</a:t>
            </a:r>
            <a:endParaRPr lang="en-US" sz="850"/>
          </a:p>
        </p:txBody>
      </p:sp>
      <p:sp>
        <p:nvSpPr>
          <p:cNvPr id="1840477453" name="Text 41"/>
          <p:cNvSpPr/>
          <p:nvPr/>
        </p:nvSpPr>
        <p:spPr bwMode="auto">
          <a:xfrm>
            <a:off x="7457716" y="3648431"/>
            <a:ext cx="6584989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Drag-and-drop dal catalogo con azioni </a:t>
            </a:r>
            <a:r>
              <a:rPr lang="en-US" sz="850" b="1">
                <a:solidFill>
                  <a:srgbClr val="5955EB"/>
                </a:solidFill>
                <a:latin typeface="Open Sans"/>
                <a:ea typeface="Open Sans"/>
                <a:cs typeface="Open Sans"/>
              </a:rPr>
              <a:t>R (ruota), F (specchia), S (scala 7 livelli), X (elimina)</a:t>
            </a: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. Griglia opzionale da 64px.</a:t>
            </a:r>
            <a:endParaRPr lang="en-US" sz="850"/>
          </a:p>
        </p:txBody>
      </p:sp>
      <p:sp>
        <p:nvSpPr>
          <p:cNvPr id="1610818532" name="Text 42"/>
          <p:cNvSpPr/>
          <p:nvPr/>
        </p:nvSpPr>
        <p:spPr bwMode="auto">
          <a:xfrm>
            <a:off x="595312" y="3909297"/>
            <a:ext cx="1382196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Asset Pipeline</a:t>
            </a:r>
            <a:endParaRPr lang="en-US" sz="1050"/>
          </a:p>
        </p:txBody>
      </p:sp>
      <p:sp>
        <p:nvSpPr>
          <p:cNvPr id="156860608" name="Shape 43"/>
          <p:cNvSpPr/>
          <p:nvPr/>
        </p:nvSpPr>
        <p:spPr bwMode="auto">
          <a:xfrm>
            <a:off x="595312" y="4162900"/>
            <a:ext cx="442197" cy="663415"/>
          </a:xfrm>
          <a:prstGeom prst="roundRect">
            <a:avLst>
              <a:gd name="adj" fmla="val 360096"/>
            </a:avLst>
          </a:prstGeom>
          <a:solidFill>
            <a:srgbClr val="EAE8F3"/>
          </a:solidFill>
          <a:ln/>
        </p:spPr>
      </p:sp>
      <p:pic>
        <p:nvPicPr>
          <p:cNvPr id="216463131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733423" y="4411622"/>
            <a:ext cx="165853" cy="165853"/>
          </a:xfrm>
          <a:prstGeom prst="rect">
            <a:avLst/>
          </a:prstGeom>
        </p:spPr>
      </p:pic>
      <p:sp>
        <p:nvSpPr>
          <p:cNvPr id="1931171653" name="Text 44"/>
          <p:cNvSpPr/>
          <p:nvPr/>
        </p:nvSpPr>
        <p:spPr bwMode="auto">
          <a:xfrm>
            <a:off x="1091326" y="4273390"/>
            <a:ext cx="1382196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Personaggi</a:t>
            </a:r>
            <a:endParaRPr lang="en-US" sz="1050"/>
          </a:p>
        </p:txBody>
      </p:sp>
      <p:sp>
        <p:nvSpPr>
          <p:cNvPr id="236051723" name="Text 45"/>
          <p:cNvSpPr/>
          <p:nvPr/>
        </p:nvSpPr>
        <p:spPr bwMode="auto">
          <a:xfrm>
            <a:off x="1091326" y="4478416"/>
            <a:ext cx="12943760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Sprite pixel art 32×32, 8 direzioni — creati internamente</a:t>
            </a:r>
            <a:endParaRPr lang="en-US" sz="850"/>
          </a:p>
        </p:txBody>
      </p:sp>
      <p:sp>
        <p:nvSpPr>
          <p:cNvPr id="1068134018" name="Shape 46"/>
          <p:cNvSpPr/>
          <p:nvPr/>
        </p:nvSpPr>
        <p:spPr bwMode="auto">
          <a:xfrm>
            <a:off x="595312" y="4880133"/>
            <a:ext cx="442197" cy="663415"/>
          </a:xfrm>
          <a:prstGeom prst="roundRect">
            <a:avLst>
              <a:gd name="adj" fmla="val 360096"/>
            </a:avLst>
          </a:prstGeom>
          <a:solidFill>
            <a:srgbClr val="EAE8F3"/>
          </a:solidFill>
          <a:ln/>
        </p:spPr>
      </p:sp>
      <p:pic>
        <p:nvPicPr>
          <p:cNvPr id="1330569231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733423" y="5128854"/>
            <a:ext cx="165853" cy="165853"/>
          </a:xfrm>
          <a:prstGeom prst="rect">
            <a:avLst/>
          </a:prstGeom>
        </p:spPr>
      </p:pic>
      <p:sp>
        <p:nvSpPr>
          <p:cNvPr id="725241057" name="Text 47"/>
          <p:cNvSpPr/>
          <p:nvPr/>
        </p:nvSpPr>
        <p:spPr bwMode="auto">
          <a:xfrm>
            <a:off x="1091326" y="4990623"/>
            <a:ext cx="1382196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Decorazioni</a:t>
            </a:r>
            <a:endParaRPr lang="en-US" sz="1050"/>
          </a:p>
        </p:txBody>
      </p:sp>
      <p:sp>
        <p:nvSpPr>
          <p:cNvPr id="578466789" name="Text 48"/>
          <p:cNvSpPr/>
          <p:nvPr/>
        </p:nvSpPr>
        <p:spPr bwMode="auto">
          <a:xfrm>
            <a:off x="1091326" y="5195648"/>
            <a:ext cx="12943760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Indoor Plants Pack + Isometric Room Builder</a:t>
            </a:r>
            <a:endParaRPr lang="en-US" sz="850"/>
          </a:p>
        </p:txBody>
      </p:sp>
      <p:sp>
        <p:nvSpPr>
          <p:cNvPr id="2143725323" name="Shape 49"/>
          <p:cNvSpPr/>
          <p:nvPr/>
        </p:nvSpPr>
        <p:spPr bwMode="auto">
          <a:xfrm>
            <a:off x="595312" y="5597365"/>
            <a:ext cx="442197" cy="663415"/>
          </a:xfrm>
          <a:prstGeom prst="roundRect">
            <a:avLst>
              <a:gd name="adj" fmla="val 360096"/>
            </a:avLst>
          </a:prstGeom>
          <a:solidFill>
            <a:srgbClr val="EAE8F3"/>
          </a:solidFill>
          <a:ln/>
        </p:spPr>
      </p:sp>
      <p:pic>
        <p:nvPicPr>
          <p:cNvPr id="1873320393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733423" y="5846087"/>
            <a:ext cx="165853" cy="165853"/>
          </a:xfrm>
          <a:prstGeom prst="rect">
            <a:avLst/>
          </a:prstGeom>
        </p:spPr>
      </p:pic>
      <p:sp>
        <p:nvSpPr>
          <p:cNvPr id="102424974" name="Text 50"/>
          <p:cNvSpPr/>
          <p:nvPr/>
        </p:nvSpPr>
        <p:spPr bwMode="auto">
          <a:xfrm>
            <a:off x="1091326" y="5707855"/>
            <a:ext cx="1382196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UI</a:t>
            </a:r>
            <a:endParaRPr lang="en-US" sz="1050"/>
          </a:p>
        </p:txBody>
      </p:sp>
      <p:sp>
        <p:nvSpPr>
          <p:cNvPr id="945437970" name="Text 51"/>
          <p:cNvSpPr/>
          <p:nvPr/>
        </p:nvSpPr>
        <p:spPr bwMode="auto">
          <a:xfrm>
            <a:off x="1091326" y="5912881"/>
            <a:ext cx="12943760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Kenney Pixel UI Pack (CC0)</a:t>
            </a:r>
            <a:endParaRPr lang="en-US" sz="850"/>
          </a:p>
        </p:txBody>
      </p:sp>
      <p:sp>
        <p:nvSpPr>
          <p:cNvPr id="1123191301" name="Shape 52"/>
          <p:cNvSpPr/>
          <p:nvPr/>
        </p:nvSpPr>
        <p:spPr bwMode="auto">
          <a:xfrm>
            <a:off x="595312" y="6314598"/>
            <a:ext cx="442197" cy="663415"/>
          </a:xfrm>
          <a:prstGeom prst="roundRect">
            <a:avLst>
              <a:gd name="adj" fmla="val 360096"/>
            </a:avLst>
          </a:prstGeom>
          <a:solidFill>
            <a:srgbClr val="EAE8F3"/>
          </a:solidFill>
          <a:ln/>
        </p:spPr>
      </p:sp>
      <p:pic>
        <p:nvPicPr>
          <p:cNvPr id="1645426279" name="Image 3" descr="preencoded.png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>
            <a:off x="733423" y="6563319"/>
            <a:ext cx="165853" cy="165853"/>
          </a:xfrm>
          <a:prstGeom prst="rect">
            <a:avLst/>
          </a:prstGeom>
        </p:spPr>
      </p:pic>
      <p:sp>
        <p:nvSpPr>
          <p:cNvPr id="958760652" name="Text 53"/>
          <p:cNvSpPr/>
          <p:nvPr/>
        </p:nvSpPr>
        <p:spPr bwMode="auto">
          <a:xfrm>
            <a:off x="1091326" y="6425088"/>
            <a:ext cx="1382196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Sfondi</a:t>
            </a:r>
            <a:endParaRPr lang="en-US" sz="1050"/>
          </a:p>
        </p:txBody>
      </p:sp>
      <p:sp>
        <p:nvSpPr>
          <p:cNvPr id="745381954" name="Text 54"/>
          <p:cNvSpPr/>
          <p:nvPr/>
        </p:nvSpPr>
        <p:spPr bwMode="auto">
          <a:xfrm>
            <a:off x="1091326" y="6630113"/>
            <a:ext cx="12943760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Free Pixel Art Forest — 12 livelli parallax</a:t>
            </a:r>
            <a:endParaRPr lang="en-US" sz="850"/>
          </a:p>
        </p:txBody>
      </p:sp>
      <p:sp>
        <p:nvSpPr>
          <p:cNvPr id="488923294" name="Shape 55"/>
          <p:cNvSpPr/>
          <p:nvPr/>
        </p:nvSpPr>
        <p:spPr bwMode="auto">
          <a:xfrm>
            <a:off x="595312" y="7031830"/>
            <a:ext cx="442197" cy="663415"/>
          </a:xfrm>
          <a:prstGeom prst="roundRect">
            <a:avLst>
              <a:gd name="adj" fmla="val 360096"/>
            </a:avLst>
          </a:prstGeom>
          <a:solidFill>
            <a:srgbClr val="EAE8F3"/>
          </a:solidFill>
          <a:ln/>
        </p:spPr>
      </p:sp>
      <p:pic>
        <p:nvPicPr>
          <p:cNvPr id="180947165" name="Image 4" descr="preencoded.png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>
            <a:off x="733423" y="7280552"/>
            <a:ext cx="165853" cy="165853"/>
          </a:xfrm>
          <a:prstGeom prst="rect">
            <a:avLst/>
          </a:prstGeom>
        </p:spPr>
      </p:pic>
      <p:sp>
        <p:nvSpPr>
          <p:cNvPr id="862902994" name="Text 56"/>
          <p:cNvSpPr/>
          <p:nvPr/>
        </p:nvSpPr>
        <p:spPr bwMode="auto">
          <a:xfrm>
            <a:off x="1091326" y="7142320"/>
            <a:ext cx="1382196" cy="172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49"/>
              </a:lnSpc>
              <a:buNone/>
              <a:defRPr/>
            </a:pPr>
            <a:r>
              <a:rPr lang="en-US" sz="10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Audio</a:t>
            </a:r>
            <a:endParaRPr lang="en-US" sz="1050"/>
          </a:p>
        </p:txBody>
      </p:sp>
      <p:sp>
        <p:nvSpPr>
          <p:cNvPr id="1375339174" name="Text 57"/>
          <p:cNvSpPr/>
          <p:nvPr/>
        </p:nvSpPr>
        <p:spPr bwMode="auto">
          <a:xfrm>
            <a:off x="1091326" y="7347346"/>
            <a:ext cx="12943760" cy="131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9"/>
              </a:lnSpc>
              <a:buNone/>
              <a:defRPr/>
            </a:pPr>
            <a:r>
              <a:rPr lang="en-US" sz="8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Mixkit Library (royalty-free)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160811" name="Text 0"/>
          <p:cNvSpPr/>
          <p:nvPr/>
        </p:nvSpPr>
        <p:spPr bwMode="auto">
          <a:xfrm>
            <a:off x="793789" y="633173"/>
            <a:ext cx="3773448" cy="460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99"/>
              </a:lnSpc>
              <a:buNone/>
              <a:defRPr/>
            </a:pPr>
            <a:r>
              <a:rPr lang="en-US" sz="29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Demo &amp; Riflessione</a:t>
            </a:r>
            <a:endParaRPr lang="en-US" sz="2900"/>
          </a:p>
        </p:txBody>
      </p:sp>
      <p:sp>
        <p:nvSpPr>
          <p:cNvPr id="2117792090" name="Text 1"/>
          <p:cNvSpPr/>
          <p:nvPr/>
        </p:nvSpPr>
        <p:spPr bwMode="auto">
          <a:xfrm>
            <a:off x="1014888" y="1393268"/>
            <a:ext cx="12821721" cy="19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"In un mondo che corre, abbiamo costruito un angolo dove fermarsi."</a:t>
            </a:r>
            <a:endParaRPr lang="en-US" sz="1150"/>
          </a:p>
        </p:txBody>
      </p:sp>
      <p:sp>
        <p:nvSpPr>
          <p:cNvPr id="608884263" name="Shape 2"/>
          <p:cNvSpPr/>
          <p:nvPr/>
        </p:nvSpPr>
        <p:spPr bwMode="auto">
          <a:xfrm>
            <a:off x="793789" y="1285517"/>
            <a:ext cx="15239" cy="410050"/>
          </a:xfrm>
          <a:prstGeom prst="rect">
            <a:avLst/>
          </a:prstGeom>
          <a:solidFill>
            <a:srgbClr val="403CCF"/>
          </a:solidFill>
          <a:ln/>
        </p:spPr>
      </p:sp>
      <p:sp>
        <p:nvSpPr>
          <p:cNvPr id="434764751" name="Text 3"/>
          <p:cNvSpPr/>
          <p:nvPr/>
        </p:nvSpPr>
        <p:spPr bwMode="auto">
          <a:xfrm>
            <a:off x="793789" y="1899046"/>
            <a:ext cx="1937860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Vediamolo in azione</a:t>
            </a:r>
            <a:endParaRPr lang="en-US" sz="1450"/>
          </a:p>
        </p:txBody>
      </p:sp>
      <p:pic>
        <p:nvPicPr>
          <p:cNvPr id="831543920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849034" y="2241708"/>
            <a:ext cx="221098" cy="221098"/>
          </a:xfrm>
          <a:prstGeom prst="rect">
            <a:avLst/>
          </a:prstGeom>
        </p:spPr>
      </p:pic>
      <p:sp>
        <p:nvSpPr>
          <p:cNvPr id="806871450" name="Text 4"/>
          <p:cNvSpPr/>
          <p:nvPr/>
        </p:nvSpPr>
        <p:spPr bwMode="auto">
          <a:xfrm>
            <a:off x="1272897" y="2237184"/>
            <a:ext cx="2590561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🏠</a:t>
            </a: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Navigazione nella stanza</a:t>
            </a:r>
            <a:endParaRPr lang="en-US" sz="1450"/>
          </a:p>
        </p:txBody>
      </p:sp>
      <p:sp>
        <p:nvSpPr>
          <p:cNvPr id="1737631869" name="Text 5"/>
          <p:cNvSpPr/>
          <p:nvPr/>
        </p:nvSpPr>
        <p:spPr bwMode="auto">
          <a:xfrm>
            <a:off x="1272897" y="2563296"/>
            <a:ext cx="5862517" cy="19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Con decorazioni posizionate e salvataggio persistente</a:t>
            </a:r>
            <a:endParaRPr lang="en-US" sz="1150"/>
          </a:p>
        </p:txBody>
      </p:sp>
      <p:pic>
        <p:nvPicPr>
          <p:cNvPr id="1181098809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49034" y="2953940"/>
            <a:ext cx="221098" cy="221098"/>
          </a:xfrm>
          <a:prstGeom prst="rect">
            <a:avLst/>
          </a:prstGeom>
        </p:spPr>
      </p:pic>
      <p:sp>
        <p:nvSpPr>
          <p:cNvPr id="1415946290" name="Text 6"/>
          <p:cNvSpPr/>
          <p:nvPr/>
        </p:nvSpPr>
        <p:spPr bwMode="auto">
          <a:xfrm>
            <a:off x="1272897" y="2949415"/>
            <a:ext cx="4652247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👤</a:t>
            </a: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Selezione e personalizzazione del personaggio</a:t>
            </a:r>
            <a:endParaRPr lang="en-US" sz="1450"/>
          </a:p>
        </p:txBody>
      </p:sp>
      <p:sp>
        <p:nvSpPr>
          <p:cNvPr id="436783616" name="Text 7"/>
          <p:cNvSpPr/>
          <p:nvPr/>
        </p:nvSpPr>
        <p:spPr bwMode="auto">
          <a:xfrm>
            <a:off x="1272897" y="3275527"/>
            <a:ext cx="5862517" cy="19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Sprite animato in 8 direzioni</a:t>
            </a:r>
            <a:endParaRPr lang="en-US" sz="1150"/>
          </a:p>
        </p:txBody>
      </p:sp>
      <p:pic>
        <p:nvPicPr>
          <p:cNvPr id="548087531" name="Image 2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49034" y="3666172"/>
            <a:ext cx="221098" cy="221098"/>
          </a:xfrm>
          <a:prstGeom prst="rect">
            <a:avLst/>
          </a:prstGeom>
        </p:spPr>
      </p:pic>
      <p:sp>
        <p:nvSpPr>
          <p:cNvPr id="255672479" name="Text 8"/>
          <p:cNvSpPr/>
          <p:nvPr/>
        </p:nvSpPr>
        <p:spPr bwMode="auto">
          <a:xfrm>
            <a:off x="1272897" y="3661647"/>
            <a:ext cx="1842967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🎵</a:t>
            </a: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Musica lo-fi</a:t>
            </a:r>
            <a:endParaRPr lang="en-US" sz="1450"/>
          </a:p>
        </p:txBody>
      </p:sp>
      <p:sp>
        <p:nvSpPr>
          <p:cNvPr id="1963676697" name="Text 9"/>
          <p:cNvSpPr/>
          <p:nvPr/>
        </p:nvSpPr>
        <p:spPr bwMode="auto">
          <a:xfrm>
            <a:off x="1272897" y="3987759"/>
            <a:ext cx="5862517" cy="19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Con crossfade automatico tra tracce ambient</a:t>
            </a:r>
            <a:endParaRPr lang="en-US" sz="1150"/>
          </a:p>
        </p:txBody>
      </p:sp>
      <p:pic>
        <p:nvPicPr>
          <p:cNvPr id="195616251" name="Image 3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49034" y="4378403"/>
            <a:ext cx="221098" cy="221098"/>
          </a:xfrm>
          <a:prstGeom prst="rect">
            <a:avLst/>
          </a:prstGeom>
        </p:spPr>
      </p:pic>
      <p:sp>
        <p:nvSpPr>
          <p:cNvPr id="717328646" name="Text 10"/>
          <p:cNvSpPr/>
          <p:nvPr/>
        </p:nvSpPr>
        <p:spPr bwMode="auto">
          <a:xfrm>
            <a:off x="1272897" y="4373879"/>
            <a:ext cx="3261835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⚙️</a:t>
            </a: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Pannello impostazioni e profilo</a:t>
            </a:r>
            <a:endParaRPr lang="en-US" sz="1450"/>
          </a:p>
        </p:txBody>
      </p:sp>
      <p:sp>
        <p:nvSpPr>
          <p:cNvPr id="1868915071" name="Text 11"/>
          <p:cNvSpPr/>
          <p:nvPr/>
        </p:nvSpPr>
        <p:spPr bwMode="auto">
          <a:xfrm>
            <a:off x="1272897" y="4699991"/>
            <a:ext cx="5862517" cy="19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Controllo completo dell'esperienza</a:t>
            </a:r>
            <a:endParaRPr lang="en-US" sz="1150"/>
          </a:p>
        </p:txBody>
      </p:sp>
      <p:pic>
        <p:nvPicPr>
          <p:cNvPr id="1091833406" name="Image 4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49034" y="5090634"/>
            <a:ext cx="221098" cy="221098"/>
          </a:xfrm>
          <a:prstGeom prst="rect">
            <a:avLst/>
          </a:prstGeom>
        </p:spPr>
      </p:pic>
      <p:sp>
        <p:nvSpPr>
          <p:cNvPr id="64888924" name="Text 12"/>
          <p:cNvSpPr/>
          <p:nvPr/>
        </p:nvSpPr>
        <p:spPr bwMode="auto">
          <a:xfrm>
            <a:off x="1272897" y="5086111"/>
            <a:ext cx="2259805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🔐</a:t>
            </a: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Autenticazione duale</a:t>
            </a:r>
            <a:endParaRPr lang="en-US" sz="1450"/>
          </a:p>
        </p:txBody>
      </p:sp>
      <p:sp>
        <p:nvSpPr>
          <p:cNvPr id="1311843387" name="Text 13"/>
          <p:cNvSpPr/>
          <p:nvPr/>
        </p:nvSpPr>
        <p:spPr bwMode="auto">
          <a:xfrm>
            <a:off x="1272897" y="5412223"/>
            <a:ext cx="5862517" cy="19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Locale + cloud con Supabase Auth</a:t>
            </a:r>
            <a:endParaRPr lang="en-US" sz="1150"/>
          </a:p>
        </p:txBody>
      </p:sp>
      <p:pic>
        <p:nvPicPr>
          <p:cNvPr id="664003846" name="Image 5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49034" y="5802867"/>
            <a:ext cx="221098" cy="221098"/>
          </a:xfrm>
          <a:prstGeom prst="rect">
            <a:avLst/>
          </a:prstGeom>
        </p:spPr>
      </p:pic>
      <p:sp>
        <p:nvSpPr>
          <p:cNvPr id="970845615" name="Text 14"/>
          <p:cNvSpPr/>
          <p:nvPr/>
        </p:nvSpPr>
        <p:spPr bwMode="auto">
          <a:xfrm>
            <a:off x="1272897" y="5798343"/>
            <a:ext cx="1842967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🐾</a:t>
            </a: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Pet gattino</a:t>
            </a:r>
            <a:endParaRPr lang="en-US" sz="1450"/>
          </a:p>
        </p:txBody>
      </p:sp>
      <p:sp>
        <p:nvSpPr>
          <p:cNvPr id="1660984244" name="Text 15"/>
          <p:cNvSpPr/>
          <p:nvPr/>
        </p:nvSpPr>
        <p:spPr bwMode="auto">
          <a:xfrm>
            <a:off x="1272897" y="6124455"/>
            <a:ext cx="5862517" cy="19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Animazioni autonome con macchina a stati</a:t>
            </a:r>
            <a:endParaRPr lang="en-US" sz="1150"/>
          </a:p>
        </p:txBody>
      </p:sp>
      <p:sp>
        <p:nvSpPr>
          <p:cNvPr id="1468920232" name="Text 16"/>
          <p:cNvSpPr/>
          <p:nvPr/>
        </p:nvSpPr>
        <p:spPr bwMode="auto">
          <a:xfrm>
            <a:off x="7502603" y="1899046"/>
            <a:ext cx="2423635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Un progetto che dimostra</a:t>
            </a:r>
            <a:endParaRPr lang="en-US" sz="1450"/>
          </a:p>
        </p:txBody>
      </p:sp>
      <p:sp>
        <p:nvSpPr>
          <p:cNvPr id="1958863604" name="Shape 17"/>
          <p:cNvSpPr/>
          <p:nvPr/>
        </p:nvSpPr>
        <p:spPr bwMode="auto">
          <a:xfrm>
            <a:off x="7502603" y="2237184"/>
            <a:ext cx="3122888" cy="1040486"/>
          </a:xfrm>
          <a:prstGeom prst="roundRect">
            <a:avLst>
              <a:gd name="adj" fmla="val 7031"/>
            </a:avLst>
          </a:prstGeom>
          <a:solidFill>
            <a:srgbClr val="FBFAFF"/>
          </a:solidFill>
          <a:ln w="15240">
            <a:solidFill>
              <a:srgbClr val="D0CED9"/>
            </a:solidFill>
            <a:prstDash val="solid"/>
          </a:ln>
        </p:spPr>
      </p:sp>
      <p:pic>
        <p:nvPicPr>
          <p:cNvPr id="1505053773" name="Image 6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87363" y="2237184"/>
            <a:ext cx="60959" cy="1040486"/>
          </a:xfrm>
          <a:prstGeom prst="rect">
            <a:avLst/>
          </a:prstGeom>
        </p:spPr>
      </p:pic>
      <p:sp>
        <p:nvSpPr>
          <p:cNvPr id="1205429711" name="Text 18"/>
          <p:cNvSpPr/>
          <p:nvPr/>
        </p:nvSpPr>
        <p:spPr bwMode="auto">
          <a:xfrm>
            <a:off x="7710963" y="2399823"/>
            <a:ext cx="2450543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Architettura professionale</a:t>
            </a:r>
            <a:endParaRPr lang="en-US" sz="1450"/>
          </a:p>
        </p:txBody>
      </p:sp>
      <p:sp>
        <p:nvSpPr>
          <p:cNvPr id="745517962" name="Text 19"/>
          <p:cNvSpPr/>
          <p:nvPr/>
        </p:nvSpPr>
        <p:spPr bwMode="auto">
          <a:xfrm>
            <a:off x="7710963" y="2725935"/>
            <a:ext cx="275189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46 segnali, 8 autoload, zero accoppiamento diretto tra sistemi</a:t>
            </a:r>
            <a:endParaRPr lang="en-US" sz="1150"/>
          </a:p>
        </p:txBody>
      </p:sp>
      <p:sp>
        <p:nvSpPr>
          <p:cNvPr id="1491104664" name="Shape 20"/>
          <p:cNvSpPr/>
          <p:nvPr/>
        </p:nvSpPr>
        <p:spPr bwMode="auto">
          <a:xfrm>
            <a:off x="10721220" y="2237184"/>
            <a:ext cx="3123009" cy="1040486"/>
          </a:xfrm>
          <a:prstGeom prst="roundRect">
            <a:avLst>
              <a:gd name="adj" fmla="val 7031"/>
            </a:avLst>
          </a:prstGeom>
          <a:solidFill>
            <a:srgbClr val="FBFAFF"/>
          </a:solidFill>
          <a:ln w="15240">
            <a:solidFill>
              <a:srgbClr val="D0CED9"/>
            </a:solidFill>
            <a:prstDash val="solid"/>
          </a:ln>
        </p:spPr>
      </p:sp>
      <p:pic>
        <p:nvPicPr>
          <p:cNvPr id="201965730" name="Image 7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0705980" y="2237184"/>
            <a:ext cx="60959" cy="1040486"/>
          </a:xfrm>
          <a:prstGeom prst="rect">
            <a:avLst/>
          </a:prstGeom>
        </p:spPr>
      </p:pic>
      <p:sp>
        <p:nvSpPr>
          <p:cNvPr id="780874790" name="Text 21"/>
          <p:cNvSpPr/>
          <p:nvPr/>
        </p:nvSpPr>
        <p:spPr bwMode="auto">
          <a:xfrm>
            <a:off x="10929579" y="2399823"/>
            <a:ext cx="2129313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Sviluppo collaborativo</a:t>
            </a:r>
            <a:endParaRPr lang="en-US" sz="1450"/>
          </a:p>
        </p:txBody>
      </p:sp>
      <p:sp>
        <p:nvSpPr>
          <p:cNvPr id="1497716894" name="Text 22"/>
          <p:cNvSpPr/>
          <p:nvPr/>
        </p:nvSpPr>
        <p:spPr bwMode="auto">
          <a:xfrm>
            <a:off x="10929579" y="2725935"/>
            <a:ext cx="275201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Pipeline CI/CD a 9 job paralleli con validazione automatica</a:t>
            </a:r>
            <a:endParaRPr lang="en-US" sz="1150"/>
          </a:p>
        </p:txBody>
      </p:sp>
      <p:sp>
        <p:nvSpPr>
          <p:cNvPr id="1549213167" name="Shape 23"/>
          <p:cNvSpPr/>
          <p:nvPr/>
        </p:nvSpPr>
        <p:spPr bwMode="auto">
          <a:xfrm>
            <a:off x="7502603" y="3373398"/>
            <a:ext cx="3122888" cy="1040486"/>
          </a:xfrm>
          <a:prstGeom prst="roundRect">
            <a:avLst>
              <a:gd name="adj" fmla="val 7031"/>
            </a:avLst>
          </a:prstGeom>
          <a:solidFill>
            <a:srgbClr val="FBFAFF"/>
          </a:solidFill>
          <a:ln w="15240">
            <a:solidFill>
              <a:srgbClr val="D0CED9"/>
            </a:solidFill>
            <a:prstDash val="solid"/>
          </a:ln>
        </p:spPr>
      </p:sp>
      <p:pic>
        <p:nvPicPr>
          <p:cNvPr id="346647127" name="Image 8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87363" y="3373398"/>
            <a:ext cx="60959" cy="1040486"/>
          </a:xfrm>
          <a:prstGeom prst="rect">
            <a:avLst/>
          </a:prstGeom>
        </p:spPr>
      </p:pic>
      <p:sp>
        <p:nvSpPr>
          <p:cNvPr id="614800452" name="Text 24"/>
          <p:cNvSpPr/>
          <p:nvPr/>
        </p:nvSpPr>
        <p:spPr bwMode="auto">
          <a:xfrm>
            <a:off x="7710963" y="3536035"/>
            <a:ext cx="1842967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Design offline-first</a:t>
            </a:r>
            <a:endParaRPr lang="en-US" sz="1450"/>
          </a:p>
        </p:txBody>
      </p:sp>
      <p:sp>
        <p:nvSpPr>
          <p:cNvPr id="955132010" name="Text 25"/>
          <p:cNvSpPr/>
          <p:nvPr/>
        </p:nvSpPr>
        <p:spPr bwMode="auto">
          <a:xfrm>
            <a:off x="7710963" y="3862148"/>
            <a:ext cx="275189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L'utente al centro: funziona sempre, anche senza connessione</a:t>
            </a:r>
            <a:endParaRPr lang="en-US" sz="1150"/>
          </a:p>
        </p:txBody>
      </p:sp>
      <p:sp>
        <p:nvSpPr>
          <p:cNvPr id="7469055" name="Shape 26"/>
          <p:cNvSpPr/>
          <p:nvPr/>
        </p:nvSpPr>
        <p:spPr bwMode="auto">
          <a:xfrm>
            <a:off x="10721220" y="3373398"/>
            <a:ext cx="3123009" cy="1040486"/>
          </a:xfrm>
          <a:prstGeom prst="roundRect">
            <a:avLst>
              <a:gd name="adj" fmla="val 7031"/>
            </a:avLst>
          </a:prstGeom>
          <a:solidFill>
            <a:srgbClr val="FBFAFF"/>
          </a:solidFill>
          <a:ln w="15240">
            <a:solidFill>
              <a:srgbClr val="D0CED9"/>
            </a:solidFill>
            <a:prstDash val="solid"/>
          </a:ln>
        </p:spPr>
      </p:sp>
      <p:pic>
        <p:nvPicPr>
          <p:cNvPr id="806836748" name="Image 9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0705980" y="3373398"/>
            <a:ext cx="60959" cy="1040486"/>
          </a:xfrm>
          <a:prstGeom prst="rect">
            <a:avLst/>
          </a:prstGeom>
        </p:spPr>
      </p:pic>
      <p:sp>
        <p:nvSpPr>
          <p:cNvPr id="1946916501" name="Text 27"/>
          <p:cNvSpPr/>
          <p:nvPr/>
        </p:nvSpPr>
        <p:spPr bwMode="auto">
          <a:xfrm>
            <a:off x="10929579" y="3536035"/>
            <a:ext cx="2060376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10.650 righe di codice</a:t>
            </a:r>
            <a:endParaRPr lang="en-US" sz="1450"/>
          </a:p>
        </p:txBody>
      </p:sp>
      <p:sp>
        <p:nvSpPr>
          <p:cNvPr id="1057690525" name="Text 28"/>
          <p:cNvSpPr/>
          <p:nvPr/>
        </p:nvSpPr>
        <p:spPr bwMode="auto">
          <a:xfrm>
            <a:off x="10929579" y="3862148"/>
            <a:ext cx="275201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Pulito, testabile e pronto per scalare verso nuove funzionalità</a:t>
            </a:r>
            <a:endParaRPr lang="en-US" sz="1150"/>
          </a:p>
        </p:txBody>
      </p:sp>
      <p:sp>
        <p:nvSpPr>
          <p:cNvPr id="1127022604" name="Text 29"/>
          <p:cNvSpPr/>
          <p:nvPr/>
        </p:nvSpPr>
        <p:spPr bwMode="auto">
          <a:xfrm>
            <a:off x="7502603" y="4521636"/>
            <a:ext cx="2012870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Miglioramenti Futuri</a:t>
            </a:r>
            <a:endParaRPr lang="en-US" sz="1450"/>
          </a:p>
        </p:txBody>
      </p:sp>
      <p:sp>
        <p:nvSpPr>
          <p:cNvPr id="792246435" name="Text 30"/>
          <p:cNvSpPr/>
          <p:nvPr/>
        </p:nvSpPr>
        <p:spPr bwMode="auto">
          <a:xfrm>
            <a:off x="7502603" y="4847748"/>
            <a:ext cx="6341625" cy="185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☁️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1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Sincronizzazione cloud completa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Supabase Auth multi-device</a:t>
            </a:r>
            <a:endParaRPr lang="en-US" sz="1150"/>
          </a:p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👥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1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Sistema amicizie e visite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Tabelle già predisposte</a:t>
            </a:r>
            <a:endParaRPr lang="en-US" sz="1150"/>
          </a:p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💬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1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Chat integrata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chat_messages pronta</a:t>
            </a:r>
            <a:endParaRPr lang="en-US" sz="1150"/>
          </a:p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🍅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1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Pomodoro Timer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Sessioni di studio con statistiche</a:t>
            </a:r>
            <a:endParaRPr lang="en-US" sz="1150"/>
          </a:p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📔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1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Diario dell'umore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journal_entries, mood_entries, memos</a:t>
            </a:r>
            <a:endParaRPr lang="en-US" sz="1150"/>
          </a:p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🛒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1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Marketplace decorazioni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Economia con monete già implementata</a:t>
            </a:r>
            <a:endParaRPr lang="en-US" sz="1150"/>
          </a:p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📱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1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Supporto mobile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Godot 4.6 compila per Android e iOS</a:t>
            </a:r>
            <a:endParaRPr lang="en-US" sz="1150"/>
          </a:p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🎨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1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Catalogo personaggi esteso</a:t>
            </a:r>
            <a:r>
              <a:rPr lang="en-US" sz="11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Pipeline scaffold già pronta</a:t>
            </a:r>
            <a:endParaRPr lang="en-US" sz="1150"/>
          </a:p>
        </p:txBody>
      </p:sp>
      <p:sp>
        <p:nvSpPr>
          <p:cNvPr id="1981725145" name="Shape 31"/>
          <p:cNvSpPr/>
          <p:nvPr/>
        </p:nvSpPr>
        <p:spPr bwMode="auto">
          <a:xfrm>
            <a:off x="7502603" y="6807040"/>
            <a:ext cx="6341625" cy="681513"/>
          </a:xfrm>
          <a:prstGeom prst="roundRect">
            <a:avLst>
              <a:gd name="adj" fmla="val 3245"/>
            </a:avLst>
          </a:prstGeom>
          <a:solidFill>
            <a:srgbClr val="B6D6FC"/>
          </a:solidFill>
          <a:ln/>
        </p:spPr>
      </p:sp>
      <p:pic>
        <p:nvPicPr>
          <p:cNvPr id="213844546" name="Image 10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650003" y="7014566"/>
            <a:ext cx="184189" cy="147398"/>
          </a:xfrm>
          <a:prstGeom prst="rect">
            <a:avLst/>
          </a:prstGeom>
        </p:spPr>
      </p:pic>
      <p:sp>
        <p:nvSpPr>
          <p:cNvPr id="1136299904" name="Text 32"/>
          <p:cNvSpPr/>
          <p:nvPr/>
        </p:nvSpPr>
        <p:spPr bwMode="auto">
          <a:xfrm>
            <a:off x="7981592" y="6939558"/>
            <a:ext cx="5715237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Il database cloud ha già </a:t>
            </a:r>
            <a:r>
              <a:rPr lang="en-US" sz="1150" b="1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15 tabelle</a:t>
            </a:r>
            <a:r>
              <a:rPr lang="en-US" sz="11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 una parte in uso attivo, le altre pronte per le funzionalità future.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0151609" name="Text 0"/>
          <p:cNvSpPr/>
          <p:nvPr/>
        </p:nvSpPr>
        <p:spPr bwMode="auto">
          <a:xfrm>
            <a:off x="396834" y="311824"/>
            <a:ext cx="1964649" cy="230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4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Flusso Signal-Driven</a:t>
            </a:r>
            <a:endParaRPr lang="en-US" sz="1450"/>
          </a:p>
        </p:txBody>
      </p:sp>
      <p:sp>
        <p:nvSpPr>
          <p:cNvPr id="368988673" name="Text 1"/>
          <p:cNvSpPr/>
          <p:nvPr/>
        </p:nvSpPr>
        <p:spPr bwMode="auto">
          <a:xfrm>
            <a:off x="396834" y="590073"/>
            <a:ext cx="13836728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Nessun manager chiama direttamente un altro. Tutto passa attraverso il </a:t>
            </a:r>
            <a:r>
              <a:rPr lang="en-US" sz="550" b="1">
                <a:solidFill>
                  <a:srgbClr val="5955EB"/>
                </a:solidFill>
                <a:latin typeface="Open Sans"/>
                <a:ea typeface="Open Sans"/>
                <a:cs typeface="Open Sans"/>
              </a:rPr>
              <a:t>SignalBus</a:t>
            </a: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</a:t>
            </a:r>
            <a:r>
              <a:rPr lang="en-US" sz="5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46 segnali globali tipizzati</a:t>
            </a: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. Il risultato: sistemi completamente disaccoppiati, testabili in isolamento, estendibili senza toccare codice esistente.</a:t>
            </a:r>
            <a:endParaRPr lang="en-US" sz="550"/>
          </a:p>
        </p:txBody>
      </p:sp>
      <p:pic>
        <p:nvPicPr>
          <p:cNvPr id="183969127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37314" y="695086"/>
            <a:ext cx="6155649" cy="4886443"/>
          </a:xfrm>
          <a:prstGeom prst="rect">
            <a:avLst/>
          </a:prstGeom>
        </p:spPr>
      </p:pic>
      <p:sp>
        <p:nvSpPr>
          <p:cNvPr id="191374026" name="Text 2"/>
          <p:cNvSpPr/>
          <p:nvPr/>
        </p:nvSpPr>
        <p:spPr bwMode="auto">
          <a:xfrm>
            <a:off x="6753928" y="2736969"/>
            <a:ext cx="1106212" cy="75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</a:rPr>
              <a:t>Flusso Signal-Driven</a:t>
            </a:r>
            <a:endParaRPr lang="en-US" sz="1550"/>
          </a:p>
        </p:txBody>
      </p:sp>
      <p:sp>
        <p:nvSpPr>
          <p:cNvPr id="1390198631" name="Text 3"/>
          <p:cNvSpPr/>
          <p:nvPr/>
        </p:nvSpPr>
        <p:spPr bwMode="auto">
          <a:xfrm>
            <a:off x="7842153" y="1299398"/>
            <a:ext cx="1645688" cy="252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Input utente</a:t>
            </a:r>
            <a:endParaRPr lang="en-US" sz="1550"/>
          </a:p>
        </p:txBody>
      </p:sp>
      <p:sp>
        <p:nvSpPr>
          <p:cNvPr id="147933440" name="Text 4"/>
          <p:cNvSpPr/>
          <p:nvPr/>
        </p:nvSpPr>
        <p:spPr bwMode="auto">
          <a:xfrm>
            <a:off x="7842153" y="1624293"/>
            <a:ext cx="1645688" cy="134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4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Azione dall'interfaccia</a:t>
            </a:r>
            <a:endParaRPr lang="en-US" sz="1250"/>
          </a:p>
        </p:txBody>
      </p:sp>
      <p:sp>
        <p:nvSpPr>
          <p:cNvPr id="1392034306" name="Text 5"/>
          <p:cNvSpPr/>
          <p:nvPr/>
        </p:nvSpPr>
        <p:spPr bwMode="auto">
          <a:xfrm>
            <a:off x="5099105" y="1232367"/>
            <a:ext cx="1645687" cy="252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AuthManager</a:t>
            </a:r>
            <a:endParaRPr lang="en-US" sz="1550"/>
          </a:p>
        </p:txBody>
      </p:sp>
      <p:sp>
        <p:nvSpPr>
          <p:cNvPr id="41923733" name="Text 6"/>
          <p:cNvSpPr/>
          <p:nvPr/>
        </p:nvSpPr>
        <p:spPr bwMode="auto">
          <a:xfrm>
            <a:off x="5099105" y="1557261"/>
            <a:ext cx="1645687" cy="268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Autenticazione e permessi</a:t>
            </a:r>
            <a:endParaRPr lang="en-US" sz="1250"/>
          </a:p>
        </p:txBody>
      </p:sp>
      <p:sp>
        <p:nvSpPr>
          <p:cNvPr id="672071643" name="Text 7"/>
          <p:cNvSpPr/>
          <p:nvPr/>
        </p:nvSpPr>
        <p:spPr bwMode="auto">
          <a:xfrm>
            <a:off x="5099105" y="4443084"/>
            <a:ext cx="1645687" cy="252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GameManager</a:t>
            </a:r>
            <a:endParaRPr lang="en-US" sz="1550"/>
          </a:p>
        </p:txBody>
      </p:sp>
      <p:sp>
        <p:nvSpPr>
          <p:cNvPr id="1905280876" name="Text 8"/>
          <p:cNvSpPr/>
          <p:nvPr/>
        </p:nvSpPr>
        <p:spPr bwMode="auto">
          <a:xfrm>
            <a:off x="5099105" y="4767975"/>
            <a:ext cx="1645687" cy="268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Risponde ai segnali indipendente</a:t>
            </a:r>
            <a:endParaRPr lang="en-US" sz="1250"/>
          </a:p>
        </p:txBody>
      </p:sp>
      <p:sp>
        <p:nvSpPr>
          <p:cNvPr id="1735191896" name="Text 9"/>
          <p:cNvSpPr/>
          <p:nvPr/>
        </p:nvSpPr>
        <p:spPr bwMode="auto">
          <a:xfrm>
            <a:off x="7842153" y="4443084"/>
            <a:ext cx="1645688" cy="252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SignalBus</a:t>
            </a:r>
            <a:endParaRPr lang="en-US" sz="1550"/>
          </a:p>
        </p:txBody>
      </p:sp>
      <p:sp>
        <p:nvSpPr>
          <p:cNvPr id="753121051" name="Text 10"/>
          <p:cNvSpPr/>
          <p:nvPr/>
        </p:nvSpPr>
        <p:spPr bwMode="auto">
          <a:xfrm>
            <a:off x="7842153" y="4767975"/>
            <a:ext cx="1645688" cy="268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46 segnali globali tipizzati</a:t>
            </a:r>
            <a:endParaRPr lang="en-US" sz="1250"/>
          </a:p>
        </p:txBody>
      </p:sp>
      <p:sp>
        <p:nvSpPr>
          <p:cNvPr id="1565614048" name="Text 11"/>
          <p:cNvSpPr/>
          <p:nvPr/>
        </p:nvSpPr>
        <p:spPr bwMode="auto">
          <a:xfrm>
            <a:off x="8435732" y="2815241"/>
            <a:ext cx="1681661" cy="252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Scena UI</a:t>
            </a:r>
            <a:endParaRPr lang="en-US" sz="1550"/>
          </a:p>
        </p:txBody>
      </p:sp>
      <p:sp>
        <p:nvSpPr>
          <p:cNvPr id="975483473" name="Text 12"/>
          <p:cNvSpPr/>
          <p:nvPr/>
        </p:nvSpPr>
        <p:spPr bwMode="auto">
          <a:xfrm>
            <a:off x="8435732" y="3140136"/>
            <a:ext cx="1681661" cy="268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Riceve input e emette segnali</a:t>
            </a:r>
            <a:endParaRPr lang="en-US" sz="1250"/>
          </a:p>
        </p:txBody>
      </p:sp>
      <p:sp>
        <p:nvSpPr>
          <p:cNvPr id="1744563582" name="Text 13"/>
          <p:cNvSpPr/>
          <p:nvPr/>
        </p:nvSpPr>
        <p:spPr bwMode="auto">
          <a:xfrm>
            <a:off x="4496535" y="2824234"/>
            <a:ext cx="1681662" cy="252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SaveManager</a:t>
            </a:r>
            <a:endParaRPr lang="en-US" sz="1550"/>
          </a:p>
        </p:txBody>
      </p:sp>
      <p:sp>
        <p:nvSpPr>
          <p:cNvPr id="104735503" name="Text 14"/>
          <p:cNvSpPr/>
          <p:nvPr/>
        </p:nvSpPr>
        <p:spPr bwMode="auto">
          <a:xfrm>
            <a:off x="4496535" y="3149128"/>
            <a:ext cx="1681662" cy="268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Gestisce il salvataggio in autonomia</a:t>
            </a:r>
            <a:endParaRPr lang="en-US" sz="1250"/>
          </a:p>
        </p:txBody>
      </p:sp>
      <p:sp>
        <p:nvSpPr>
          <p:cNvPr id="319349221" name="Shape 15"/>
          <p:cNvSpPr/>
          <p:nvPr/>
        </p:nvSpPr>
        <p:spPr bwMode="auto">
          <a:xfrm>
            <a:off x="343732" y="5608438"/>
            <a:ext cx="6934675" cy="2497811"/>
          </a:xfrm>
          <a:prstGeom prst="roundRect">
            <a:avLst>
              <a:gd name="adj" fmla="val 443"/>
            </a:avLst>
          </a:prstGeom>
          <a:solidFill>
            <a:srgbClr val="E7E0FF"/>
          </a:solidFill>
          <a:ln/>
        </p:spPr>
      </p:sp>
      <p:sp>
        <p:nvSpPr>
          <p:cNvPr id="698470893" name="Text 16"/>
          <p:cNvSpPr/>
          <p:nvPr/>
        </p:nvSpPr>
        <p:spPr bwMode="auto">
          <a:xfrm>
            <a:off x="417432" y="5632370"/>
            <a:ext cx="2282546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Esempio di flusso — Rilascio di una decorazione</a:t>
            </a:r>
            <a:endParaRPr lang="en-US" sz="700"/>
          </a:p>
        </p:txBody>
      </p:sp>
      <p:sp>
        <p:nvSpPr>
          <p:cNvPr id="1576498804" name="Text 17"/>
          <p:cNvSpPr/>
          <p:nvPr/>
        </p:nvSpPr>
        <p:spPr bwMode="auto">
          <a:xfrm>
            <a:off x="417432" y="5774411"/>
            <a:ext cx="147398" cy="92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Libre Baskerville Light"/>
                <a:ea typeface="Libre Baskerville Light"/>
                <a:cs typeface="Libre Baskerville Light"/>
              </a:rPr>
              <a:t>01</a:t>
            </a:r>
            <a:endParaRPr lang="en-US" sz="550"/>
          </a:p>
        </p:txBody>
      </p:sp>
      <p:pic>
        <p:nvPicPr>
          <p:cNvPr id="2145921022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17432" y="5891807"/>
            <a:ext cx="6787276" cy="7619"/>
          </a:xfrm>
          <a:prstGeom prst="rect">
            <a:avLst/>
          </a:prstGeom>
        </p:spPr>
      </p:pic>
      <p:sp>
        <p:nvSpPr>
          <p:cNvPr id="1301238921" name="Text 18"/>
          <p:cNvSpPr/>
          <p:nvPr/>
        </p:nvSpPr>
        <p:spPr bwMode="auto">
          <a:xfrm>
            <a:off x="417432" y="5943837"/>
            <a:ext cx="1658659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DropZone emette </a:t>
            </a:r>
            <a:r>
              <a:rPr lang="en-US" sz="700">
                <a:solidFill>
                  <a:srgbClr val="49495A"/>
                </a:solidFill>
                <a:highlight>
                  <a:srgbClr val="DAD3F2"/>
                </a:highlight>
                <a:latin typeface="Consolas"/>
                <a:ea typeface="Consolas"/>
                <a:cs typeface="Consolas"/>
              </a:rPr>
              <a:t>decoration_placed</a:t>
            </a:r>
            <a:endParaRPr lang="en-US" sz="700"/>
          </a:p>
        </p:txBody>
      </p:sp>
      <p:sp>
        <p:nvSpPr>
          <p:cNvPr id="532463499" name="Text 19"/>
          <p:cNvSpPr/>
          <p:nvPr/>
        </p:nvSpPr>
        <p:spPr bwMode="auto">
          <a:xfrm>
            <a:off x="417432" y="6082902"/>
            <a:ext cx="6787276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Il segnale viene pubblicato sul SignalBus globale</a:t>
            </a:r>
            <a:endParaRPr lang="en-US" sz="550"/>
          </a:p>
        </p:txBody>
      </p:sp>
      <p:sp>
        <p:nvSpPr>
          <p:cNvPr id="408737780" name="Text 20"/>
          <p:cNvSpPr/>
          <p:nvPr/>
        </p:nvSpPr>
        <p:spPr bwMode="auto">
          <a:xfrm>
            <a:off x="417432" y="6240183"/>
            <a:ext cx="147398" cy="92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Libre Baskerville Light"/>
                <a:ea typeface="Libre Baskerville Light"/>
                <a:cs typeface="Libre Baskerville Light"/>
              </a:rPr>
              <a:t>02</a:t>
            </a:r>
            <a:endParaRPr lang="en-US" sz="550"/>
          </a:p>
        </p:txBody>
      </p:sp>
      <p:pic>
        <p:nvPicPr>
          <p:cNvPr id="1662474923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17432" y="6342935"/>
            <a:ext cx="6787276" cy="7619"/>
          </a:xfrm>
          <a:prstGeom prst="rect">
            <a:avLst/>
          </a:prstGeom>
        </p:spPr>
      </p:pic>
      <p:sp>
        <p:nvSpPr>
          <p:cNvPr id="119839954" name="Text 21"/>
          <p:cNvSpPr/>
          <p:nvPr/>
        </p:nvSpPr>
        <p:spPr bwMode="auto">
          <a:xfrm>
            <a:off x="417432" y="6409611"/>
            <a:ext cx="1607105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RoomBase aggiorna lo stato visivo</a:t>
            </a:r>
            <a:endParaRPr lang="en-US" sz="700"/>
          </a:p>
        </p:txBody>
      </p:sp>
      <p:sp>
        <p:nvSpPr>
          <p:cNvPr id="1417889280" name="Text 22"/>
          <p:cNvSpPr/>
          <p:nvPr/>
        </p:nvSpPr>
        <p:spPr bwMode="auto">
          <a:xfrm>
            <a:off x="417432" y="6548675"/>
            <a:ext cx="6787276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Riceve il segnale e ridisegna la stanza</a:t>
            </a:r>
            <a:endParaRPr lang="en-US" sz="550"/>
          </a:p>
        </p:txBody>
      </p:sp>
      <p:sp>
        <p:nvSpPr>
          <p:cNvPr id="873532871" name="Text 23"/>
          <p:cNvSpPr/>
          <p:nvPr/>
        </p:nvSpPr>
        <p:spPr bwMode="auto">
          <a:xfrm>
            <a:off x="417432" y="6705956"/>
            <a:ext cx="147398" cy="92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Libre Baskerville Light"/>
                <a:ea typeface="Libre Baskerville Light"/>
                <a:cs typeface="Libre Baskerville Light"/>
              </a:rPr>
              <a:t>03</a:t>
            </a:r>
            <a:endParaRPr lang="en-US" sz="550"/>
          </a:p>
        </p:txBody>
      </p:sp>
      <p:pic>
        <p:nvPicPr>
          <p:cNvPr id="1785739470" name="Image 3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17432" y="6794062"/>
            <a:ext cx="6787276" cy="7619"/>
          </a:xfrm>
          <a:prstGeom prst="rect">
            <a:avLst/>
          </a:prstGeom>
        </p:spPr>
      </p:pic>
      <p:sp>
        <p:nvSpPr>
          <p:cNvPr id="1927737017" name="Text 24"/>
          <p:cNvSpPr/>
          <p:nvPr/>
        </p:nvSpPr>
        <p:spPr bwMode="auto">
          <a:xfrm>
            <a:off x="417432" y="6875382"/>
            <a:ext cx="1633775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SaveManager scrive atomicamente</a:t>
            </a:r>
            <a:endParaRPr lang="en-US" sz="700"/>
          </a:p>
        </p:txBody>
      </p:sp>
      <p:sp>
        <p:nvSpPr>
          <p:cNvPr id="831203270" name="Text 25"/>
          <p:cNvSpPr/>
          <p:nvPr/>
        </p:nvSpPr>
        <p:spPr bwMode="auto">
          <a:xfrm>
            <a:off x="417432" y="7014447"/>
            <a:ext cx="6787276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JSON + mirror SQLite via LocalDatabase in WAL mode</a:t>
            </a:r>
            <a:endParaRPr lang="en-US" sz="550"/>
          </a:p>
        </p:txBody>
      </p:sp>
      <p:sp>
        <p:nvSpPr>
          <p:cNvPr id="581419816" name="Text 26"/>
          <p:cNvSpPr/>
          <p:nvPr/>
        </p:nvSpPr>
        <p:spPr bwMode="auto">
          <a:xfrm>
            <a:off x="417432" y="7171729"/>
            <a:ext cx="147398" cy="92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Libre Baskerville Light"/>
                <a:ea typeface="Libre Baskerville Light"/>
                <a:cs typeface="Libre Baskerville Light"/>
              </a:rPr>
              <a:t>04</a:t>
            </a:r>
            <a:endParaRPr lang="en-US" sz="550"/>
          </a:p>
        </p:txBody>
      </p:sp>
      <p:pic>
        <p:nvPicPr>
          <p:cNvPr id="1063200611" name="Image 4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17432" y="7245190"/>
            <a:ext cx="6787276" cy="7619"/>
          </a:xfrm>
          <a:prstGeom prst="rect">
            <a:avLst/>
          </a:prstGeom>
        </p:spPr>
      </p:pic>
      <p:sp>
        <p:nvSpPr>
          <p:cNvPr id="1741974952" name="Text 27"/>
          <p:cNvSpPr/>
          <p:nvPr/>
        </p:nvSpPr>
        <p:spPr bwMode="auto">
          <a:xfrm>
            <a:off x="417432" y="7341156"/>
            <a:ext cx="1419819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SupabaseClient accoda la sync</a:t>
            </a:r>
            <a:endParaRPr lang="en-US" sz="700"/>
          </a:p>
        </p:txBody>
      </p:sp>
      <p:sp>
        <p:nvSpPr>
          <p:cNvPr id="1841911034" name="Text 28"/>
          <p:cNvSpPr/>
          <p:nvPr/>
        </p:nvSpPr>
        <p:spPr bwMode="auto">
          <a:xfrm>
            <a:off x="417432" y="7480220"/>
            <a:ext cx="6787276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Sincronizzazione cloud asincrona verso le 15 tabelle</a:t>
            </a:r>
            <a:endParaRPr lang="en-US" sz="550"/>
          </a:p>
        </p:txBody>
      </p:sp>
      <p:sp>
        <p:nvSpPr>
          <p:cNvPr id="376857750" name="Text 29"/>
          <p:cNvSpPr/>
          <p:nvPr/>
        </p:nvSpPr>
        <p:spPr bwMode="auto">
          <a:xfrm>
            <a:off x="417432" y="7637500"/>
            <a:ext cx="147398" cy="92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Libre Baskerville Light"/>
                <a:ea typeface="Libre Baskerville Light"/>
                <a:cs typeface="Libre Baskerville Light"/>
              </a:rPr>
              <a:t>05</a:t>
            </a:r>
            <a:endParaRPr lang="en-US" sz="550"/>
          </a:p>
        </p:txBody>
      </p:sp>
      <p:pic>
        <p:nvPicPr>
          <p:cNvPr id="973965939" name="Image 5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17432" y="7696318"/>
            <a:ext cx="6787276" cy="7619"/>
          </a:xfrm>
          <a:prstGeom prst="rect">
            <a:avLst/>
          </a:prstGeom>
        </p:spPr>
      </p:pic>
      <p:sp>
        <p:nvSpPr>
          <p:cNvPr id="1883848657" name="Text 30"/>
          <p:cNvSpPr/>
          <p:nvPr/>
        </p:nvSpPr>
        <p:spPr bwMode="auto">
          <a:xfrm>
            <a:off x="417432" y="7806927"/>
            <a:ext cx="921424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Logger traccia tutto</a:t>
            </a:r>
            <a:endParaRPr lang="en-US" sz="700"/>
          </a:p>
        </p:txBody>
      </p:sp>
      <p:sp>
        <p:nvSpPr>
          <p:cNvPr id="1839037096" name="Text 31"/>
          <p:cNvSpPr/>
          <p:nvPr/>
        </p:nvSpPr>
        <p:spPr bwMode="auto">
          <a:xfrm>
            <a:off x="417432" y="7945992"/>
            <a:ext cx="6787276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Correlation ID end-to-end su JSON Lines (5MB × 5 rotating)</a:t>
            </a:r>
            <a:endParaRPr lang="en-US" sz="550"/>
          </a:p>
        </p:txBody>
      </p:sp>
      <p:sp>
        <p:nvSpPr>
          <p:cNvPr id="772961777" name="Text 32"/>
          <p:cNvSpPr/>
          <p:nvPr/>
        </p:nvSpPr>
        <p:spPr bwMode="auto">
          <a:xfrm>
            <a:off x="7412711" y="5632370"/>
            <a:ext cx="1151095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Componenti del sistema</a:t>
            </a:r>
            <a:endParaRPr lang="en-US" sz="700"/>
          </a:p>
        </p:txBody>
      </p:sp>
      <p:sp>
        <p:nvSpPr>
          <p:cNvPr id="1373706502" name="Shape 33"/>
          <p:cNvSpPr/>
          <p:nvPr/>
        </p:nvSpPr>
        <p:spPr bwMode="auto">
          <a:xfrm>
            <a:off x="7412711" y="5774411"/>
            <a:ext cx="3402210" cy="364568"/>
          </a:xfrm>
          <a:prstGeom prst="roundRect">
            <a:avLst>
              <a:gd name="adj" fmla="val 3033"/>
            </a:avLst>
          </a:prstGeom>
          <a:solidFill>
            <a:srgbClr val="EAE8F3"/>
          </a:solidFill>
          <a:ln/>
        </p:spPr>
      </p:sp>
      <p:sp>
        <p:nvSpPr>
          <p:cNvPr id="204835145" name="Text 34"/>
          <p:cNvSpPr/>
          <p:nvPr/>
        </p:nvSpPr>
        <p:spPr bwMode="auto">
          <a:xfrm>
            <a:off x="7486411" y="5848111"/>
            <a:ext cx="921424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SignalBus</a:t>
            </a:r>
            <a:endParaRPr lang="en-US" sz="700"/>
          </a:p>
        </p:txBody>
      </p:sp>
      <p:sp>
        <p:nvSpPr>
          <p:cNvPr id="1215259873" name="Text 35"/>
          <p:cNvSpPr/>
          <p:nvPr/>
        </p:nvSpPr>
        <p:spPr bwMode="auto">
          <a:xfrm>
            <a:off x="7486411" y="5987176"/>
            <a:ext cx="3254811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46 segnali globali tipizzati — cuore dell'architettura</a:t>
            </a:r>
            <a:endParaRPr lang="en-US" sz="550"/>
          </a:p>
        </p:txBody>
      </p:sp>
      <p:sp>
        <p:nvSpPr>
          <p:cNvPr id="802222948" name="Shape 36"/>
          <p:cNvSpPr/>
          <p:nvPr/>
        </p:nvSpPr>
        <p:spPr bwMode="auto">
          <a:xfrm>
            <a:off x="10838854" y="5774411"/>
            <a:ext cx="3402329" cy="364568"/>
          </a:xfrm>
          <a:prstGeom prst="roundRect">
            <a:avLst>
              <a:gd name="adj" fmla="val 3033"/>
            </a:avLst>
          </a:prstGeom>
          <a:solidFill>
            <a:srgbClr val="EAE8F3"/>
          </a:solidFill>
          <a:ln/>
        </p:spPr>
      </p:sp>
      <p:sp>
        <p:nvSpPr>
          <p:cNvPr id="128663452" name="Text 37"/>
          <p:cNvSpPr/>
          <p:nvPr/>
        </p:nvSpPr>
        <p:spPr bwMode="auto">
          <a:xfrm>
            <a:off x="10912554" y="5848111"/>
            <a:ext cx="921424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SaveManager</a:t>
            </a:r>
            <a:endParaRPr lang="en-US" sz="700"/>
          </a:p>
        </p:txBody>
      </p:sp>
      <p:sp>
        <p:nvSpPr>
          <p:cNvPr id="1216593253" name="Text 38"/>
          <p:cNvSpPr/>
          <p:nvPr/>
        </p:nvSpPr>
        <p:spPr bwMode="auto">
          <a:xfrm>
            <a:off x="10912554" y="5987176"/>
            <a:ext cx="3254931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save_data.json con firma HMAC-SHA256</a:t>
            </a:r>
            <a:endParaRPr lang="en-US" sz="550"/>
          </a:p>
        </p:txBody>
      </p:sp>
      <p:sp>
        <p:nvSpPr>
          <p:cNvPr id="1425542668" name="Shape 39"/>
          <p:cNvSpPr/>
          <p:nvPr/>
        </p:nvSpPr>
        <p:spPr bwMode="auto">
          <a:xfrm>
            <a:off x="7412711" y="6162912"/>
            <a:ext cx="3402210" cy="364568"/>
          </a:xfrm>
          <a:prstGeom prst="roundRect">
            <a:avLst>
              <a:gd name="adj" fmla="val 3033"/>
            </a:avLst>
          </a:prstGeom>
          <a:solidFill>
            <a:srgbClr val="EAE8F3"/>
          </a:solidFill>
          <a:ln/>
        </p:spPr>
      </p:sp>
      <p:sp>
        <p:nvSpPr>
          <p:cNvPr id="324627996" name="Text 40"/>
          <p:cNvSpPr/>
          <p:nvPr/>
        </p:nvSpPr>
        <p:spPr bwMode="auto">
          <a:xfrm>
            <a:off x="7486411" y="6236613"/>
            <a:ext cx="921424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LocalDatabase</a:t>
            </a:r>
            <a:endParaRPr lang="en-US" sz="700"/>
          </a:p>
        </p:txBody>
      </p:sp>
      <p:sp>
        <p:nvSpPr>
          <p:cNvPr id="1472140287" name="Text 41"/>
          <p:cNvSpPr/>
          <p:nvPr/>
        </p:nvSpPr>
        <p:spPr bwMode="auto">
          <a:xfrm>
            <a:off x="7486411" y="6375677"/>
            <a:ext cx="3254811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SQLite 11 tabelle in WAL mode</a:t>
            </a:r>
            <a:endParaRPr lang="en-US" sz="550"/>
          </a:p>
        </p:txBody>
      </p:sp>
      <p:sp>
        <p:nvSpPr>
          <p:cNvPr id="1758238936" name="Shape 42"/>
          <p:cNvSpPr/>
          <p:nvPr/>
        </p:nvSpPr>
        <p:spPr bwMode="auto">
          <a:xfrm>
            <a:off x="10838854" y="6162912"/>
            <a:ext cx="3402329" cy="364568"/>
          </a:xfrm>
          <a:prstGeom prst="roundRect">
            <a:avLst>
              <a:gd name="adj" fmla="val 3033"/>
            </a:avLst>
          </a:prstGeom>
          <a:solidFill>
            <a:srgbClr val="EAE8F3"/>
          </a:solidFill>
          <a:ln/>
        </p:spPr>
      </p:sp>
      <p:sp>
        <p:nvSpPr>
          <p:cNvPr id="766401152" name="Text 43"/>
          <p:cNvSpPr/>
          <p:nvPr/>
        </p:nvSpPr>
        <p:spPr bwMode="auto">
          <a:xfrm>
            <a:off x="10912554" y="6236613"/>
            <a:ext cx="921424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SupabaseClient</a:t>
            </a:r>
            <a:endParaRPr lang="en-US" sz="700"/>
          </a:p>
        </p:txBody>
      </p:sp>
      <p:sp>
        <p:nvSpPr>
          <p:cNvPr id="866294744" name="Text 44"/>
          <p:cNvSpPr/>
          <p:nvPr/>
        </p:nvSpPr>
        <p:spPr bwMode="auto">
          <a:xfrm>
            <a:off x="10912554" y="6375677"/>
            <a:ext cx="3254931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Cloud 15 tabelle + Row Level Security</a:t>
            </a:r>
            <a:endParaRPr lang="en-US" sz="550"/>
          </a:p>
        </p:txBody>
      </p:sp>
      <p:sp>
        <p:nvSpPr>
          <p:cNvPr id="1591199103" name="Shape 45"/>
          <p:cNvSpPr/>
          <p:nvPr/>
        </p:nvSpPr>
        <p:spPr bwMode="auto">
          <a:xfrm>
            <a:off x="7412711" y="6551413"/>
            <a:ext cx="3402210" cy="364568"/>
          </a:xfrm>
          <a:prstGeom prst="roundRect">
            <a:avLst>
              <a:gd name="adj" fmla="val 3033"/>
            </a:avLst>
          </a:prstGeom>
          <a:solidFill>
            <a:srgbClr val="EAE8F3"/>
          </a:solidFill>
          <a:ln/>
        </p:spPr>
      </p:sp>
      <p:sp>
        <p:nvSpPr>
          <p:cNvPr id="241538132" name="Text 46"/>
          <p:cNvSpPr/>
          <p:nvPr/>
        </p:nvSpPr>
        <p:spPr bwMode="auto">
          <a:xfrm>
            <a:off x="7486411" y="6625113"/>
            <a:ext cx="921424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AudioManager</a:t>
            </a:r>
            <a:endParaRPr lang="en-US" sz="700"/>
          </a:p>
        </p:txBody>
      </p:sp>
      <p:sp>
        <p:nvSpPr>
          <p:cNvPr id="1011570642" name="Text 47"/>
          <p:cNvSpPr/>
          <p:nvPr/>
        </p:nvSpPr>
        <p:spPr bwMode="auto">
          <a:xfrm>
            <a:off x="7486411" y="6764178"/>
            <a:ext cx="3254811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Bus Master / Music / Ambience indipendenti</a:t>
            </a:r>
            <a:endParaRPr lang="en-US" sz="550"/>
          </a:p>
        </p:txBody>
      </p:sp>
      <p:sp>
        <p:nvSpPr>
          <p:cNvPr id="2078833428" name="Shape 48"/>
          <p:cNvSpPr/>
          <p:nvPr/>
        </p:nvSpPr>
        <p:spPr bwMode="auto">
          <a:xfrm>
            <a:off x="10838854" y="6551413"/>
            <a:ext cx="3402329" cy="364568"/>
          </a:xfrm>
          <a:prstGeom prst="roundRect">
            <a:avLst>
              <a:gd name="adj" fmla="val 3033"/>
            </a:avLst>
          </a:prstGeom>
          <a:solidFill>
            <a:srgbClr val="EAE8F3"/>
          </a:solidFill>
          <a:ln/>
        </p:spPr>
      </p:sp>
      <p:sp>
        <p:nvSpPr>
          <p:cNvPr id="1247323379" name="Text 49"/>
          <p:cNvSpPr/>
          <p:nvPr/>
        </p:nvSpPr>
        <p:spPr bwMode="auto">
          <a:xfrm>
            <a:off x="10912554" y="6625113"/>
            <a:ext cx="921424" cy="115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99"/>
              </a:lnSpc>
              <a:buNone/>
              <a:defRPr/>
            </a:pPr>
            <a:r>
              <a:rPr lang="en-US" sz="7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Logger</a:t>
            </a:r>
            <a:endParaRPr lang="en-US" sz="700"/>
          </a:p>
        </p:txBody>
      </p:sp>
      <p:sp>
        <p:nvSpPr>
          <p:cNvPr id="1140804980" name="Text 50"/>
          <p:cNvSpPr/>
          <p:nvPr/>
        </p:nvSpPr>
        <p:spPr bwMode="auto">
          <a:xfrm>
            <a:off x="10912554" y="6764178"/>
            <a:ext cx="3254931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JSON Lines strutturato con correlation ID</a:t>
            </a:r>
            <a:endParaRPr lang="en-US" sz="550"/>
          </a:p>
        </p:txBody>
      </p:sp>
      <p:sp>
        <p:nvSpPr>
          <p:cNvPr id="730259716" name="Shape 51"/>
          <p:cNvSpPr/>
          <p:nvPr/>
        </p:nvSpPr>
        <p:spPr bwMode="auto">
          <a:xfrm>
            <a:off x="7412711" y="6942891"/>
            <a:ext cx="6828472" cy="210501"/>
          </a:xfrm>
          <a:prstGeom prst="roundRect">
            <a:avLst>
              <a:gd name="adj" fmla="val 5253"/>
            </a:avLst>
          </a:prstGeom>
          <a:solidFill>
            <a:srgbClr val="B6FCB8"/>
          </a:solidFill>
          <a:ln/>
        </p:spPr>
      </p:sp>
      <p:pic>
        <p:nvPicPr>
          <p:cNvPr id="666057920" name="Image 6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86411" y="7034926"/>
            <a:ext cx="92034" cy="73699"/>
          </a:xfrm>
          <a:prstGeom prst="rect">
            <a:avLst/>
          </a:prstGeom>
        </p:spPr>
      </p:pic>
      <p:sp>
        <p:nvSpPr>
          <p:cNvPr id="1321426315" name="Text 52"/>
          <p:cNvSpPr/>
          <p:nvPr/>
        </p:nvSpPr>
        <p:spPr bwMode="auto">
          <a:xfrm>
            <a:off x="7652146" y="6985158"/>
            <a:ext cx="6515337" cy="781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99"/>
              </a:lnSpc>
              <a:buNone/>
              <a:defRPr/>
            </a:pPr>
            <a:r>
              <a:rPr lang="en-US" sz="5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Ogni listener agisce </a:t>
            </a:r>
            <a:r>
              <a:rPr lang="en-US" sz="550" b="1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in parallelo</a:t>
            </a:r>
            <a:r>
              <a:rPr lang="en-US" sz="5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Nessuno conosce gli altri. Zero accoppiamento.</a:t>
            </a:r>
            <a:endParaRPr lang="en-US" sz="5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458645" name="Text 0"/>
          <p:cNvSpPr/>
          <p:nvPr/>
        </p:nvSpPr>
        <p:spPr bwMode="auto">
          <a:xfrm>
            <a:off x="793790" y="653891"/>
            <a:ext cx="4252913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33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Filosofia di Design</a:t>
            </a:r>
            <a:endParaRPr lang="en-US" sz="3300"/>
          </a:p>
        </p:txBody>
      </p:sp>
      <p:sp>
        <p:nvSpPr>
          <p:cNvPr id="656753839" name="Text 1"/>
          <p:cNvSpPr/>
          <p:nvPr/>
        </p:nvSpPr>
        <p:spPr bwMode="auto">
          <a:xfrm>
            <a:off x="793790" y="1236464"/>
            <a:ext cx="5916811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Quattro principi fondamentali che guidano ogni scelta</a:t>
            </a:r>
            <a:endParaRPr lang="en-US" sz="1650"/>
          </a:p>
        </p:txBody>
      </p:sp>
      <p:sp>
        <p:nvSpPr>
          <p:cNvPr id="459941398" name="Shape 2"/>
          <p:cNvSpPr/>
          <p:nvPr/>
        </p:nvSpPr>
        <p:spPr bwMode="auto">
          <a:xfrm>
            <a:off x="793790" y="1693544"/>
            <a:ext cx="6457592" cy="1796296"/>
          </a:xfrm>
          <a:prstGeom prst="roundRect">
            <a:avLst>
              <a:gd name="adj" fmla="val 1421"/>
            </a:avLst>
          </a:prstGeom>
          <a:solidFill>
            <a:srgbClr val="EAE8F3"/>
          </a:solidFill>
          <a:ln/>
        </p:spPr>
      </p:sp>
      <p:pic>
        <p:nvPicPr>
          <p:cNvPr id="1831628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63811" y="1863566"/>
            <a:ext cx="510302" cy="510302"/>
          </a:xfrm>
          <a:prstGeom prst="rect">
            <a:avLst/>
          </a:prstGeom>
        </p:spPr>
      </p:pic>
      <p:pic>
        <p:nvPicPr>
          <p:cNvPr id="661923192" name="Image 1" descr="preencoded.p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1104186" y="2003822"/>
            <a:ext cx="229553" cy="229552"/>
          </a:xfrm>
          <a:prstGeom prst="rect">
            <a:avLst/>
          </a:prstGeom>
        </p:spPr>
      </p:pic>
      <p:sp>
        <p:nvSpPr>
          <p:cNvPr id="1896417304" name="Text 3"/>
          <p:cNvSpPr/>
          <p:nvPr/>
        </p:nvSpPr>
        <p:spPr bwMode="auto">
          <a:xfrm>
            <a:off x="963811" y="2501384"/>
            <a:ext cx="3496985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Community, non Competizione</a:t>
            </a:r>
            <a:endParaRPr lang="en-US" sz="1650"/>
          </a:p>
        </p:txBody>
      </p:sp>
      <p:sp>
        <p:nvSpPr>
          <p:cNvPr id="1511570937" name="Text 4"/>
          <p:cNvSpPr/>
          <p:nvPr/>
        </p:nvSpPr>
        <p:spPr bwMode="auto">
          <a:xfrm>
            <a:off x="963811" y="2843570"/>
            <a:ext cx="6117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Nessun punteggio o classifica. Il focus è sulla creatività personale e sull'espressione di sé.</a:t>
            </a:r>
            <a:endParaRPr lang="en-US" sz="1300"/>
          </a:p>
        </p:txBody>
      </p:sp>
      <p:sp>
        <p:nvSpPr>
          <p:cNvPr id="470429329" name="Shape 5"/>
          <p:cNvSpPr/>
          <p:nvPr/>
        </p:nvSpPr>
        <p:spPr bwMode="auto">
          <a:xfrm>
            <a:off x="7378898" y="1693544"/>
            <a:ext cx="6457712" cy="1796296"/>
          </a:xfrm>
          <a:prstGeom prst="roundRect">
            <a:avLst>
              <a:gd name="adj" fmla="val 1421"/>
            </a:avLst>
          </a:prstGeom>
          <a:solidFill>
            <a:srgbClr val="EAE8F3"/>
          </a:solidFill>
          <a:ln/>
        </p:spPr>
      </p:sp>
      <p:pic>
        <p:nvPicPr>
          <p:cNvPr id="474698970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548920" y="1863566"/>
            <a:ext cx="510302" cy="510302"/>
          </a:xfrm>
          <a:prstGeom prst="rect">
            <a:avLst/>
          </a:prstGeom>
        </p:spPr>
      </p:pic>
      <p:pic>
        <p:nvPicPr>
          <p:cNvPr id="1594324380" name="Image 3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7689294" y="2003822"/>
            <a:ext cx="229553" cy="229552"/>
          </a:xfrm>
          <a:prstGeom prst="rect">
            <a:avLst/>
          </a:prstGeom>
        </p:spPr>
      </p:pic>
      <p:sp>
        <p:nvSpPr>
          <p:cNvPr id="1957944962" name="Text 6"/>
          <p:cNvSpPr/>
          <p:nvPr/>
        </p:nvSpPr>
        <p:spPr bwMode="auto">
          <a:xfrm>
            <a:off x="7548920" y="2501384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Tutto Sbloccato</a:t>
            </a:r>
            <a:endParaRPr lang="en-US" sz="1650"/>
          </a:p>
        </p:txBody>
      </p:sp>
      <p:sp>
        <p:nvSpPr>
          <p:cNvPr id="978039760" name="Text 7"/>
          <p:cNvSpPr/>
          <p:nvPr/>
        </p:nvSpPr>
        <p:spPr bwMode="auto">
          <a:xfrm>
            <a:off x="7548920" y="2843570"/>
            <a:ext cx="61176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Nessun grind, nessun paywall. Tutti i contenuti sono disponibili fin dal primo avvio.</a:t>
            </a:r>
            <a:endParaRPr lang="en-US" sz="1300"/>
          </a:p>
        </p:txBody>
      </p:sp>
      <p:sp>
        <p:nvSpPr>
          <p:cNvPr id="9326660" name="Shape 8"/>
          <p:cNvSpPr/>
          <p:nvPr/>
        </p:nvSpPr>
        <p:spPr bwMode="auto">
          <a:xfrm>
            <a:off x="793790" y="3617357"/>
            <a:ext cx="6457592" cy="1796296"/>
          </a:xfrm>
          <a:prstGeom prst="roundRect">
            <a:avLst>
              <a:gd name="adj" fmla="val 1421"/>
            </a:avLst>
          </a:prstGeom>
          <a:solidFill>
            <a:srgbClr val="EAE8F3"/>
          </a:solidFill>
          <a:ln/>
        </p:spPr>
      </p:sp>
      <p:pic>
        <p:nvPicPr>
          <p:cNvPr id="872831108" name="Image 4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963811" y="3787378"/>
            <a:ext cx="510302" cy="510302"/>
          </a:xfrm>
          <a:prstGeom prst="rect">
            <a:avLst/>
          </a:prstGeom>
        </p:spPr>
      </p:pic>
      <p:pic>
        <p:nvPicPr>
          <p:cNvPr id="110604999" name="Image 5" descr="preencoded.png"/>
          <p:cNvPicPr>
            <a:picLocks noChangeAspect="1"/>
          </p:cNvPicPr>
          <p:nvPr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 bwMode="auto">
          <a:xfrm>
            <a:off x="1104186" y="3927634"/>
            <a:ext cx="229553" cy="229552"/>
          </a:xfrm>
          <a:prstGeom prst="rect">
            <a:avLst/>
          </a:prstGeom>
        </p:spPr>
      </p:pic>
      <p:sp>
        <p:nvSpPr>
          <p:cNvPr id="1737263060" name="Text 9"/>
          <p:cNvSpPr/>
          <p:nvPr/>
        </p:nvSpPr>
        <p:spPr bwMode="auto">
          <a:xfrm>
            <a:off x="963811" y="4425196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Zero Pressione</a:t>
            </a:r>
            <a:endParaRPr lang="en-US" sz="1650"/>
          </a:p>
        </p:txBody>
      </p:sp>
      <p:sp>
        <p:nvSpPr>
          <p:cNvPr id="463705237" name="Text 10"/>
          <p:cNvSpPr/>
          <p:nvPr/>
        </p:nvSpPr>
        <p:spPr bwMode="auto">
          <a:xfrm>
            <a:off x="963811" y="4767382"/>
            <a:ext cx="6117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Nessuna notifica, nessun timer, nessun sistema energetico. Gioca quando vuoi, chiudi senza sensi di colpa.</a:t>
            </a:r>
            <a:endParaRPr lang="en-US" sz="1300"/>
          </a:p>
        </p:txBody>
      </p:sp>
      <p:sp>
        <p:nvSpPr>
          <p:cNvPr id="511090671" name="Shape 11"/>
          <p:cNvSpPr/>
          <p:nvPr/>
        </p:nvSpPr>
        <p:spPr bwMode="auto">
          <a:xfrm>
            <a:off x="7378898" y="3617357"/>
            <a:ext cx="6457712" cy="1796296"/>
          </a:xfrm>
          <a:prstGeom prst="roundRect">
            <a:avLst>
              <a:gd name="adj" fmla="val 1421"/>
            </a:avLst>
          </a:prstGeom>
          <a:solidFill>
            <a:srgbClr val="EAE8F3"/>
          </a:solidFill>
          <a:ln/>
        </p:spPr>
      </p:sp>
      <p:pic>
        <p:nvPicPr>
          <p:cNvPr id="1240456112" name="Image 6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7548920" y="3787378"/>
            <a:ext cx="510302" cy="510302"/>
          </a:xfrm>
          <a:prstGeom prst="rect">
            <a:avLst/>
          </a:prstGeom>
        </p:spPr>
      </p:pic>
      <p:pic>
        <p:nvPicPr>
          <p:cNvPr id="1510540603" name="Image 7" descr="preencoded.png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>
            <a:off x="7689294" y="3927634"/>
            <a:ext cx="229553" cy="229552"/>
          </a:xfrm>
          <a:prstGeom prst="rect">
            <a:avLst/>
          </a:prstGeom>
        </p:spPr>
      </p:pic>
      <p:sp>
        <p:nvSpPr>
          <p:cNvPr id="1834415661" name="Text 12"/>
          <p:cNvSpPr/>
          <p:nvPr/>
        </p:nvSpPr>
        <p:spPr bwMode="auto">
          <a:xfrm>
            <a:off x="7548920" y="4425196"/>
            <a:ext cx="2737841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Presenza senza Invasione</a:t>
            </a:r>
            <a:endParaRPr lang="en-US" sz="1650"/>
          </a:p>
        </p:txBody>
      </p:sp>
      <p:sp>
        <p:nvSpPr>
          <p:cNvPr id="216944958" name="Text 13"/>
          <p:cNvSpPr/>
          <p:nvPr/>
        </p:nvSpPr>
        <p:spPr bwMode="auto">
          <a:xfrm>
            <a:off x="7548920" y="4767382"/>
            <a:ext cx="611766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Il gioco esiste sullo sfondo della tua giornata, non per dominarla.</a:t>
            </a:r>
            <a:endParaRPr lang="en-US" sz="1300"/>
          </a:p>
        </p:txBody>
      </p:sp>
      <p:sp>
        <p:nvSpPr>
          <p:cNvPr id="1110016877" name="Text 14"/>
          <p:cNvSpPr/>
          <p:nvPr/>
        </p:nvSpPr>
        <p:spPr bwMode="auto">
          <a:xfrm>
            <a:off x="793790" y="5684639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A chi è destinato</a:t>
            </a:r>
            <a:endParaRPr lang="en-US" sz="1650"/>
          </a:p>
        </p:txBody>
      </p:sp>
      <p:sp>
        <p:nvSpPr>
          <p:cNvPr id="2091227096" name="Text 15"/>
          <p:cNvSpPr/>
          <p:nvPr/>
        </p:nvSpPr>
        <p:spPr bwMode="auto">
          <a:xfrm>
            <a:off x="793790" y="6077903"/>
            <a:ext cx="6313884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Studenti che cercano un ambiente di studio tranquillo, lavoratori da remoto che vogliono personalizzare il proprio spazio digitale, creativi che hanno bisogno di un angolo di ispirazione.</a:t>
            </a:r>
            <a:endParaRPr lang="en-US" sz="1300"/>
          </a:p>
        </p:txBody>
      </p:sp>
      <p:sp>
        <p:nvSpPr>
          <p:cNvPr id="1166386246" name="Text 16"/>
          <p:cNvSpPr/>
          <p:nvPr/>
        </p:nvSpPr>
        <p:spPr bwMode="auto">
          <a:xfrm>
            <a:off x="7530346" y="5684639"/>
            <a:ext cx="2343387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Cosa lo rende diverso</a:t>
            </a:r>
            <a:endParaRPr lang="en-US" sz="1650"/>
          </a:p>
        </p:txBody>
      </p:sp>
      <p:sp>
        <p:nvSpPr>
          <p:cNvPr id="1232659615" name="Text 17"/>
          <p:cNvSpPr/>
          <p:nvPr/>
        </p:nvSpPr>
        <p:spPr bwMode="auto">
          <a:xfrm>
            <a:off x="7530346" y="6077903"/>
            <a:ext cx="63138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Funziona offline senza account obbligatorio, leggero (15 FPS in background, 60 in primo piano), personalizzabile, dati protetti da crittografia HMAC sul tuo PC.</a:t>
            </a:r>
            <a:endParaRPr lang="en-US" sz="1300"/>
          </a:p>
        </p:txBody>
      </p:sp>
      <p:sp>
        <p:nvSpPr>
          <p:cNvPr id="908135999" name="Text 18"/>
          <p:cNvSpPr/>
          <p:nvPr/>
        </p:nvSpPr>
        <p:spPr bwMode="auto">
          <a:xfrm>
            <a:off x="1048941" y="7193994"/>
            <a:ext cx="1278767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"Il software più utile è quello che ti fa stare bene senza chiederti nulla in cambio."</a:t>
            </a:r>
            <a:endParaRPr lang="en-US" sz="1300"/>
          </a:p>
        </p:txBody>
      </p:sp>
      <p:sp>
        <p:nvSpPr>
          <p:cNvPr id="1195477904" name="Shape 19"/>
          <p:cNvSpPr/>
          <p:nvPr/>
        </p:nvSpPr>
        <p:spPr bwMode="auto">
          <a:xfrm>
            <a:off x="793790" y="7050524"/>
            <a:ext cx="22860" cy="525066"/>
          </a:xfrm>
          <a:prstGeom prst="rect">
            <a:avLst/>
          </a:prstGeom>
          <a:solidFill>
            <a:srgbClr val="403CC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489096" name="Text 0"/>
          <p:cNvSpPr/>
          <p:nvPr/>
        </p:nvSpPr>
        <p:spPr bwMode="auto">
          <a:xfrm>
            <a:off x="793790" y="641866"/>
            <a:ext cx="4413766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33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Architettura Tecnica</a:t>
            </a:r>
            <a:endParaRPr lang="en-US" sz="3300"/>
          </a:p>
        </p:txBody>
      </p:sp>
      <p:sp>
        <p:nvSpPr>
          <p:cNvPr id="1755399273" name="Shape 1"/>
          <p:cNvSpPr/>
          <p:nvPr/>
        </p:nvSpPr>
        <p:spPr bwMode="auto">
          <a:xfrm>
            <a:off x="793790" y="1428631"/>
            <a:ext cx="13042821" cy="3732371"/>
          </a:xfrm>
          <a:prstGeom prst="roundRect">
            <a:avLst>
              <a:gd name="adj" fmla="val 684"/>
            </a:avLst>
          </a:prstGeom>
          <a:noFill/>
          <a:ln w="7620">
            <a:solidFill>
              <a:srgbClr val="000000">
                <a:alpha val="7999"/>
              </a:srgbClr>
            </a:solidFill>
            <a:prstDash val="solid"/>
          </a:ln>
        </p:spPr>
      </p:sp>
      <p:sp>
        <p:nvSpPr>
          <p:cNvPr id="1473762166" name="Text 2"/>
          <p:cNvSpPr/>
          <p:nvPr/>
        </p:nvSpPr>
        <p:spPr bwMode="auto">
          <a:xfrm>
            <a:off x="971669" y="1520309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Layer</a:t>
            </a:r>
            <a:endParaRPr lang="en-US" sz="1300"/>
          </a:p>
        </p:txBody>
      </p:sp>
      <p:sp>
        <p:nvSpPr>
          <p:cNvPr id="981388373" name="Text 3"/>
          <p:cNvSpPr/>
          <p:nvPr/>
        </p:nvSpPr>
        <p:spPr bwMode="auto">
          <a:xfrm>
            <a:off x="2929533" y="1520309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Tecnologia</a:t>
            </a:r>
            <a:endParaRPr lang="en-US" sz="1300"/>
          </a:p>
        </p:txBody>
      </p:sp>
      <p:sp>
        <p:nvSpPr>
          <p:cNvPr id="297616559" name="Text 4"/>
          <p:cNvSpPr/>
          <p:nvPr/>
        </p:nvSpPr>
        <p:spPr bwMode="auto">
          <a:xfrm>
            <a:off x="5534978" y="1520309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Dettaglio</a:t>
            </a:r>
            <a:endParaRPr lang="en-US" sz="1300"/>
          </a:p>
        </p:txBody>
      </p:sp>
      <p:sp>
        <p:nvSpPr>
          <p:cNvPr id="1489408640" name="Text 5"/>
          <p:cNvSpPr/>
          <p:nvPr/>
        </p:nvSpPr>
        <p:spPr bwMode="auto">
          <a:xfrm>
            <a:off x="971669" y="1934170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Engine</a:t>
            </a:r>
            <a:endParaRPr lang="en-US" sz="1300"/>
          </a:p>
        </p:txBody>
      </p:sp>
      <p:sp>
        <p:nvSpPr>
          <p:cNvPr id="584107214" name="Text 6"/>
          <p:cNvSpPr/>
          <p:nvPr/>
        </p:nvSpPr>
        <p:spPr bwMode="auto">
          <a:xfrm>
            <a:off x="2929533" y="1934170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Godot 4.6</a:t>
            </a:r>
            <a:endParaRPr lang="en-US" sz="1300"/>
          </a:p>
        </p:txBody>
      </p:sp>
      <p:sp>
        <p:nvSpPr>
          <p:cNvPr id="144068390" name="Text 7"/>
          <p:cNvSpPr/>
          <p:nvPr/>
        </p:nvSpPr>
        <p:spPr bwMode="auto">
          <a:xfrm>
            <a:off x="5534978" y="1934170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GDScript, renderer GL Compatibility, viewport 1280×720, filtro Nearest per pixel art nitido</a:t>
            </a:r>
            <a:endParaRPr lang="en-US" sz="1300"/>
          </a:p>
        </p:txBody>
      </p:sp>
      <p:sp>
        <p:nvSpPr>
          <p:cNvPr id="1104677640" name="Text 8"/>
          <p:cNvSpPr/>
          <p:nvPr/>
        </p:nvSpPr>
        <p:spPr bwMode="auto">
          <a:xfrm>
            <a:off x="971669" y="2348032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DB Locale</a:t>
            </a:r>
            <a:endParaRPr lang="en-US" sz="1300"/>
          </a:p>
        </p:txBody>
      </p:sp>
      <p:sp>
        <p:nvSpPr>
          <p:cNvPr id="1102851786" name="Text 9"/>
          <p:cNvSpPr/>
          <p:nvPr/>
        </p:nvSpPr>
        <p:spPr bwMode="auto">
          <a:xfrm>
            <a:off x="2929533" y="2348032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SQLite 3</a:t>
            </a:r>
            <a:endParaRPr lang="en-US" sz="1300"/>
          </a:p>
        </p:txBody>
      </p:sp>
      <p:sp>
        <p:nvSpPr>
          <p:cNvPr id="2092658490" name="Text 10"/>
          <p:cNvSpPr/>
          <p:nvPr/>
        </p:nvSpPr>
        <p:spPr bwMode="auto">
          <a:xfrm>
            <a:off x="5534978" y="2348032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WAL mode, 11 tabelle, foreign keys con CASCADE, migrazioni automatiche v1→v5</a:t>
            </a:r>
            <a:endParaRPr lang="en-US" sz="1300"/>
          </a:p>
        </p:txBody>
      </p:sp>
      <p:sp>
        <p:nvSpPr>
          <p:cNvPr id="1664748224" name="Text 11"/>
          <p:cNvSpPr/>
          <p:nvPr/>
        </p:nvSpPr>
        <p:spPr bwMode="auto">
          <a:xfrm>
            <a:off x="971669" y="2761893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DB Cloud</a:t>
            </a:r>
            <a:endParaRPr lang="en-US" sz="1300"/>
          </a:p>
        </p:txBody>
      </p:sp>
      <p:sp>
        <p:nvSpPr>
          <p:cNvPr id="1665837602" name="Text 12"/>
          <p:cNvSpPr/>
          <p:nvPr/>
        </p:nvSpPr>
        <p:spPr bwMode="auto">
          <a:xfrm>
            <a:off x="2929533" y="2761893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Supabase (PostgreSQL)</a:t>
            </a:r>
            <a:endParaRPr lang="en-US" sz="1300"/>
          </a:p>
        </p:txBody>
      </p:sp>
      <p:sp>
        <p:nvSpPr>
          <p:cNvPr id="2031726816" name="Text 13"/>
          <p:cNvSpPr/>
          <p:nvPr/>
        </p:nvSpPr>
        <p:spPr bwMode="auto">
          <a:xfrm>
            <a:off x="5534978" y="2761893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15 tabelle, Row-Level Security per-utente, REST API auto-generata</a:t>
            </a:r>
            <a:endParaRPr lang="en-US" sz="1300"/>
          </a:p>
        </p:txBody>
      </p:sp>
      <p:sp>
        <p:nvSpPr>
          <p:cNvPr id="546983663" name="Text 14"/>
          <p:cNvSpPr/>
          <p:nvPr/>
        </p:nvSpPr>
        <p:spPr bwMode="auto">
          <a:xfrm>
            <a:off x="971669" y="3175754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Autenticazione</a:t>
            </a:r>
            <a:endParaRPr lang="en-US" sz="1300"/>
          </a:p>
        </p:txBody>
      </p:sp>
      <p:sp>
        <p:nvSpPr>
          <p:cNvPr id="1642957602" name="Text 15"/>
          <p:cNvSpPr/>
          <p:nvPr/>
        </p:nvSpPr>
        <p:spPr bwMode="auto">
          <a:xfrm>
            <a:off x="2929533" y="3175754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Duale</a:t>
            </a:r>
            <a:endParaRPr lang="en-US" sz="1300"/>
          </a:p>
        </p:txBody>
      </p:sp>
      <p:sp>
        <p:nvSpPr>
          <p:cNvPr id="1314165180" name="Text 16"/>
          <p:cNvSpPr/>
          <p:nvPr/>
        </p:nvSpPr>
        <p:spPr bwMode="auto">
          <a:xfrm>
            <a:off x="5534978" y="3175754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Locale: PBKDF2-SHA256 con salt random. Cloud: Supabase Auth con JWT auto-refresh</a:t>
            </a:r>
            <a:endParaRPr lang="en-US" sz="1300"/>
          </a:p>
        </p:txBody>
      </p:sp>
      <p:sp>
        <p:nvSpPr>
          <p:cNvPr id="1646369210" name="Text 17"/>
          <p:cNvSpPr/>
          <p:nvPr/>
        </p:nvSpPr>
        <p:spPr bwMode="auto">
          <a:xfrm>
            <a:off x="971669" y="3589615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Integrità</a:t>
            </a:r>
            <a:endParaRPr lang="en-US" sz="1300"/>
          </a:p>
        </p:txBody>
      </p:sp>
      <p:sp>
        <p:nvSpPr>
          <p:cNvPr id="2002656426" name="Text 18"/>
          <p:cNvSpPr/>
          <p:nvPr/>
        </p:nvSpPr>
        <p:spPr bwMode="auto">
          <a:xfrm>
            <a:off x="2929533" y="3589615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HMAC-SHA256</a:t>
            </a:r>
            <a:endParaRPr lang="en-US" sz="1300"/>
          </a:p>
        </p:txBody>
      </p:sp>
      <p:sp>
        <p:nvSpPr>
          <p:cNvPr id="1388230966" name="Text 19"/>
          <p:cNvSpPr/>
          <p:nvPr/>
        </p:nvSpPr>
        <p:spPr bwMode="auto">
          <a:xfrm>
            <a:off x="5534978" y="3589615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Firma crittografica su ogni salvataggio, rilevamento manomissioni</a:t>
            </a:r>
            <a:endParaRPr lang="en-US" sz="1300"/>
          </a:p>
        </p:txBody>
      </p:sp>
      <p:sp>
        <p:nvSpPr>
          <p:cNvPr id="1078988853" name="Text 20"/>
          <p:cNvSpPr/>
          <p:nvPr/>
        </p:nvSpPr>
        <p:spPr bwMode="auto">
          <a:xfrm>
            <a:off x="971669" y="4003477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Osservabilità</a:t>
            </a:r>
            <a:endParaRPr lang="en-US" sz="1300"/>
          </a:p>
        </p:txBody>
      </p:sp>
      <p:sp>
        <p:nvSpPr>
          <p:cNvPr id="2117812176" name="Text 21"/>
          <p:cNvSpPr/>
          <p:nvPr/>
        </p:nvSpPr>
        <p:spPr bwMode="auto">
          <a:xfrm>
            <a:off x="2929533" y="4003477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Logger strutturato</a:t>
            </a:r>
            <a:endParaRPr lang="en-US" sz="1300"/>
          </a:p>
        </p:txBody>
      </p:sp>
      <p:sp>
        <p:nvSpPr>
          <p:cNvPr id="2058084888" name="Text 22"/>
          <p:cNvSpPr/>
          <p:nvPr/>
        </p:nvSpPr>
        <p:spPr bwMode="auto">
          <a:xfrm>
            <a:off x="5534978" y="4003477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JSON Lines con correlation ID, rotazione 5 MB × 5 file, redazione automatica secret</a:t>
            </a:r>
            <a:endParaRPr lang="en-US" sz="1300"/>
          </a:p>
        </p:txBody>
      </p:sp>
      <p:sp>
        <p:nvSpPr>
          <p:cNvPr id="318952171" name="Text 23"/>
          <p:cNvSpPr/>
          <p:nvPr/>
        </p:nvSpPr>
        <p:spPr bwMode="auto">
          <a:xfrm>
            <a:off x="971669" y="4417338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CI/CD</a:t>
            </a:r>
            <a:endParaRPr lang="en-US" sz="1300"/>
          </a:p>
        </p:txBody>
      </p:sp>
      <p:sp>
        <p:nvSpPr>
          <p:cNvPr id="1846389571" name="Text 24"/>
          <p:cNvSpPr/>
          <p:nvPr/>
        </p:nvSpPr>
        <p:spPr bwMode="auto">
          <a:xfrm>
            <a:off x="2929533" y="4417338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GitHub Actions</a:t>
            </a:r>
            <a:endParaRPr lang="en-US" sz="1300"/>
          </a:p>
        </p:txBody>
      </p:sp>
      <p:sp>
        <p:nvSpPr>
          <p:cNvPr id="614712307" name="Text 25"/>
          <p:cNvSpPr/>
          <p:nvPr/>
        </p:nvSpPr>
        <p:spPr bwMode="auto">
          <a:xfrm>
            <a:off x="5534978" y="4417338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9 job paralleli: lint, JSON, sprite, crossref, DB schema, signals, pixelart, smoke, deep-tests</a:t>
            </a:r>
            <a:endParaRPr lang="en-US" sz="1300"/>
          </a:p>
        </p:txBody>
      </p:sp>
      <p:sp>
        <p:nvSpPr>
          <p:cNvPr id="327844300" name="Text 26"/>
          <p:cNvSpPr/>
          <p:nvPr/>
        </p:nvSpPr>
        <p:spPr bwMode="auto">
          <a:xfrm>
            <a:off x="971669" y="4831199"/>
            <a:ext cx="161020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Deploy</a:t>
            </a:r>
            <a:endParaRPr lang="en-US" sz="1300"/>
          </a:p>
        </p:txBody>
      </p:sp>
      <p:sp>
        <p:nvSpPr>
          <p:cNvPr id="1547357861" name="Text 27"/>
          <p:cNvSpPr/>
          <p:nvPr/>
        </p:nvSpPr>
        <p:spPr bwMode="auto">
          <a:xfrm>
            <a:off x="2929533" y="4831199"/>
            <a:ext cx="225778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Netlify + GitHub Releases</a:t>
            </a:r>
            <a:endParaRPr lang="en-US" sz="1300"/>
          </a:p>
        </p:txBody>
      </p:sp>
      <p:sp>
        <p:nvSpPr>
          <p:cNvPr id="922602084" name="Text 28"/>
          <p:cNvSpPr/>
          <p:nvPr/>
        </p:nvSpPr>
        <p:spPr bwMode="auto">
          <a:xfrm>
            <a:off x="5534978" y="4831199"/>
            <a:ext cx="812399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Build automatici Windows (.exe) e HTML5 su ogni push a main</a:t>
            </a:r>
            <a:endParaRPr lang="en-US" sz="1300"/>
          </a:p>
        </p:txBody>
      </p:sp>
      <p:sp>
        <p:nvSpPr>
          <p:cNvPr id="868828959" name="Text 29"/>
          <p:cNvSpPr/>
          <p:nvPr/>
        </p:nvSpPr>
        <p:spPr bwMode="auto">
          <a:xfrm>
            <a:off x="793790" y="5352336"/>
            <a:ext cx="5412105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Architettura Signal-Driven + 8 Autoload Singleton</a:t>
            </a:r>
            <a:endParaRPr lang="en-US" sz="1650"/>
          </a:p>
        </p:txBody>
      </p:sp>
      <p:sp>
        <p:nvSpPr>
          <p:cNvPr id="1567689422" name="Text 30"/>
          <p:cNvSpPr/>
          <p:nvPr/>
        </p:nvSpPr>
        <p:spPr bwMode="auto">
          <a:xfrm>
            <a:off x="793790" y="5809417"/>
            <a:ext cx="1304282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Il cuore di Mini Cozy Room è il </a:t>
            </a:r>
            <a:r>
              <a:rPr lang="en-US" sz="1300" b="1">
                <a:solidFill>
                  <a:srgbClr val="5955EB"/>
                </a:solidFill>
                <a:latin typeface="Open Sans"/>
                <a:ea typeface="Open Sans"/>
                <a:cs typeface="Open Sans"/>
              </a:rPr>
              <a:t>SignalBus</a:t>
            </a: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: un event bus centralizzato con </a:t>
            </a:r>
            <a:r>
              <a:rPr lang="en-US" sz="13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46 segnali tipizzati</a:t>
            </a: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che elimina ogni dipendenza diretta tra sistemi. Nessun manager conosce l'esistenza degli altri — comunicano esclusivamente tramite eventi.</a:t>
            </a:r>
            <a:endParaRPr lang="en-US" sz="1300"/>
          </a:p>
        </p:txBody>
      </p:sp>
      <p:sp>
        <p:nvSpPr>
          <p:cNvPr id="1392907623" name="Shape 31"/>
          <p:cNvSpPr/>
          <p:nvPr/>
        </p:nvSpPr>
        <p:spPr bwMode="auto">
          <a:xfrm>
            <a:off x="793790" y="6429137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EAE8F3"/>
          </a:solidFill>
          <a:ln/>
        </p:spPr>
      </p:sp>
      <p:sp>
        <p:nvSpPr>
          <p:cNvPr id="615229567" name="Text 32"/>
          <p:cNvSpPr/>
          <p:nvPr/>
        </p:nvSpPr>
        <p:spPr bwMode="auto">
          <a:xfrm>
            <a:off x="963811" y="6599158"/>
            <a:ext cx="229790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Zero Accoppiamento</a:t>
            </a:r>
            <a:endParaRPr lang="en-US" sz="1650"/>
          </a:p>
        </p:txBody>
      </p:sp>
      <p:sp>
        <p:nvSpPr>
          <p:cNvPr id="2020774494" name="Text 33"/>
          <p:cNvSpPr/>
          <p:nvPr/>
        </p:nvSpPr>
        <p:spPr bwMode="auto">
          <a:xfrm>
            <a:off x="963811" y="6941344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Rimuovere o sostituire un sistema non rompe gli altri</a:t>
            </a:r>
            <a:endParaRPr lang="en-US" sz="1300"/>
          </a:p>
        </p:txBody>
      </p:sp>
      <p:sp>
        <p:nvSpPr>
          <p:cNvPr id="590581896" name="Shape 34"/>
          <p:cNvSpPr/>
          <p:nvPr/>
        </p:nvSpPr>
        <p:spPr bwMode="auto">
          <a:xfrm>
            <a:off x="5183861" y="6429137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EAE8F3"/>
          </a:solidFill>
          <a:ln/>
        </p:spPr>
      </p:sp>
      <p:sp>
        <p:nvSpPr>
          <p:cNvPr id="1081372201" name="Text 35"/>
          <p:cNvSpPr/>
          <p:nvPr/>
        </p:nvSpPr>
        <p:spPr bwMode="auto">
          <a:xfrm>
            <a:off x="5353883" y="6599158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Testabilità</a:t>
            </a:r>
            <a:endParaRPr lang="en-US" sz="1650"/>
          </a:p>
        </p:txBody>
      </p:sp>
      <p:sp>
        <p:nvSpPr>
          <p:cNvPr id="694750897" name="Text 36"/>
          <p:cNvSpPr/>
          <p:nvPr/>
        </p:nvSpPr>
        <p:spPr bwMode="auto">
          <a:xfrm>
            <a:off x="5353883" y="6941344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Ogni componente può essere verificato in isolamento</a:t>
            </a:r>
            <a:endParaRPr lang="en-US" sz="1300"/>
          </a:p>
        </p:txBody>
      </p:sp>
      <p:sp>
        <p:nvSpPr>
          <p:cNvPr id="542153609" name="Shape 37"/>
          <p:cNvSpPr/>
          <p:nvPr/>
        </p:nvSpPr>
        <p:spPr bwMode="auto">
          <a:xfrm>
            <a:off x="9573935" y="6429137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EAE8F3"/>
          </a:solidFill>
          <a:ln/>
        </p:spPr>
      </p:sp>
      <p:sp>
        <p:nvSpPr>
          <p:cNvPr id="1575501940" name="Text 38"/>
          <p:cNvSpPr/>
          <p:nvPr/>
        </p:nvSpPr>
        <p:spPr bwMode="auto">
          <a:xfrm>
            <a:off x="9743956" y="6599158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Estensibilità</a:t>
            </a:r>
            <a:endParaRPr lang="en-US" sz="1650"/>
          </a:p>
        </p:txBody>
      </p:sp>
      <p:sp>
        <p:nvSpPr>
          <p:cNvPr id="1317386195" name="Text 39"/>
          <p:cNvSpPr/>
          <p:nvPr/>
        </p:nvSpPr>
        <p:spPr bwMode="auto">
          <a:xfrm>
            <a:off x="9743956" y="6941344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Aggiungere funzionalità significa connettere un nuovo listener, non modificare codice esistente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412742" name="Text 0"/>
          <p:cNvSpPr/>
          <p:nvPr/>
        </p:nvSpPr>
        <p:spPr bwMode="auto">
          <a:xfrm>
            <a:off x="793790" y="690563"/>
            <a:ext cx="5107662" cy="637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  <a:defRPr/>
            </a:pPr>
            <a:r>
              <a:rPr lang="en-US" sz="40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Persistenza dei Dati</a:t>
            </a:r>
            <a:endParaRPr lang="en-US" sz="4000"/>
          </a:p>
        </p:txBody>
      </p:sp>
      <p:sp>
        <p:nvSpPr>
          <p:cNvPr id="739248774" name="Text 1"/>
          <p:cNvSpPr/>
          <p:nvPr/>
        </p:nvSpPr>
        <p:spPr bwMode="auto">
          <a:xfrm>
            <a:off x="793790" y="1401961"/>
            <a:ext cx="8319254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00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Tre livelli di protezione</a:t>
            </a:r>
            <a:r>
              <a:rPr lang="en-US" sz="20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 — I dati dell'utente non si perdono mai.</a:t>
            </a:r>
            <a:endParaRPr lang="en-US" sz="2000"/>
          </a:p>
        </p:txBody>
      </p:sp>
      <p:sp>
        <p:nvSpPr>
          <p:cNvPr id="536745084" name="Shape 2"/>
          <p:cNvSpPr/>
          <p:nvPr/>
        </p:nvSpPr>
        <p:spPr bwMode="auto">
          <a:xfrm>
            <a:off x="1099899" y="2812733"/>
            <a:ext cx="3918823" cy="204073"/>
          </a:xfrm>
          <a:prstGeom prst="roundRect">
            <a:avLst>
              <a:gd name="adj" fmla="val 15005"/>
            </a:avLst>
          </a:prstGeom>
          <a:solidFill>
            <a:srgbClr val="EAE8F3"/>
          </a:solidFill>
          <a:ln/>
        </p:spPr>
      </p:sp>
      <p:sp>
        <p:nvSpPr>
          <p:cNvPr id="229978184" name="Shape 3"/>
          <p:cNvSpPr/>
          <p:nvPr/>
        </p:nvSpPr>
        <p:spPr bwMode="auto">
          <a:xfrm>
            <a:off x="793790" y="2608600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EAE8F3"/>
          </a:solidFill>
          <a:ln/>
        </p:spPr>
      </p:sp>
      <p:pic>
        <p:nvPicPr>
          <p:cNvPr id="774175664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946903" y="2761714"/>
            <a:ext cx="306110" cy="306110"/>
          </a:xfrm>
          <a:prstGeom prst="rect">
            <a:avLst/>
          </a:prstGeom>
        </p:spPr>
      </p:pic>
      <p:sp>
        <p:nvSpPr>
          <p:cNvPr id="1520731950" name="Text 4"/>
          <p:cNvSpPr/>
          <p:nvPr/>
        </p:nvSpPr>
        <p:spPr bwMode="auto">
          <a:xfrm>
            <a:off x="997863" y="3404711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JSON con HMAC</a:t>
            </a:r>
            <a:endParaRPr lang="en-US" sz="2000"/>
          </a:p>
        </p:txBody>
      </p:sp>
      <p:sp>
        <p:nvSpPr>
          <p:cNvPr id="1554291280" name="Text 5"/>
          <p:cNvSpPr/>
          <p:nvPr/>
        </p:nvSpPr>
        <p:spPr bwMode="auto">
          <a:xfrm>
            <a:off x="997863" y="3833693"/>
            <a:ext cx="3816906" cy="1861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Salvataggio primario in </a:t>
            </a:r>
            <a:r>
              <a:rPr lang="en-US" sz="1600">
                <a:solidFill>
                  <a:srgbClr val="49495A"/>
                </a:solidFill>
                <a:highlight>
                  <a:srgbClr val="EEEDF2"/>
                </a:highlight>
                <a:latin typeface="Consolas"/>
                <a:ea typeface="Consolas"/>
                <a:cs typeface="Consolas"/>
              </a:rPr>
              <a:t>save_data.json</a:t>
            </a: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con firma crittografica </a:t>
            </a:r>
            <a:r>
              <a:rPr lang="en-US" sz="16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SHA-256</a:t>
            </a: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per rilevare manomissioni. Backup automatico prima di ogni scrittura. Scrittura atomica (file temporaneo → rinomina) per resistenza ai crash.</a:t>
            </a:r>
            <a:endParaRPr lang="en-US" sz="1600"/>
          </a:p>
        </p:txBody>
      </p:sp>
      <p:sp>
        <p:nvSpPr>
          <p:cNvPr id="474064457" name="Shape 6"/>
          <p:cNvSpPr/>
          <p:nvPr/>
        </p:nvSpPr>
        <p:spPr bwMode="auto">
          <a:xfrm>
            <a:off x="5508665" y="2506504"/>
            <a:ext cx="3918942" cy="204073"/>
          </a:xfrm>
          <a:prstGeom prst="roundRect">
            <a:avLst>
              <a:gd name="adj" fmla="val 15005"/>
            </a:avLst>
          </a:prstGeom>
          <a:solidFill>
            <a:srgbClr val="EAE8F3"/>
          </a:solidFill>
          <a:ln/>
        </p:spPr>
      </p:sp>
      <p:sp>
        <p:nvSpPr>
          <p:cNvPr id="1336885833" name="Shape 7"/>
          <p:cNvSpPr/>
          <p:nvPr/>
        </p:nvSpPr>
        <p:spPr bwMode="auto">
          <a:xfrm>
            <a:off x="5202554" y="2302371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EAE8F3"/>
          </a:solidFill>
          <a:ln/>
        </p:spPr>
      </p:sp>
      <p:pic>
        <p:nvPicPr>
          <p:cNvPr id="1221620681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5355669" y="2455485"/>
            <a:ext cx="306110" cy="306110"/>
          </a:xfrm>
          <a:prstGeom prst="rect">
            <a:avLst/>
          </a:prstGeom>
        </p:spPr>
      </p:pic>
      <p:sp>
        <p:nvSpPr>
          <p:cNvPr id="1109444531" name="Text 8"/>
          <p:cNvSpPr/>
          <p:nvPr/>
        </p:nvSpPr>
        <p:spPr bwMode="auto">
          <a:xfrm>
            <a:off x="5406628" y="3098483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SQLite con WAL</a:t>
            </a:r>
            <a:endParaRPr lang="en-US" sz="2000"/>
          </a:p>
        </p:txBody>
      </p:sp>
      <p:sp>
        <p:nvSpPr>
          <p:cNvPr id="825238449" name="Text 9"/>
          <p:cNvSpPr/>
          <p:nvPr/>
        </p:nvSpPr>
        <p:spPr bwMode="auto">
          <a:xfrm>
            <a:off x="5406628" y="3527465"/>
            <a:ext cx="3817025" cy="1861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Database relazionale locale con </a:t>
            </a:r>
            <a:r>
              <a:rPr lang="en-US" sz="16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11 tabelle</a:t>
            </a: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, chiavi esterne con CASCADE, indici sulle foreign key, migrazioni automatiche dalla versione 1.0 alla 5.0. Write-Ahead Logging per operazioni concorrenti sicure.</a:t>
            </a:r>
            <a:endParaRPr lang="en-US" sz="1600"/>
          </a:p>
        </p:txBody>
      </p:sp>
      <p:sp>
        <p:nvSpPr>
          <p:cNvPr id="16807856" name="Shape 10"/>
          <p:cNvSpPr/>
          <p:nvPr/>
        </p:nvSpPr>
        <p:spPr bwMode="auto">
          <a:xfrm>
            <a:off x="9917549" y="2200394"/>
            <a:ext cx="3918942" cy="204073"/>
          </a:xfrm>
          <a:prstGeom prst="roundRect">
            <a:avLst>
              <a:gd name="adj" fmla="val 15005"/>
            </a:avLst>
          </a:prstGeom>
          <a:solidFill>
            <a:srgbClr val="EAE8F3"/>
          </a:solidFill>
          <a:ln/>
        </p:spPr>
      </p:sp>
      <p:sp>
        <p:nvSpPr>
          <p:cNvPr id="1723935954" name="Shape 11"/>
          <p:cNvSpPr/>
          <p:nvPr/>
        </p:nvSpPr>
        <p:spPr bwMode="auto">
          <a:xfrm>
            <a:off x="9611439" y="1996261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EAE8F3"/>
          </a:solidFill>
          <a:ln/>
        </p:spPr>
      </p:sp>
      <p:pic>
        <p:nvPicPr>
          <p:cNvPr id="1982379034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9764554" y="2149376"/>
            <a:ext cx="306110" cy="306110"/>
          </a:xfrm>
          <a:prstGeom prst="rect">
            <a:avLst/>
          </a:prstGeom>
        </p:spPr>
      </p:pic>
      <p:sp>
        <p:nvSpPr>
          <p:cNvPr id="1197912591" name="Text 12"/>
          <p:cNvSpPr/>
          <p:nvPr/>
        </p:nvSpPr>
        <p:spPr bwMode="auto">
          <a:xfrm>
            <a:off x="9815512" y="2792373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Supabase Cloud</a:t>
            </a:r>
            <a:endParaRPr lang="en-US" sz="2000"/>
          </a:p>
        </p:txBody>
      </p:sp>
      <p:sp>
        <p:nvSpPr>
          <p:cNvPr id="371286410" name="Text 13"/>
          <p:cNvSpPr/>
          <p:nvPr/>
        </p:nvSpPr>
        <p:spPr bwMode="auto">
          <a:xfrm>
            <a:off x="9815512" y="3221355"/>
            <a:ext cx="3817025" cy="2171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Sincronizzazione offline-first con coda di operazioni pendenti. I dati locali hanno sempre priorità. La coda si svuota automaticamente quando la connessione torna disponibile. </a:t>
            </a:r>
            <a:r>
              <a:rPr lang="en-US" sz="16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15 tabelle cloud</a:t>
            </a: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con Row-Level Security: ogni utente vede solo i propri dati.</a:t>
            </a:r>
            <a:endParaRPr lang="en-US" sz="1600"/>
          </a:p>
        </p:txBody>
      </p:sp>
      <p:sp>
        <p:nvSpPr>
          <p:cNvPr id="1247480525" name="Shape 14"/>
          <p:cNvSpPr/>
          <p:nvPr/>
        </p:nvSpPr>
        <p:spPr bwMode="auto">
          <a:xfrm>
            <a:off x="793790" y="6106120"/>
            <a:ext cx="13042821" cy="1432798"/>
          </a:xfrm>
          <a:prstGeom prst="roundRect">
            <a:avLst>
              <a:gd name="adj" fmla="val 2137"/>
            </a:avLst>
          </a:prstGeom>
          <a:solidFill>
            <a:srgbClr val="B6D6FC"/>
          </a:solidFill>
          <a:ln/>
        </p:spPr>
      </p:sp>
      <p:pic>
        <p:nvPicPr>
          <p:cNvPr id="406120626" name="Image 3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997863" y="6411158"/>
            <a:ext cx="255151" cy="204073"/>
          </a:xfrm>
          <a:prstGeom prst="rect">
            <a:avLst/>
          </a:prstGeom>
        </p:spPr>
      </p:pic>
      <p:sp>
        <p:nvSpPr>
          <p:cNvPr id="2128286165" name="Text 15"/>
          <p:cNvSpPr/>
          <p:nvPr/>
        </p:nvSpPr>
        <p:spPr bwMode="auto">
          <a:xfrm>
            <a:off x="1457087" y="6340793"/>
            <a:ext cx="12175450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600" b="1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Osservabilità — Logger strutturato:</a:t>
            </a:r>
            <a:r>
              <a:rPr lang="en-US" sz="16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Sistema di logging centralizzato con JSON Lines, correlation ID end-to-end, 4 livelli (DEBUG/INFO/WARN/ERROR), rotazione automatica </a:t>
            </a:r>
            <a:r>
              <a:rPr lang="en-US" sz="1600" b="1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5 MB × 5 file = 25 MB</a:t>
            </a:r>
            <a:r>
              <a:rPr lang="en-US" sz="16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redazione automatica di chiavi sensibili (password, token, jwt, hmac_key, secret, anon_key). Flush periodico ogni 2 secondi, buffer capped a 2000 entries.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6963385" name="Text 0"/>
          <p:cNvSpPr/>
          <p:nvPr/>
        </p:nvSpPr>
        <p:spPr bwMode="auto">
          <a:xfrm>
            <a:off x="793790" y="831771"/>
            <a:ext cx="4529018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33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Processo di Sviluppo</a:t>
            </a:r>
            <a:endParaRPr lang="en-US" sz="3300"/>
          </a:p>
        </p:txBody>
      </p:sp>
      <p:sp>
        <p:nvSpPr>
          <p:cNvPr id="809781422" name="Shape 1"/>
          <p:cNvSpPr/>
          <p:nvPr/>
        </p:nvSpPr>
        <p:spPr bwMode="auto">
          <a:xfrm>
            <a:off x="671274" y="1554718"/>
            <a:ext cx="5885974" cy="5843111"/>
          </a:xfrm>
          <a:prstGeom prst="roundRect">
            <a:avLst>
              <a:gd name="adj" fmla="val 437"/>
            </a:avLst>
          </a:prstGeom>
          <a:solidFill>
            <a:srgbClr val="E7E0FF"/>
          </a:solidFill>
          <a:ln/>
        </p:spPr>
      </p:sp>
      <p:sp>
        <p:nvSpPr>
          <p:cNvPr id="1345759966" name="Text 2"/>
          <p:cNvSpPr/>
          <p:nvPr/>
        </p:nvSpPr>
        <p:spPr bwMode="auto">
          <a:xfrm>
            <a:off x="841296" y="1682234"/>
            <a:ext cx="26192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Come abbiamo lavorato</a:t>
            </a:r>
            <a:endParaRPr lang="en-US" sz="1650"/>
          </a:p>
        </p:txBody>
      </p:sp>
      <p:sp>
        <p:nvSpPr>
          <p:cNvPr id="211285658" name="Text 3"/>
          <p:cNvSpPr/>
          <p:nvPr/>
        </p:nvSpPr>
        <p:spPr bwMode="auto">
          <a:xfrm>
            <a:off x="841296" y="2075498"/>
            <a:ext cx="5545931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Sviluppo audit-driven</a:t>
            </a: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3 passaggi di audit sistematico che hanno guidato ogni ciclo di fix e refactoring. Ogni bug trovato è stato classificato per severità (critico, alto, medio) e risolto in ordine di priorità.</a:t>
            </a:r>
            <a:endParaRPr lang="en-US" sz="1300"/>
          </a:p>
        </p:txBody>
      </p:sp>
      <p:sp>
        <p:nvSpPr>
          <p:cNvPr id="1403940651" name="Text 4"/>
          <p:cNvSpPr/>
          <p:nvPr/>
        </p:nvSpPr>
        <p:spPr bwMode="auto">
          <a:xfrm>
            <a:off x="841296" y="3155513"/>
            <a:ext cx="2616041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Gestione del Repository</a:t>
            </a:r>
            <a:endParaRPr lang="en-US" sz="1650"/>
          </a:p>
        </p:txBody>
      </p:sp>
      <p:sp>
        <p:nvSpPr>
          <p:cNvPr id="1792639921" name="Text 5"/>
          <p:cNvSpPr/>
          <p:nvPr/>
        </p:nvSpPr>
        <p:spPr bwMode="auto">
          <a:xfrm>
            <a:off x="841296" y="3548776"/>
            <a:ext cx="5545931" cy="1324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Commit strutturati con messaggi semantici (feat/fix/chore/docs)</a:t>
            </a:r>
            <a:endParaRPr lang="en-US" sz="1300"/>
          </a:p>
          <a:p>
            <a:pPr marL="342900" indent="-342900" algn="l">
              <a:lnSpc>
                <a:spcPts val="1850"/>
              </a:lnSpc>
              <a:buSzPct val="100000"/>
              <a:buChar char="•"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Sprint iterativi con task tracciati</a:t>
            </a:r>
            <a:endParaRPr lang="en-US" sz="1300"/>
          </a:p>
          <a:p>
            <a:pPr marL="342900" indent="-342900" algn="l">
              <a:lnSpc>
                <a:spcPts val="1850"/>
              </a:lnSpc>
              <a:buSzPct val="100000"/>
              <a:buChar char="•"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Sviluppo collaborativo su branch main con CI obbligatoria</a:t>
            </a:r>
            <a:endParaRPr lang="en-US" sz="1300"/>
          </a:p>
          <a:p>
            <a:pPr marL="342900" indent="-342900" algn="l">
              <a:lnSpc>
                <a:spcPts val="1850"/>
              </a:lnSpc>
              <a:buSzPct val="100000"/>
              <a:buChar char="•"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Documentazione completa: guide operative per ogni membro del team</a:t>
            </a:r>
            <a:endParaRPr lang="en-US" sz="1300"/>
          </a:p>
        </p:txBody>
      </p:sp>
      <p:sp>
        <p:nvSpPr>
          <p:cNvPr id="2128799462" name="Text 6"/>
          <p:cNvSpPr/>
          <p:nvPr/>
        </p:nvSpPr>
        <p:spPr bwMode="auto">
          <a:xfrm>
            <a:off x="6857405" y="1682234"/>
            <a:ext cx="4412694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Continuous Integration — </a:t>
            </a:r>
            <a:r>
              <a:rPr lang="en-US" sz="165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9 Job Paralleli</a:t>
            </a:r>
            <a:endParaRPr lang="en-US" sz="1650"/>
          </a:p>
        </p:txBody>
      </p:sp>
      <p:sp>
        <p:nvSpPr>
          <p:cNvPr id="323852559" name="Text 7"/>
          <p:cNvSpPr/>
          <p:nvPr/>
        </p:nvSpPr>
        <p:spPr bwMode="auto">
          <a:xfrm>
            <a:off x="6857405" y="2075498"/>
            <a:ext cx="6986707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Pipeline CI/CD su GitHub Actions che blocca qualsiasi merge senza verde totale:</a:t>
            </a:r>
            <a:endParaRPr lang="en-US" sz="1300"/>
          </a:p>
        </p:txBody>
      </p:sp>
      <p:pic>
        <p:nvPicPr>
          <p:cNvPr id="1949039264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6921103" y="2462332"/>
            <a:ext cx="255151" cy="255151"/>
          </a:xfrm>
          <a:prstGeom prst="rect">
            <a:avLst/>
          </a:prstGeom>
        </p:spPr>
      </p:pic>
      <p:sp>
        <p:nvSpPr>
          <p:cNvPr id="1256675260" name="Text 8"/>
          <p:cNvSpPr/>
          <p:nvPr/>
        </p:nvSpPr>
        <p:spPr bwMode="auto">
          <a:xfrm>
            <a:off x="7410093" y="2457093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lint</a:t>
            </a:r>
            <a:endParaRPr lang="en-US" sz="1650"/>
          </a:p>
        </p:txBody>
      </p:sp>
      <p:sp>
        <p:nvSpPr>
          <p:cNvPr id="2103000706" name="Text 9"/>
          <p:cNvSpPr/>
          <p:nvPr/>
        </p:nvSpPr>
        <p:spPr bwMode="auto">
          <a:xfrm>
            <a:off x="7410093" y="2850356"/>
            <a:ext cx="643401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GDScript gdlint + gdformat</a:t>
            </a:r>
            <a:endParaRPr lang="en-US" sz="1300"/>
          </a:p>
        </p:txBody>
      </p:sp>
      <p:pic>
        <p:nvPicPr>
          <p:cNvPr id="36681584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6921103" y="3348871"/>
            <a:ext cx="255151" cy="255151"/>
          </a:xfrm>
          <a:prstGeom prst="rect">
            <a:avLst/>
          </a:prstGeom>
        </p:spPr>
      </p:pic>
      <p:sp>
        <p:nvSpPr>
          <p:cNvPr id="494665879" name="Text 10"/>
          <p:cNvSpPr/>
          <p:nvPr/>
        </p:nvSpPr>
        <p:spPr bwMode="auto">
          <a:xfrm>
            <a:off x="7410093" y="3343632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validate-json</a:t>
            </a:r>
            <a:endParaRPr lang="en-US" sz="1650"/>
          </a:p>
        </p:txBody>
      </p:sp>
      <p:sp>
        <p:nvSpPr>
          <p:cNvPr id="267364811" name="Text 11"/>
          <p:cNvSpPr/>
          <p:nvPr/>
        </p:nvSpPr>
        <p:spPr bwMode="auto">
          <a:xfrm>
            <a:off x="7410093" y="3736896"/>
            <a:ext cx="643401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Cataloghi dei contenuti</a:t>
            </a:r>
            <a:endParaRPr lang="en-US" sz="1300"/>
          </a:p>
        </p:txBody>
      </p:sp>
      <p:pic>
        <p:nvPicPr>
          <p:cNvPr id="1539528666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6921103" y="4235410"/>
            <a:ext cx="255151" cy="255151"/>
          </a:xfrm>
          <a:prstGeom prst="rect">
            <a:avLst/>
          </a:prstGeom>
        </p:spPr>
      </p:pic>
      <p:sp>
        <p:nvSpPr>
          <p:cNvPr id="1304492399" name="Text 12"/>
          <p:cNvSpPr/>
          <p:nvPr/>
        </p:nvSpPr>
        <p:spPr bwMode="auto">
          <a:xfrm>
            <a:off x="7410093" y="4230172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validate-sprites</a:t>
            </a:r>
            <a:endParaRPr lang="en-US" sz="1650"/>
          </a:p>
        </p:txBody>
      </p:sp>
      <p:sp>
        <p:nvSpPr>
          <p:cNvPr id="1459143528" name="Text 13"/>
          <p:cNvSpPr/>
          <p:nvPr/>
        </p:nvSpPr>
        <p:spPr bwMode="auto">
          <a:xfrm>
            <a:off x="7410093" y="4623435"/>
            <a:ext cx="643401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Esistenza e integrità sprite</a:t>
            </a:r>
            <a:endParaRPr lang="en-US" sz="1300"/>
          </a:p>
        </p:txBody>
      </p:sp>
      <p:pic>
        <p:nvPicPr>
          <p:cNvPr id="1185775382" name="Image 3" descr="preencoded.png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>
            <a:off x="6921103" y="5121950"/>
            <a:ext cx="255151" cy="255151"/>
          </a:xfrm>
          <a:prstGeom prst="rect">
            <a:avLst/>
          </a:prstGeom>
        </p:spPr>
      </p:pic>
      <p:sp>
        <p:nvSpPr>
          <p:cNvPr id="657079044" name="Text 14"/>
          <p:cNvSpPr/>
          <p:nvPr/>
        </p:nvSpPr>
        <p:spPr bwMode="auto">
          <a:xfrm>
            <a:off x="7410093" y="5116711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validate-db</a:t>
            </a:r>
            <a:endParaRPr lang="en-US" sz="1650"/>
          </a:p>
        </p:txBody>
      </p:sp>
      <p:sp>
        <p:nvSpPr>
          <p:cNvPr id="2030052380" name="Text 15"/>
          <p:cNvSpPr/>
          <p:nvPr/>
        </p:nvSpPr>
        <p:spPr bwMode="auto">
          <a:xfrm>
            <a:off x="7410093" y="5509974"/>
            <a:ext cx="643401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Schema SQLite e Supabase</a:t>
            </a:r>
            <a:endParaRPr lang="en-US" sz="1300"/>
          </a:p>
        </p:txBody>
      </p:sp>
      <p:pic>
        <p:nvPicPr>
          <p:cNvPr id="2117452635" name="Image 4" descr="preencoded.png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>
            <a:off x="6921103" y="6008489"/>
            <a:ext cx="255151" cy="255151"/>
          </a:xfrm>
          <a:prstGeom prst="rect">
            <a:avLst/>
          </a:prstGeom>
        </p:spPr>
      </p:pic>
      <p:sp>
        <p:nvSpPr>
          <p:cNvPr id="1563880182" name="Text 16"/>
          <p:cNvSpPr/>
          <p:nvPr/>
        </p:nvSpPr>
        <p:spPr bwMode="auto">
          <a:xfrm>
            <a:off x="7410093" y="6003250"/>
            <a:ext cx="3063834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smoke-headless + deep-tests</a:t>
            </a:r>
            <a:endParaRPr lang="en-US" sz="1650"/>
          </a:p>
        </p:txBody>
      </p:sp>
      <p:sp>
        <p:nvSpPr>
          <p:cNvPr id="919817229" name="Text 17"/>
          <p:cNvSpPr/>
          <p:nvPr/>
        </p:nvSpPr>
        <p:spPr bwMode="auto">
          <a:xfrm>
            <a:off x="7410093" y="6396514"/>
            <a:ext cx="643401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Test Godot headless e approfonditi</a:t>
            </a:r>
            <a:endParaRPr lang="en-US" sz="1300"/>
          </a:p>
        </p:txBody>
      </p:sp>
      <p:sp>
        <p:nvSpPr>
          <p:cNvPr id="582524856" name="Text 18"/>
          <p:cNvSpPr/>
          <p:nvPr/>
        </p:nvSpPr>
        <p:spPr bwMode="auto">
          <a:xfrm>
            <a:off x="7112556" y="6778109"/>
            <a:ext cx="673155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3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Ogni push viene validato automaticamente. Nessun codice raggiunge il branch principale senza superare tutti i controlli.</a:t>
            </a:r>
            <a:endParaRPr lang="en-US" sz="1300"/>
          </a:p>
        </p:txBody>
      </p:sp>
      <p:sp>
        <p:nvSpPr>
          <p:cNvPr id="1022638194" name="Shape 19"/>
          <p:cNvSpPr/>
          <p:nvPr/>
        </p:nvSpPr>
        <p:spPr bwMode="auto">
          <a:xfrm>
            <a:off x="6857405" y="6778109"/>
            <a:ext cx="22860" cy="476250"/>
          </a:xfrm>
          <a:prstGeom prst="rect">
            <a:avLst/>
          </a:prstGeom>
          <a:solidFill>
            <a:srgbClr val="403CC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516142" name="Text 0"/>
          <p:cNvSpPr/>
          <p:nvPr/>
        </p:nvSpPr>
        <p:spPr bwMode="auto">
          <a:xfrm>
            <a:off x="5330427" y="690681"/>
            <a:ext cx="3969424" cy="4961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99"/>
              </a:lnSpc>
              <a:buNone/>
              <a:defRPr/>
            </a:pPr>
            <a:r>
              <a:rPr lang="en-US" sz="31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Ringraziamenti</a:t>
            </a:r>
            <a:endParaRPr lang="en-US" sz="3100"/>
          </a:p>
        </p:txBody>
      </p:sp>
      <p:sp>
        <p:nvSpPr>
          <p:cNvPr id="1902520995" name="Text 1"/>
          <p:cNvSpPr/>
          <p:nvPr/>
        </p:nvSpPr>
        <p:spPr bwMode="auto">
          <a:xfrm>
            <a:off x="793789" y="1409104"/>
            <a:ext cx="13042820" cy="215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Un grazie di cuore a tutte le persone che hanno reso possibile questo progetto.</a:t>
            </a:r>
            <a:endParaRPr lang="en-US" sz="1250"/>
          </a:p>
        </p:txBody>
      </p:sp>
      <p:sp>
        <p:nvSpPr>
          <p:cNvPr id="924100306" name="Shape 2"/>
          <p:cNvSpPr/>
          <p:nvPr/>
        </p:nvSpPr>
        <p:spPr bwMode="auto">
          <a:xfrm>
            <a:off x="793789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2468003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21399" y="1677709"/>
            <a:ext cx="190499" cy="190499"/>
          </a:xfrm>
          <a:prstGeom prst="rect">
            <a:avLst/>
          </a:prstGeom>
        </p:spPr>
      </p:pic>
      <p:pic>
        <p:nvPicPr>
          <p:cNvPr id="118391537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949190" y="3332558"/>
            <a:ext cx="190499" cy="190499"/>
          </a:xfrm>
          <a:prstGeom prst="rect">
            <a:avLst/>
          </a:prstGeom>
        </p:spPr>
      </p:pic>
      <p:sp>
        <p:nvSpPr>
          <p:cNvPr id="835486411" name="Text 3"/>
          <p:cNvSpPr/>
          <p:nvPr/>
        </p:nvSpPr>
        <p:spPr bwMode="auto">
          <a:xfrm>
            <a:off x="1054774" y="2011084"/>
            <a:ext cx="1984653" cy="248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Giorgia Chiampan</a:t>
            </a:r>
            <a:endParaRPr lang="en-US" sz="1550"/>
          </a:p>
        </p:txBody>
      </p:sp>
      <p:sp>
        <p:nvSpPr>
          <p:cNvPr id="626463273" name="Text 4"/>
          <p:cNvSpPr/>
          <p:nvPr/>
        </p:nvSpPr>
        <p:spPr bwMode="auto">
          <a:xfrm>
            <a:off x="1054774" y="2325766"/>
            <a:ext cx="3751539" cy="86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La nostra tutor, per la guida costante, la pazienza e la fiducia riposta in ogni fase del progetto. Senza il suo supporto questo percorso non sarebbe stato lo stesso.</a:t>
            </a:r>
            <a:endParaRPr lang="en-US" sz="1250"/>
          </a:p>
        </p:txBody>
      </p:sp>
      <p:sp>
        <p:nvSpPr>
          <p:cNvPr id="149506804" name="Shape 5"/>
          <p:cNvSpPr/>
          <p:nvPr/>
        </p:nvSpPr>
        <p:spPr bwMode="auto">
          <a:xfrm>
            <a:off x="5178384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1036818760" name="Image 2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105994" y="1677709"/>
            <a:ext cx="190499" cy="190499"/>
          </a:xfrm>
          <a:prstGeom prst="rect">
            <a:avLst/>
          </a:prstGeom>
        </p:spPr>
      </p:pic>
      <p:pic>
        <p:nvPicPr>
          <p:cNvPr id="1829403646" name="Image 3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333785" y="3332558"/>
            <a:ext cx="190499" cy="190499"/>
          </a:xfrm>
          <a:prstGeom prst="rect">
            <a:avLst/>
          </a:prstGeom>
        </p:spPr>
      </p:pic>
      <p:sp>
        <p:nvSpPr>
          <p:cNvPr id="264906557" name="Text 6"/>
          <p:cNvSpPr/>
          <p:nvPr/>
        </p:nvSpPr>
        <p:spPr bwMode="auto">
          <a:xfrm>
            <a:off x="5439369" y="2011084"/>
            <a:ext cx="2482690" cy="248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311-Verona &amp; Facilitatori</a:t>
            </a:r>
            <a:endParaRPr lang="en-US" sz="1550"/>
          </a:p>
        </p:txBody>
      </p:sp>
      <p:sp>
        <p:nvSpPr>
          <p:cNvPr id="1543862186" name="Text 7"/>
          <p:cNvSpPr/>
          <p:nvPr/>
        </p:nvSpPr>
        <p:spPr bwMode="auto">
          <a:xfrm>
            <a:off x="5439369" y="2325766"/>
            <a:ext cx="3751539" cy="86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 tutti i facilitatori che hanno reso possibile questo percorso formativo, offrendo spazi, strumenti e opportunità che hanno trasformato un'idea in un prodotto reale.</a:t>
            </a:r>
            <a:endParaRPr lang="en-US" sz="1250"/>
          </a:p>
        </p:txBody>
      </p:sp>
      <p:sp>
        <p:nvSpPr>
          <p:cNvPr id="1979910429" name="Shape 8"/>
          <p:cNvSpPr/>
          <p:nvPr/>
        </p:nvSpPr>
        <p:spPr bwMode="auto">
          <a:xfrm>
            <a:off x="9562980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1108938176" name="Image 4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90590" y="1677709"/>
            <a:ext cx="190499" cy="190499"/>
          </a:xfrm>
          <a:prstGeom prst="rect">
            <a:avLst/>
          </a:prstGeom>
        </p:spPr>
      </p:pic>
      <p:pic>
        <p:nvPicPr>
          <p:cNvPr id="1598521425" name="Image 5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3718380" y="3332558"/>
            <a:ext cx="190499" cy="190499"/>
          </a:xfrm>
          <a:prstGeom prst="rect">
            <a:avLst/>
          </a:prstGeom>
        </p:spPr>
      </p:pic>
      <p:sp>
        <p:nvSpPr>
          <p:cNvPr id="1986862641" name="Text 9"/>
          <p:cNvSpPr/>
          <p:nvPr/>
        </p:nvSpPr>
        <p:spPr bwMode="auto">
          <a:xfrm>
            <a:off x="9823965" y="2011084"/>
            <a:ext cx="2161818" cy="248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Docenti &amp; Compagni</a:t>
            </a:r>
            <a:endParaRPr lang="en-US" sz="1550"/>
          </a:p>
        </p:txBody>
      </p:sp>
      <p:sp>
        <p:nvSpPr>
          <p:cNvPr id="1407290212" name="Text 10"/>
          <p:cNvSpPr/>
          <p:nvPr/>
        </p:nvSpPr>
        <p:spPr bwMode="auto">
          <a:xfrm>
            <a:off x="9823965" y="2325766"/>
            <a:ext cx="3751539" cy="647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 chi ha condiviso domande, spunti e momenti di confronto durante tutto l'anno. Ogni conversazione ha lasciato un segno nel progetto.</a:t>
            </a:r>
            <a:endParaRPr lang="en-US" sz="1250"/>
          </a:p>
        </p:txBody>
      </p:sp>
      <p:sp>
        <p:nvSpPr>
          <p:cNvPr id="1174069763" name="Text 11"/>
          <p:cNvSpPr/>
          <p:nvPr/>
        </p:nvSpPr>
        <p:spPr bwMode="auto">
          <a:xfrm>
            <a:off x="1031914" y="3700701"/>
            <a:ext cx="12804696" cy="431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25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Relax Room non sarebbe esistito senza di voi.</a:t>
            </a:r>
            <a:r>
              <a:rPr lang="en-US" sz="12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Grazie.</a:t>
            </a:r>
            <a:endParaRPr lang="en-US" sz="1250"/>
          </a:p>
        </p:txBody>
      </p:sp>
      <p:sp>
        <p:nvSpPr>
          <p:cNvPr id="1482986850" name="Shape 12"/>
          <p:cNvSpPr/>
          <p:nvPr/>
        </p:nvSpPr>
        <p:spPr bwMode="auto">
          <a:xfrm>
            <a:off x="793789" y="3575684"/>
            <a:ext cx="22860" cy="681989"/>
          </a:xfrm>
          <a:prstGeom prst="rect">
            <a:avLst/>
          </a:prstGeom>
          <a:solidFill>
            <a:srgbClr val="403CCF"/>
          </a:solidFill>
          <a:ln/>
        </p:spPr>
      </p:sp>
      <p:sp>
        <p:nvSpPr>
          <p:cNvPr id="721525071" name="Text 13"/>
          <p:cNvSpPr/>
          <p:nvPr/>
        </p:nvSpPr>
        <p:spPr bwMode="auto">
          <a:xfrm>
            <a:off x="1761529" y="4461985"/>
            <a:ext cx="4516398" cy="5238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1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10.650</a:t>
            </a:r>
            <a:endParaRPr lang="en-US" sz="4100"/>
          </a:p>
        </p:txBody>
      </p:sp>
      <p:sp>
        <p:nvSpPr>
          <p:cNvPr id="1212048008" name="Text 14"/>
          <p:cNvSpPr/>
          <p:nvPr/>
        </p:nvSpPr>
        <p:spPr bwMode="auto">
          <a:xfrm>
            <a:off x="3027402" y="5148500"/>
            <a:ext cx="1984653" cy="248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Righe di codice</a:t>
            </a:r>
            <a:endParaRPr lang="en-US" sz="1550"/>
          </a:p>
        </p:txBody>
      </p:sp>
      <p:sp>
        <p:nvSpPr>
          <p:cNvPr id="792935221" name="Text 15"/>
          <p:cNvSpPr/>
          <p:nvPr/>
        </p:nvSpPr>
        <p:spPr bwMode="auto">
          <a:xfrm>
            <a:off x="793789" y="5463182"/>
            <a:ext cx="6451996" cy="215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Pulito, testabile, pronto per scalare</a:t>
            </a:r>
            <a:endParaRPr lang="en-US" sz="1250"/>
          </a:p>
        </p:txBody>
      </p:sp>
      <p:sp>
        <p:nvSpPr>
          <p:cNvPr id="1035717897" name="Text 16"/>
          <p:cNvSpPr/>
          <p:nvPr/>
        </p:nvSpPr>
        <p:spPr bwMode="auto">
          <a:xfrm>
            <a:off x="8352352" y="4461985"/>
            <a:ext cx="4516398" cy="5238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1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46</a:t>
            </a:r>
            <a:endParaRPr lang="en-US" sz="4100"/>
          </a:p>
        </p:txBody>
      </p:sp>
      <p:sp>
        <p:nvSpPr>
          <p:cNvPr id="806750760" name="Text 17"/>
          <p:cNvSpPr/>
          <p:nvPr/>
        </p:nvSpPr>
        <p:spPr bwMode="auto">
          <a:xfrm>
            <a:off x="9618225" y="5148500"/>
            <a:ext cx="1984653" cy="248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Segnali globali</a:t>
            </a:r>
            <a:endParaRPr lang="en-US" sz="1550"/>
          </a:p>
        </p:txBody>
      </p:sp>
      <p:sp>
        <p:nvSpPr>
          <p:cNvPr id="228719327" name="Text 18"/>
          <p:cNvSpPr/>
          <p:nvPr/>
        </p:nvSpPr>
        <p:spPr bwMode="auto">
          <a:xfrm>
            <a:off x="7384612" y="5463182"/>
            <a:ext cx="6451996" cy="215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Zero accoppiamento tra sistemi</a:t>
            </a:r>
            <a:endParaRPr lang="en-US" sz="1250"/>
          </a:p>
        </p:txBody>
      </p:sp>
      <p:sp>
        <p:nvSpPr>
          <p:cNvPr id="506870055" name="Text 19"/>
          <p:cNvSpPr/>
          <p:nvPr/>
        </p:nvSpPr>
        <p:spPr bwMode="auto">
          <a:xfrm>
            <a:off x="1761529" y="5980747"/>
            <a:ext cx="4516398" cy="5238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1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129</a:t>
            </a:r>
            <a:endParaRPr lang="en-US" sz="4100"/>
          </a:p>
        </p:txBody>
      </p:sp>
      <p:sp>
        <p:nvSpPr>
          <p:cNvPr id="819856283" name="Text 20"/>
          <p:cNvSpPr/>
          <p:nvPr/>
        </p:nvSpPr>
        <p:spPr bwMode="auto">
          <a:xfrm>
            <a:off x="3027402" y="6667261"/>
            <a:ext cx="1984653" cy="248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Oggetti decorativi</a:t>
            </a:r>
            <a:endParaRPr lang="en-US" sz="1550"/>
          </a:p>
        </p:txBody>
      </p:sp>
      <p:sp>
        <p:nvSpPr>
          <p:cNvPr id="1464842845" name="Text 21"/>
          <p:cNvSpPr/>
          <p:nvPr/>
        </p:nvSpPr>
        <p:spPr bwMode="auto">
          <a:xfrm>
            <a:off x="793789" y="6981943"/>
            <a:ext cx="6451996" cy="215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In 13 categorie drag-and-drop</a:t>
            </a:r>
            <a:endParaRPr lang="en-US" sz="1250"/>
          </a:p>
        </p:txBody>
      </p:sp>
      <p:sp>
        <p:nvSpPr>
          <p:cNvPr id="1762526186" name="Text 22"/>
          <p:cNvSpPr/>
          <p:nvPr/>
        </p:nvSpPr>
        <p:spPr bwMode="auto">
          <a:xfrm>
            <a:off x="8352352" y="5980747"/>
            <a:ext cx="4516398" cy="5238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1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3</a:t>
            </a:r>
            <a:endParaRPr lang="en-US" sz="4100"/>
          </a:p>
        </p:txBody>
      </p:sp>
      <p:sp>
        <p:nvSpPr>
          <p:cNvPr id="129481609" name="Text 23"/>
          <p:cNvSpPr/>
          <p:nvPr/>
        </p:nvSpPr>
        <p:spPr bwMode="auto">
          <a:xfrm>
            <a:off x="9618225" y="6667261"/>
            <a:ext cx="1984653" cy="248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Sviluppatori</a:t>
            </a:r>
            <a:endParaRPr lang="en-US" sz="1550"/>
          </a:p>
        </p:txBody>
      </p:sp>
      <p:sp>
        <p:nvSpPr>
          <p:cNvPr id="784641348" name="Text 24"/>
          <p:cNvSpPr/>
          <p:nvPr/>
        </p:nvSpPr>
        <p:spPr bwMode="auto">
          <a:xfrm>
            <a:off x="7384612" y="6981943"/>
            <a:ext cx="6451996" cy="215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2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Renan · Elia · Cristian</a:t>
            </a:r>
            <a:endParaRPr lang="en-US" sz="1250"/>
          </a:p>
        </p:txBody>
      </p:sp>
      <p:sp>
        <p:nvSpPr>
          <p:cNvPr id="2012373910" name="Text 25"/>
          <p:cNvSpPr/>
          <p:nvPr/>
        </p:nvSpPr>
        <p:spPr bwMode="auto">
          <a:xfrm>
            <a:off x="793789" y="7322938"/>
            <a:ext cx="13042820" cy="215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25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Renan Augusto Macena | Elia Zoccatelli | Cristian Marino — Projectwork IFTS 2025/2026</a:t>
            </a:r>
            <a:endParaRPr lang="en-US" sz="12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2</cp:revision>
  <dcterms:created xsi:type="dcterms:W3CDTF">2026-04-17T07:28:38Z</dcterms:created>
  <dcterms:modified xsi:type="dcterms:W3CDTF">2026-04-17T07:53:07Z</dcterms:modified>
</cp:coreProperties>
</file>