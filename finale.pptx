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4608"/>
        <p:guide pos="2592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0001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167910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33971055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9351265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978009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7545740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7771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3500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48148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22225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2648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32099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3165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0485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558951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E5C139-B151-53E3-A39E-3EEB2FE3AA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2204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763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9525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CDE648-79EF-EDEF-7BC3-3EAE1285BD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9369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4088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6564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D3A0BA-5741-2340-4947-30010A29462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4467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19740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5816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0774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6272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284903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5203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099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4970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9133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9009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880534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29019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5500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38418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5B7D9B-C7A1-0993-1F89-092130D029A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4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6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1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0757532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477792977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786593111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2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05807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720175254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760872288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3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296469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2073324052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312768961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4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603951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478763759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856928510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5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415408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385782966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230812875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6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472047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760040635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1897958363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7 master">
    <p:bg>
      <p:bgPr shadeToTitle="0">
        <a:solidFill>
          <a:srgbClr val="00000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05250" name="Shape 0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4F0FF"/>
          </a:solidFill>
          <a:ln/>
        </p:spPr>
      </p:sp>
      <p:sp>
        <p:nvSpPr>
          <p:cNvPr id="1360790975" name="Shape 1"/>
          <p:cNvSpPr/>
          <p:nvPr/>
        </p:nvSpPr>
        <p:spPr bwMode="auto">
          <a:xfrm>
            <a:off x="0" y="0"/>
            <a:ext cx="14630400" cy="8229600"/>
          </a:xfrm>
          <a:prstGeom prst="rect">
            <a:avLst/>
          </a:prstGeom>
          <a:solidFill>
            <a:srgbClr val="FBFAFF"/>
          </a:solidFill>
          <a:ln/>
        </p:spPr>
      </p:sp>
      <p:pic>
        <p:nvPicPr>
          <p:cNvPr id="2137362177" name="Image 0" descr="preencoded.png">
            <a:hlinkClick r:id="rId2" tooltip=""/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39214" y="7749539"/>
            <a:ext cx="1722604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media1.svg"/><Relationship Id="rId6" Type="http://schemas.openxmlformats.org/officeDocument/2006/relationships/hyperlink" Target="https://mini-cozy-room.netlify.app/team/renan" TargetMode="Externa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media2.sv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media3.sv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media4.sv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media5.sv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image" Target="../media/media6.sv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png"/><Relationship Id="rId4" Type="http://schemas.openxmlformats.org/officeDocument/2006/relationships/image" Target="../media/media7.svg"/><Relationship Id="rId5" Type="http://schemas.openxmlformats.org/officeDocument/2006/relationships/image" Target="../media/image26.png"/><Relationship Id="rId6" Type="http://schemas.openxmlformats.org/officeDocument/2006/relationships/image" Target="../media/media8.svg"/><Relationship Id="rId7" Type="http://schemas.openxmlformats.org/officeDocument/2006/relationships/image" Target="../media/image27.png"/><Relationship Id="rId8" Type="http://schemas.openxmlformats.org/officeDocument/2006/relationships/image" Target="../media/media9.svg"/><Relationship Id="rId9" Type="http://schemas.openxmlformats.org/officeDocument/2006/relationships/image" Target="../media/image2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Relationship Id="rId4" Type="http://schemas.openxmlformats.org/officeDocument/2006/relationships/image" Target="../media/media10.svg"/><Relationship Id="rId5" Type="http://schemas.openxmlformats.org/officeDocument/2006/relationships/image" Target="../media/image30.png"/><Relationship Id="rId6" Type="http://schemas.openxmlformats.org/officeDocument/2006/relationships/image" Target="../media/media11.svg"/><Relationship Id="rId7" Type="http://schemas.openxmlformats.org/officeDocument/2006/relationships/image" Target="../media/image31.png"/><Relationship Id="rId8" Type="http://schemas.openxmlformats.org/officeDocument/2006/relationships/image" Target="../media/media12.svg"/><Relationship Id="rId9" Type="http://schemas.openxmlformats.org/officeDocument/2006/relationships/image" Target="../media/image32.png"/><Relationship Id="rId10" Type="http://schemas.openxmlformats.org/officeDocument/2006/relationships/image" Target="../media/media13.svg"/><Relationship Id="rId11" Type="http://schemas.openxmlformats.org/officeDocument/2006/relationships/image" Target="../media/image33.png"/><Relationship Id="rId12" Type="http://schemas.openxmlformats.org/officeDocument/2006/relationships/image" Target="../media/media1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7183771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1947976525" name="Text 0"/>
          <p:cNvSpPr/>
          <p:nvPr/>
        </p:nvSpPr>
        <p:spPr bwMode="auto">
          <a:xfrm>
            <a:off x="793789" y="2444472"/>
            <a:ext cx="5136859" cy="7094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  <a:defRPr/>
            </a:pPr>
            <a:r>
              <a:rPr lang="en-US" sz="5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Mini Cozy Room</a:t>
            </a:r>
            <a:endParaRPr sz="5200" b="1"/>
          </a:p>
        </p:txBody>
      </p:sp>
      <p:sp>
        <p:nvSpPr>
          <p:cNvPr id="1166793198" name="Shape 1"/>
          <p:cNvSpPr/>
          <p:nvPr/>
        </p:nvSpPr>
        <p:spPr bwMode="auto">
          <a:xfrm>
            <a:off x="793790" y="3493413"/>
            <a:ext cx="2813566" cy="426244"/>
          </a:xfrm>
          <a:prstGeom prst="roundRect">
            <a:avLst>
              <a:gd name="adj" fmla="val 6386"/>
            </a:avLst>
          </a:prstGeom>
          <a:solidFill>
            <a:srgbClr val="D7D6F5"/>
          </a:solidFill>
          <a:ln/>
        </p:spPr>
      </p:sp>
      <p:pic>
        <p:nvPicPr>
          <p:cNvPr id="2111364798" name="Image 1" descr="preencoded.p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929878" y="3615809"/>
            <a:ext cx="181451" cy="181451"/>
          </a:xfrm>
          <a:prstGeom prst="rect">
            <a:avLst/>
          </a:prstGeom>
        </p:spPr>
      </p:pic>
      <p:sp>
        <p:nvSpPr>
          <p:cNvPr id="989241786" name="Text 2"/>
          <p:cNvSpPr/>
          <p:nvPr/>
        </p:nvSpPr>
        <p:spPr bwMode="auto">
          <a:xfrm>
            <a:off x="1100725" y="3561397"/>
            <a:ext cx="2386967" cy="2906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PROGETTO IFTS 2025/2026</a:t>
            </a:r>
            <a:endParaRPr sz="1500"/>
          </a:p>
        </p:txBody>
      </p:sp>
      <p:sp>
        <p:nvSpPr>
          <p:cNvPr id="1304098241" name="Text 3"/>
          <p:cNvSpPr/>
          <p:nvPr/>
        </p:nvSpPr>
        <p:spPr bwMode="auto">
          <a:xfrm>
            <a:off x="793790" y="4010382"/>
            <a:ext cx="7556421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  <a:defRPr/>
            </a:pPr>
            <a:r>
              <a:rPr lang="en-US" sz="220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Relax Room</a:t>
            </a:r>
            <a:r>
              <a:rPr lang="en-US" sz="22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 — Desktop companion per relax e produttività</a:t>
            </a:r>
            <a:endParaRPr sz="2200"/>
          </a:p>
        </p:txBody>
      </p:sp>
      <p:sp>
        <p:nvSpPr>
          <p:cNvPr id="349551887" name="Text 4"/>
          <p:cNvSpPr/>
          <p:nvPr/>
        </p:nvSpPr>
        <p:spPr bwMode="auto">
          <a:xfrm>
            <a:off x="793790" y="5059204"/>
            <a:ext cx="7556421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7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Presentazione Aprile 2026 | </a:t>
            </a:r>
            <a:r>
              <a:rPr lang="en-US" sz="17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Renan Augusto Macena</a:t>
            </a:r>
            <a:r>
              <a:rPr lang="en-US" sz="17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· </a:t>
            </a:r>
            <a:r>
              <a:rPr lang="en-US" sz="17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Elia Zoccatelli</a:t>
            </a:r>
            <a:r>
              <a:rPr lang="en-US" sz="17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· </a:t>
            </a:r>
            <a:r>
              <a:rPr lang="en-US" sz="175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Cristian Marino</a:t>
            </a:r>
            <a:endParaRPr lang="en-US" sz="1750"/>
          </a:p>
          <a:p>
            <a:pPr marL="0" indent="0" algn="l">
              <a:lnSpc>
                <a:spcPts val="2850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🔗 </a:t>
            </a:r>
            <a:r>
              <a:rPr lang="en-US" sz="1500" u="sng">
                <a:solidFill>
                  <a:srgbClr val="4F46E5"/>
                </a:solidFill>
                <a:latin typeface="Open Sans"/>
                <a:ea typeface="Open Sans"/>
                <a:cs typeface="Open Sans"/>
                <a:hlinkClick r:id="rId6" tooltip=""/>
              </a:rPr>
              <a:t>mini-cozy-room.netlify.app</a:t>
            </a:r>
            <a:endParaRPr lang="en-US" sz="1500"/>
          </a:p>
        </p:txBody>
      </p:sp>
      <p:sp>
        <p:nvSpPr>
          <p:cNvPr id="1115493291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594650" name="Text 0"/>
          <p:cNvSpPr/>
          <p:nvPr/>
        </p:nvSpPr>
        <p:spPr bwMode="auto">
          <a:xfrm>
            <a:off x="793789" y="645080"/>
            <a:ext cx="5083887" cy="567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  <a:defRPr/>
            </a:pPr>
            <a:r>
              <a:rPr lang="en-US" sz="4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Il Team + Il Progetto</a:t>
            </a:r>
            <a:endParaRPr sz="4200" b="1"/>
          </a:p>
        </p:txBody>
      </p:sp>
      <p:sp>
        <p:nvSpPr>
          <p:cNvPr id="1663896108" name="Shape 1"/>
          <p:cNvSpPr/>
          <p:nvPr/>
        </p:nvSpPr>
        <p:spPr bwMode="auto">
          <a:xfrm>
            <a:off x="793790" y="1592937"/>
            <a:ext cx="6974324" cy="1904405"/>
          </a:xfrm>
          <a:prstGeom prst="roundRect">
            <a:avLst>
              <a:gd name="adj" fmla="val 5762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121804072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70930" y="1592937"/>
            <a:ext cx="91440" cy="1904405"/>
          </a:xfrm>
          <a:prstGeom prst="rect">
            <a:avLst/>
          </a:prstGeom>
        </p:spPr>
      </p:pic>
      <p:sp>
        <p:nvSpPr>
          <p:cNvPr id="1661119297" name="Text 2"/>
          <p:cNvSpPr/>
          <p:nvPr/>
        </p:nvSpPr>
        <p:spPr bwMode="auto">
          <a:xfrm>
            <a:off x="1066681" y="1797247"/>
            <a:ext cx="6497122" cy="56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26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Renan Augusto Macena</a:t>
            </a:r>
            <a:r>
              <a:rPr lang="en-US" sz="20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— </a:t>
            </a:r>
            <a:r>
              <a:rPr lang="en-US" sz="200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Team Lead &amp; Architetto Software</a:t>
            </a:r>
            <a:endParaRPr sz="2000"/>
          </a:p>
        </p:txBody>
      </p:sp>
      <p:sp>
        <p:nvSpPr>
          <p:cNvPr id="1635262376" name="Text 3"/>
          <p:cNvSpPr/>
          <p:nvPr/>
        </p:nvSpPr>
        <p:spPr bwMode="auto">
          <a:xfrm>
            <a:off x="1066681" y="2509361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Architettura signal-driven, sistemi core, gestione del repository.</a:t>
            </a:r>
            <a:endParaRPr sz="1800"/>
          </a:p>
        </p:txBody>
      </p:sp>
      <p:sp>
        <p:nvSpPr>
          <p:cNvPr id="146772213" name="Shape 4"/>
          <p:cNvSpPr/>
          <p:nvPr/>
        </p:nvSpPr>
        <p:spPr bwMode="auto">
          <a:xfrm>
            <a:off x="793790" y="3642479"/>
            <a:ext cx="6974324" cy="1620917"/>
          </a:xfrm>
          <a:prstGeom prst="roundRect">
            <a:avLst>
              <a:gd name="adj" fmla="val 6770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192788569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70930" y="3642479"/>
            <a:ext cx="91440" cy="1620917"/>
          </a:xfrm>
          <a:prstGeom prst="rect">
            <a:avLst/>
          </a:prstGeom>
        </p:spPr>
      </p:pic>
      <p:sp>
        <p:nvSpPr>
          <p:cNvPr id="240188850" name="Text 5"/>
          <p:cNvSpPr/>
          <p:nvPr/>
        </p:nvSpPr>
        <p:spPr bwMode="auto">
          <a:xfrm>
            <a:off x="1066680" y="3846789"/>
            <a:ext cx="5029674" cy="284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26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Elia Zoccatelli</a:t>
            </a:r>
            <a:r>
              <a:rPr lang="en-US" sz="22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— </a:t>
            </a:r>
            <a:r>
              <a:rPr lang="en-US" sz="220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Database Engineer</a:t>
            </a:r>
            <a:endParaRPr sz="2200"/>
          </a:p>
        </p:txBody>
      </p:sp>
      <p:sp>
        <p:nvSpPr>
          <p:cNvPr id="1493690722" name="Text 6"/>
          <p:cNvSpPr/>
          <p:nvPr/>
        </p:nvSpPr>
        <p:spPr bwMode="auto">
          <a:xfrm>
            <a:off x="1066681" y="4275415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Schema dati locale (SQLite, 11 tabelle) e cloud (Supabase, 15 tabelle con RLS).</a:t>
            </a:r>
            <a:endParaRPr sz="1800"/>
          </a:p>
        </p:txBody>
      </p:sp>
      <p:sp>
        <p:nvSpPr>
          <p:cNvPr id="1002647485" name="Shape 7"/>
          <p:cNvSpPr/>
          <p:nvPr/>
        </p:nvSpPr>
        <p:spPr bwMode="auto">
          <a:xfrm>
            <a:off x="793790" y="5408533"/>
            <a:ext cx="6974324" cy="1620917"/>
          </a:xfrm>
          <a:prstGeom prst="roundRect">
            <a:avLst>
              <a:gd name="adj" fmla="val 6770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89936922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70930" y="5408533"/>
            <a:ext cx="91440" cy="1620917"/>
          </a:xfrm>
          <a:prstGeom prst="rect">
            <a:avLst/>
          </a:prstGeom>
        </p:spPr>
      </p:pic>
      <p:sp>
        <p:nvSpPr>
          <p:cNvPr id="516260660" name="Text 8"/>
          <p:cNvSpPr/>
          <p:nvPr/>
        </p:nvSpPr>
        <p:spPr bwMode="auto">
          <a:xfrm>
            <a:off x="1066680" y="5612843"/>
            <a:ext cx="5711511" cy="284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26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Cristian Marino</a:t>
            </a:r>
            <a:r>
              <a:rPr lang="en-US" sz="22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— </a:t>
            </a:r>
            <a:r>
              <a:rPr lang="en-US" sz="220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Asset Pipeline &amp; CI/CD</a:t>
            </a:r>
            <a:endParaRPr sz="2200"/>
          </a:p>
        </p:txBody>
      </p:sp>
      <p:sp>
        <p:nvSpPr>
          <p:cNvPr id="1192835591" name="Text 9"/>
          <p:cNvSpPr/>
          <p:nvPr/>
        </p:nvSpPr>
        <p:spPr bwMode="auto">
          <a:xfrm>
            <a:off x="1066681" y="6041469"/>
            <a:ext cx="6497122" cy="783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Asset pixel art, pipeline CI/CD a 9 job, build Windows e Web.</a:t>
            </a:r>
            <a:endParaRPr sz="1800"/>
          </a:p>
        </p:txBody>
      </p:sp>
      <p:sp>
        <p:nvSpPr>
          <p:cNvPr id="733590959" name="Text 10"/>
          <p:cNvSpPr/>
          <p:nvPr/>
        </p:nvSpPr>
        <p:spPr bwMode="auto">
          <a:xfrm>
            <a:off x="793790" y="7192685"/>
            <a:ext cx="6974324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4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Tre ruoli complementari, un obiettivo comune.</a:t>
            </a:r>
            <a:endParaRPr lang="en-US" sz="1400"/>
          </a:p>
        </p:txBody>
      </p:sp>
      <p:sp>
        <p:nvSpPr>
          <p:cNvPr id="1479905894" name="Shape 11"/>
          <p:cNvSpPr/>
          <p:nvPr/>
        </p:nvSpPr>
        <p:spPr bwMode="auto">
          <a:xfrm>
            <a:off x="8087797" y="1429703"/>
            <a:ext cx="5886926" cy="6154817"/>
          </a:xfrm>
          <a:prstGeom prst="roundRect">
            <a:avLst>
              <a:gd name="adj" fmla="val 462"/>
            </a:avLst>
          </a:prstGeom>
          <a:solidFill>
            <a:srgbClr val="E7E0FF"/>
          </a:solidFill>
          <a:ln/>
        </p:spPr>
      </p:sp>
      <p:sp>
        <p:nvSpPr>
          <p:cNvPr id="1957279490" name="Text 12"/>
          <p:cNvSpPr/>
          <p:nvPr/>
        </p:nvSpPr>
        <p:spPr bwMode="auto">
          <a:xfrm>
            <a:off x="8269248" y="1574840"/>
            <a:ext cx="2268260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  <a:defRPr/>
            </a:pPr>
            <a:r>
              <a:rPr lang="en-US" sz="175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Cos'è Relax Room?</a:t>
            </a:r>
            <a:endParaRPr lang="en-US" sz="1750"/>
          </a:p>
        </p:txBody>
      </p:sp>
      <p:sp>
        <p:nvSpPr>
          <p:cNvPr id="673949904" name="Text 13"/>
          <p:cNvSpPr/>
          <p:nvPr/>
        </p:nvSpPr>
        <p:spPr bwMode="auto">
          <a:xfrm>
            <a:off x="8269248" y="2003465"/>
            <a:ext cx="5524024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Un'app desktop che trasforma il PC in uno spazio accogliente e personalizzabile.</a:t>
            </a:r>
            <a:endParaRPr sz="1600"/>
          </a:p>
        </p:txBody>
      </p:sp>
      <p:sp>
        <p:nvSpPr>
          <p:cNvPr id="222948593" name="Text 14"/>
          <p:cNvSpPr/>
          <p:nvPr/>
        </p:nvSpPr>
        <p:spPr bwMode="auto">
          <a:xfrm>
            <a:off x="8269248" y="2656523"/>
            <a:ext cx="5524024" cy="265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🎨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Stanza Pixel Art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129 oggetti, 13 categorie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🎵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Musica Lo-Fi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2 tracce ambient con crossfade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🧍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Personaggio animato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Sprite 32×32, 8 direzioni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🐈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Pet Virtuale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Gattino autonomo a stati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📋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Produttività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Strumenti consapevoli</a:t>
            </a:r>
            <a:endParaRPr sz="1700"/>
          </a:p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7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📴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Offline-first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Nessuna connessione richiesta, sync cloud opzionale</a:t>
            </a:r>
            <a:endParaRPr sz="1700"/>
          </a:p>
        </p:txBody>
      </p:sp>
      <p:sp>
        <p:nvSpPr>
          <p:cNvPr id="482455231" name="Text 15"/>
          <p:cNvSpPr/>
          <p:nvPr/>
        </p:nvSpPr>
        <p:spPr bwMode="auto">
          <a:xfrm>
            <a:off x="8541425" y="5470088"/>
            <a:ext cx="5251847" cy="522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5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Non un gioco: un ambiente dove tornare quando serve un momento di calma.</a:t>
            </a:r>
            <a:endParaRPr sz="1500" i="1"/>
          </a:p>
        </p:txBody>
      </p:sp>
      <p:sp>
        <p:nvSpPr>
          <p:cNvPr id="981539938" name="Shape 16"/>
          <p:cNvSpPr/>
          <p:nvPr/>
        </p:nvSpPr>
        <p:spPr bwMode="auto">
          <a:xfrm>
            <a:off x="8269248" y="5470088"/>
            <a:ext cx="22860" cy="522446"/>
          </a:xfrm>
          <a:prstGeom prst="rect">
            <a:avLst/>
          </a:prstGeom>
          <a:solidFill>
            <a:srgbClr val="403CCF"/>
          </a:solidFill>
          <a:ln/>
        </p:spPr>
      </p:sp>
      <p:sp>
        <p:nvSpPr>
          <p:cNvPr id="1754560684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3660" name="Text 0"/>
          <p:cNvSpPr/>
          <p:nvPr/>
        </p:nvSpPr>
        <p:spPr bwMode="auto">
          <a:xfrm>
            <a:off x="731520" y="457200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200" b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Gameplay &amp; Asset</a:t>
            </a:r>
            <a:endParaRPr sz="4200" b="1"/>
          </a:p>
        </p:txBody>
      </p:sp>
      <p:sp>
        <p:nvSpPr>
          <p:cNvPr id="1086042857" name="Text 1"/>
          <p:cNvSpPr/>
          <p:nvPr/>
        </p:nvSpPr>
        <p:spPr bwMode="auto">
          <a:xfrm>
            <a:off x="73152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i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Gameplay</a:t>
            </a:r>
            <a:endParaRPr lang="en-US" sz="2200"/>
          </a:p>
        </p:txBody>
      </p:sp>
      <p:sp>
        <p:nvSpPr>
          <p:cNvPr id="60459063" name="Shape 2"/>
          <p:cNvSpPr/>
          <p:nvPr/>
        </p:nvSpPr>
        <p:spPr bwMode="auto">
          <a:xfrm>
            <a:off x="731520" y="2194560"/>
            <a:ext cx="1920240" cy="1828800"/>
          </a:xfrm>
          <a:prstGeom prst="roundRect">
            <a:avLst>
              <a:gd name="adj" fmla="val 7500"/>
            </a:avLst>
          </a:prstGeom>
          <a:solidFill>
            <a:srgbClr val="4F46E5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1155922486" name="Text 3"/>
          <p:cNvSpPr/>
          <p:nvPr/>
        </p:nvSpPr>
        <p:spPr bwMode="auto">
          <a:xfrm>
            <a:off x="731520" y="23317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3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32×32</a:t>
            </a:r>
            <a:endParaRPr lang="en-US" sz="3600"/>
          </a:p>
        </p:txBody>
      </p:sp>
      <p:sp>
        <p:nvSpPr>
          <p:cNvPr id="361610625" name="Text 4"/>
          <p:cNvSpPr/>
          <p:nvPr/>
        </p:nvSpPr>
        <p:spPr bwMode="auto">
          <a:xfrm>
            <a:off x="73152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sprite px</a:t>
            </a:r>
            <a:endParaRPr lang="en-US" sz="1400"/>
          </a:p>
        </p:txBody>
      </p:sp>
      <p:sp>
        <p:nvSpPr>
          <p:cNvPr id="1219200291" name="Shape 5"/>
          <p:cNvSpPr/>
          <p:nvPr/>
        </p:nvSpPr>
        <p:spPr bwMode="auto">
          <a:xfrm>
            <a:off x="2880360" y="2194560"/>
            <a:ext cx="1920240" cy="1828800"/>
          </a:xfrm>
          <a:prstGeom prst="roundRect">
            <a:avLst>
              <a:gd name="adj" fmla="val 7500"/>
            </a:avLst>
          </a:prstGeom>
          <a:solidFill>
            <a:srgbClr val="ECEBFA"/>
          </a:solidFill>
          <a:ln w="19050">
            <a:solidFill>
              <a:srgbClr val="C4B8F5"/>
            </a:solidFill>
            <a:prstDash val="solid"/>
          </a:ln>
        </p:spPr>
      </p:sp>
      <p:sp>
        <p:nvSpPr>
          <p:cNvPr id="1322657940" name="Text 6"/>
          <p:cNvSpPr/>
          <p:nvPr/>
        </p:nvSpPr>
        <p:spPr bwMode="auto">
          <a:xfrm>
            <a:off x="2880360" y="23317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5600" b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8</a:t>
            </a:r>
            <a:endParaRPr lang="en-US" sz="5600"/>
          </a:p>
        </p:txBody>
      </p:sp>
      <p:sp>
        <p:nvSpPr>
          <p:cNvPr id="711319777" name="Text 7"/>
          <p:cNvSpPr/>
          <p:nvPr/>
        </p:nvSpPr>
        <p:spPr bwMode="auto">
          <a:xfrm>
            <a:off x="288036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direzioni</a:t>
            </a:r>
            <a:endParaRPr lang="en-US" sz="1400"/>
          </a:p>
        </p:txBody>
      </p:sp>
      <p:sp>
        <p:nvSpPr>
          <p:cNvPr id="1533869604" name="Shape 8"/>
          <p:cNvSpPr/>
          <p:nvPr/>
        </p:nvSpPr>
        <p:spPr bwMode="auto">
          <a:xfrm>
            <a:off x="5029200" y="2194560"/>
            <a:ext cx="1920240" cy="1828800"/>
          </a:xfrm>
          <a:prstGeom prst="roundRect">
            <a:avLst>
              <a:gd name="adj" fmla="val 7500"/>
            </a:avLst>
          </a:prstGeom>
          <a:solidFill>
            <a:srgbClr val="ECEBFA"/>
          </a:solidFill>
          <a:ln w="19050">
            <a:solidFill>
              <a:srgbClr val="C4B8F5"/>
            </a:solidFill>
            <a:prstDash val="solid"/>
          </a:ln>
        </p:spPr>
      </p:sp>
      <p:sp>
        <p:nvSpPr>
          <p:cNvPr id="438432082" name="Text 9"/>
          <p:cNvSpPr/>
          <p:nvPr/>
        </p:nvSpPr>
        <p:spPr bwMode="auto">
          <a:xfrm>
            <a:off x="5029200" y="233172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5600" b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120</a:t>
            </a:r>
            <a:endParaRPr lang="en-US" sz="5600"/>
          </a:p>
        </p:txBody>
      </p:sp>
      <p:sp>
        <p:nvSpPr>
          <p:cNvPr id="1396576630" name="Text 10"/>
          <p:cNvSpPr/>
          <p:nvPr/>
        </p:nvSpPr>
        <p:spPr bwMode="auto">
          <a:xfrm>
            <a:off x="502920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px/s</a:t>
            </a:r>
            <a:endParaRPr lang="en-US" sz="1400"/>
          </a:p>
        </p:txBody>
      </p:sp>
      <p:sp>
        <p:nvSpPr>
          <p:cNvPr id="507511120" name="Shape 11"/>
          <p:cNvSpPr/>
          <p:nvPr/>
        </p:nvSpPr>
        <p:spPr bwMode="auto">
          <a:xfrm>
            <a:off x="731520" y="4297680"/>
            <a:ext cx="6217920" cy="1188720"/>
          </a:xfrm>
          <a:prstGeom prst="roundRect">
            <a:avLst>
              <a:gd name="adj" fmla="val 11538"/>
            </a:avLst>
          </a:prstGeom>
          <a:solidFill>
            <a:srgbClr val="ECEBFA"/>
          </a:solidFill>
          <a:ln w="19050">
            <a:solidFill>
              <a:srgbClr val="C4B8F5"/>
            </a:solidFill>
            <a:prstDash val="solid"/>
          </a:ln>
        </p:spPr>
      </p:sp>
      <p:sp>
        <p:nvSpPr>
          <p:cNvPr id="1959313070" name="Text 12"/>
          <p:cNvSpPr/>
          <p:nvPr/>
        </p:nvSpPr>
        <p:spPr bwMode="auto">
          <a:xfrm>
            <a:off x="914400" y="42976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Audio</a:t>
            </a:r>
            <a:br>
              <a:rPr lang="en-US" sz="18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</a:b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2 tracce ambient · crossfade 2s · 3 bus volume</a:t>
            </a:r>
            <a:endParaRPr lang="en-US" sz="1800"/>
          </a:p>
        </p:txBody>
      </p:sp>
      <p:sp>
        <p:nvSpPr>
          <p:cNvPr id="1303210018" name="Text 13"/>
          <p:cNvSpPr/>
          <p:nvPr/>
        </p:nvSpPr>
        <p:spPr bwMode="auto">
          <a:xfrm>
            <a:off x="731520" y="56235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Controlli: </a:t>
            </a: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WASD / frecce direzionali</a:t>
            </a:r>
            <a:endParaRPr sz="1600"/>
          </a:p>
        </p:txBody>
      </p:sp>
      <p:sp>
        <p:nvSpPr>
          <p:cNvPr id="350632335" name="Shape 14"/>
          <p:cNvSpPr/>
          <p:nvPr/>
        </p:nvSpPr>
        <p:spPr bwMode="auto">
          <a:xfrm>
            <a:off x="7315200" y="1645920"/>
            <a:ext cx="0" cy="5943600"/>
          </a:xfrm>
          <a:prstGeom prst="line">
            <a:avLst/>
          </a:prstGeom>
          <a:noFill/>
          <a:ln w="12700">
            <a:solidFill>
              <a:srgbClr val="C4B8F5"/>
            </a:solidFill>
            <a:prstDash val="solid"/>
          </a:ln>
        </p:spPr>
      </p:sp>
      <p:sp>
        <p:nvSpPr>
          <p:cNvPr id="1760251538" name="Text 15"/>
          <p:cNvSpPr/>
          <p:nvPr/>
        </p:nvSpPr>
        <p:spPr bwMode="auto">
          <a:xfrm>
            <a:off x="777240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600" b="1" i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Asset Pipeline</a:t>
            </a:r>
            <a:endParaRPr sz="2600" i="1"/>
          </a:p>
        </p:txBody>
      </p:sp>
      <p:sp>
        <p:nvSpPr>
          <p:cNvPr id="1939450572" name="Text 16"/>
          <p:cNvSpPr/>
          <p:nvPr/>
        </p:nvSpPr>
        <p:spPr bwMode="auto">
          <a:xfrm>
            <a:off x="7772400" y="20574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129</a:t>
            </a: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 </a:t>
            </a:r>
            <a:r>
              <a:rPr lang="en-US" sz="20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oggetti in</a:t>
            </a: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 </a:t>
            </a:r>
            <a:r>
              <a:rPr lang="en-US" sz="4000" b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13</a:t>
            </a: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 </a:t>
            </a:r>
            <a:r>
              <a:rPr lang="en-US" sz="20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categorie</a:t>
            </a:r>
            <a:endParaRPr lang="en-US" sz="4000"/>
          </a:p>
        </p:txBody>
      </p:sp>
      <p:sp>
        <p:nvSpPr>
          <p:cNvPr id="965922897" name="Text 17"/>
          <p:cNvSpPr/>
          <p:nvPr/>
        </p:nvSpPr>
        <p:spPr bwMode="auto">
          <a:xfrm>
            <a:off x="7772400" y="299008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Potted Plants</a:t>
            </a:r>
            <a:endParaRPr sz="1500"/>
          </a:p>
        </p:txBody>
      </p:sp>
      <p:sp>
        <p:nvSpPr>
          <p:cNvPr id="1024611063" name="Shape 18"/>
          <p:cNvSpPr/>
          <p:nvPr/>
        </p:nvSpPr>
        <p:spPr bwMode="auto">
          <a:xfrm>
            <a:off x="9875520" y="3017519"/>
            <a:ext cx="1245654" cy="36576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42183106" name="Text 19"/>
          <p:cNvSpPr/>
          <p:nvPr/>
        </p:nvSpPr>
        <p:spPr bwMode="auto">
          <a:xfrm>
            <a:off x="11258334" y="299008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19</a:t>
            </a:r>
            <a:endParaRPr sz="1500"/>
          </a:p>
        </p:txBody>
      </p:sp>
      <p:sp>
        <p:nvSpPr>
          <p:cNvPr id="213507972" name="Text 20"/>
          <p:cNvSpPr/>
          <p:nvPr/>
        </p:nvSpPr>
        <p:spPr bwMode="auto">
          <a:xfrm>
            <a:off x="7772400" y="35204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Accessories</a:t>
            </a:r>
            <a:endParaRPr sz="1500"/>
          </a:p>
        </p:txBody>
      </p:sp>
      <p:sp>
        <p:nvSpPr>
          <p:cNvPr id="1444862333" name="Shape 21"/>
          <p:cNvSpPr/>
          <p:nvPr/>
        </p:nvSpPr>
        <p:spPr bwMode="auto">
          <a:xfrm>
            <a:off x="9875520" y="3547872"/>
            <a:ext cx="1114533" cy="36576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1537819" name="Text 22"/>
          <p:cNvSpPr/>
          <p:nvPr/>
        </p:nvSpPr>
        <p:spPr bwMode="auto">
          <a:xfrm>
            <a:off x="11127213" y="352044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17</a:t>
            </a:r>
            <a:endParaRPr sz="1500"/>
          </a:p>
        </p:txBody>
      </p:sp>
      <p:sp>
        <p:nvSpPr>
          <p:cNvPr id="409076059" name="Text 23"/>
          <p:cNvSpPr/>
          <p:nvPr/>
        </p:nvSpPr>
        <p:spPr bwMode="auto">
          <a:xfrm>
            <a:off x="7772400" y="405079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Chairs</a:t>
            </a:r>
            <a:endParaRPr sz="1500"/>
          </a:p>
        </p:txBody>
      </p:sp>
      <p:sp>
        <p:nvSpPr>
          <p:cNvPr id="1439046817" name="Shape 24"/>
          <p:cNvSpPr/>
          <p:nvPr/>
        </p:nvSpPr>
        <p:spPr bwMode="auto">
          <a:xfrm>
            <a:off x="9875520" y="4078224"/>
            <a:ext cx="917851" cy="36576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38198029" name="Text 25"/>
          <p:cNvSpPr/>
          <p:nvPr/>
        </p:nvSpPr>
        <p:spPr bwMode="auto">
          <a:xfrm>
            <a:off x="10930531" y="405079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14</a:t>
            </a:r>
            <a:endParaRPr sz="1500"/>
          </a:p>
        </p:txBody>
      </p:sp>
      <p:sp>
        <p:nvSpPr>
          <p:cNvPr id="309867087" name="Text 26"/>
          <p:cNvSpPr/>
          <p:nvPr/>
        </p:nvSpPr>
        <p:spPr bwMode="auto">
          <a:xfrm>
            <a:off x="7772400" y="458114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Plants</a:t>
            </a:r>
            <a:endParaRPr sz="1500"/>
          </a:p>
        </p:txBody>
      </p:sp>
      <p:sp>
        <p:nvSpPr>
          <p:cNvPr id="1416360231" name="Shape 27"/>
          <p:cNvSpPr/>
          <p:nvPr/>
        </p:nvSpPr>
        <p:spPr bwMode="auto">
          <a:xfrm>
            <a:off x="9875520" y="4608576"/>
            <a:ext cx="917851" cy="36576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2362964" name="Text 28"/>
          <p:cNvSpPr/>
          <p:nvPr/>
        </p:nvSpPr>
        <p:spPr bwMode="auto">
          <a:xfrm>
            <a:off x="10930531" y="458114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14</a:t>
            </a:r>
            <a:endParaRPr sz="1500"/>
          </a:p>
        </p:txBody>
      </p:sp>
      <p:sp>
        <p:nvSpPr>
          <p:cNvPr id="1830433685" name="Text 29"/>
          <p:cNvSpPr/>
          <p:nvPr/>
        </p:nvSpPr>
        <p:spPr bwMode="auto">
          <a:xfrm>
            <a:off x="7772400" y="51114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Tables</a:t>
            </a:r>
            <a:endParaRPr sz="1500"/>
          </a:p>
        </p:txBody>
      </p:sp>
      <p:sp>
        <p:nvSpPr>
          <p:cNvPr id="64487497" name="Shape 30"/>
          <p:cNvSpPr/>
          <p:nvPr/>
        </p:nvSpPr>
        <p:spPr bwMode="auto">
          <a:xfrm>
            <a:off x="9875520" y="5138928"/>
            <a:ext cx="786729" cy="36576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24759049" name="Text 31"/>
          <p:cNvSpPr/>
          <p:nvPr/>
        </p:nvSpPr>
        <p:spPr bwMode="auto">
          <a:xfrm>
            <a:off x="10799409" y="511149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12</a:t>
            </a:r>
            <a:endParaRPr sz="1500"/>
          </a:p>
        </p:txBody>
      </p:sp>
      <p:sp>
        <p:nvSpPr>
          <p:cNvPr id="548319377" name="Text 32"/>
          <p:cNvSpPr/>
          <p:nvPr/>
        </p:nvSpPr>
        <p:spPr bwMode="auto">
          <a:xfrm>
            <a:off x="7772400" y="564184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  <a:defRPr/>
            </a:pPr>
            <a:r>
              <a:rPr lang="en-US" sz="1500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Altre (8 cat.)</a:t>
            </a:r>
            <a:endParaRPr sz="1500"/>
          </a:p>
        </p:txBody>
      </p:sp>
      <p:sp>
        <p:nvSpPr>
          <p:cNvPr id="2032602373" name="Shape 33"/>
          <p:cNvSpPr/>
          <p:nvPr/>
        </p:nvSpPr>
        <p:spPr bwMode="auto">
          <a:xfrm>
            <a:off x="9875520" y="5669280"/>
            <a:ext cx="3474720" cy="365760"/>
          </a:xfrm>
          <a:prstGeom prst="roundRect">
            <a:avLst>
              <a:gd name="adj" fmla="val 12500"/>
            </a:avLst>
          </a:prstGeom>
          <a:solidFill>
            <a:srgbClr val="7B6FE8"/>
          </a:solidFill>
          <a:ln w="12700">
            <a:solidFill>
              <a:srgbClr val="7B6FE8"/>
            </a:solidFill>
            <a:prstDash val="solid"/>
          </a:ln>
        </p:spPr>
      </p:sp>
      <p:sp>
        <p:nvSpPr>
          <p:cNvPr id="1788928473" name="Text 34"/>
          <p:cNvSpPr/>
          <p:nvPr/>
        </p:nvSpPr>
        <p:spPr bwMode="auto">
          <a:xfrm>
            <a:off x="13487400" y="564184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53</a:t>
            </a:r>
            <a:endParaRPr sz="1500"/>
          </a:p>
        </p:txBody>
      </p:sp>
      <p:sp>
        <p:nvSpPr>
          <p:cNvPr id="894483481" name=""/>
          <p:cNvSpPr/>
          <p:nvPr/>
        </p:nvSpPr>
        <p:spPr bwMode="auto">
          <a:xfrm rot="0" flipH="0" flipV="0">
            <a:off x="12301841" y="7660957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96378" name="Text 0"/>
          <p:cNvSpPr/>
          <p:nvPr/>
        </p:nvSpPr>
        <p:spPr bwMode="auto">
          <a:xfrm>
            <a:off x="793788" y="633172"/>
            <a:ext cx="5009920" cy="461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98"/>
              </a:lnSpc>
              <a:buNone/>
              <a:defRPr/>
            </a:pPr>
            <a:r>
              <a:rPr lang="en-US" sz="4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Demo &amp; Riflessione</a:t>
            </a:r>
            <a:endParaRPr sz="4200" b="1"/>
          </a:p>
        </p:txBody>
      </p:sp>
      <p:sp>
        <p:nvSpPr>
          <p:cNvPr id="545493265" name="Text 1"/>
          <p:cNvSpPr/>
          <p:nvPr/>
        </p:nvSpPr>
        <p:spPr bwMode="auto">
          <a:xfrm>
            <a:off x="1014887" y="1393267"/>
            <a:ext cx="8227363" cy="195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20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"In un mondo che corre, abbiamo costruito un angolo dove fermarsi."</a:t>
            </a:r>
            <a:endParaRPr sz="2000" i="1"/>
          </a:p>
        </p:txBody>
      </p:sp>
      <p:sp>
        <p:nvSpPr>
          <p:cNvPr id="534522584" name="Shape 2"/>
          <p:cNvSpPr/>
          <p:nvPr/>
        </p:nvSpPr>
        <p:spPr bwMode="auto">
          <a:xfrm>
            <a:off x="793789" y="1285517"/>
            <a:ext cx="15239" cy="410050"/>
          </a:xfrm>
          <a:prstGeom prst="rect">
            <a:avLst/>
          </a:prstGeom>
          <a:solidFill>
            <a:srgbClr val="403CCF"/>
          </a:solidFill>
          <a:ln/>
        </p:spPr>
      </p:sp>
      <p:sp>
        <p:nvSpPr>
          <p:cNvPr id="98251735" name="Text 3"/>
          <p:cNvSpPr/>
          <p:nvPr/>
        </p:nvSpPr>
        <p:spPr bwMode="auto">
          <a:xfrm>
            <a:off x="793788" y="1899045"/>
            <a:ext cx="2930683" cy="23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4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Vediamolo in azione</a:t>
            </a:r>
            <a:endParaRPr sz="2400" b="1"/>
          </a:p>
        </p:txBody>
      </p:sp>
      <p:pic>
        <p:nvPicPr>
          <p:cNvPr id="1898297342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849033" y="2360770"/>
            <a:ext cx="221097" cy="221097"/>
          </a:xfrm>
          <a:prstGeom prst="rect">
            <a:avLst/>
          </a:prstGeom>
        </p:spPr>
      </p:pic>
      <p:sp>
        <p:nvSpPr>
          <p:cNvPr id="1249462212" name="Text 4"/>
          <p:cNvSpPr/>
          <p:nvPr/>
        </p:nvSpPr>
        <p:spPr bwMode="auto">
          <a:xfrm flipH="0" flipV="0">
            <a:off x="1272897" y="2356246"/>
            <a:ext cx="5558805" cy="230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🏠</a:t>
            </a: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Navigazione nella stanza</a:t>
            </a:r>
            <a:endParaRPr sz="2000" b="1"/>
          </a:p>
        </p:txBody>
      </p:sp>
      <p:sp>
        <p:nvSpPr>
          <p:cNvPr id="1948519084" name="Text 5"/>
          <p:cNvSpPr/>
          <p:nvPr/>
        </p:nvSpPr>
        <p:spPr bwMode="auto">
          <a:xfrm>
            <a:off x="1272897" y="2682358"/>
            <a:ext cx="3736238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Decorazioni e salvataggio persistente</a:t>
            </a:r>
            <a:endParaRPr sz="1700"/>
          </a:p>
        </p:txBody>
      </p:sp>
      <p:pic>
        <p:nvPicPr>
          <p:cNvPr id="760191688" name="Image 1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3192064"/>
            <a:ext cx="221097" cy="221097"/>
          </a:xfrm>
          <a:prstGeom prst="rect">
            <a:avLst/>
          </a:prstGeom>
        </p:spPr>
      </p:pic>
      <p:sp>
        <p:nvSpPr>
          <p:cNvPr id="804964998" name="Text 6"/>
          <p:cNvSpPr/>
          <p:nvPr/>
        </p:nvSpPr>
        <p:spPr bwMode="auto">
          <a:xfrm flipH="0" flipV="0">
            <a:off x="1272897" y="3187539"/>
            <a:ext cx="5801996" cy="230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👤</a:t>
            </a: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Selezione e personalizzazione del personaggio</a:t>
            </a:r>
            <a:endParaRPr sz="2000" b="1"/>
          </a:p>
        </p:txBody>
      </p:sp>
      <p:sp>
        <p:nvSpPr>
          <p:cNvPr id="601263106" name="Text 7"/>
          <p:cNvSpPr/>
          <p:nvPr/>
        </p:nvSpPr>
        <p:spPr bwMode="auto">
          <a:xfrm>
            <a:off x="1272897" y="3751776"/>
            <a:ext cx="2830479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Sprite animato in 8 direzioni</a:t>
            </a:r>
            <a:endParaRPr sz="1700"/>
          </a:p>
        </p:txBody>
      </p:sp>
      <p:pic>
        <p:nvPicPr>
          <p:cNvPr id="737465674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4142421"/>
            <a:ext cx="221097" cy="221097"/>
          </a:xfrm>
          <a:prstGeom prst="rect">
            <a:avLst/>
          </a:prstGeom>
        </p:spPr>
      </p:pic>
      <p:sp>
        <p:nvSpPr>
          <p:cNvPr id="804760930" name="Text 8"/>
          <p:cNvSpPr/>
          <p:nvPr/>
        </p:nvSpPr>
        <p:spPr bwMode="auto">
          <a:xfrm flipH="0" flipV="0">
            <a:off x="1272897" y="4127476"/>
            <a:ext cx="4869762" cy="241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🎵</a:t>
            </a: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Musica lo-fi</a:t>
            </a:r>
            <a:endParaRPr sz="2000" b="1"/>
          </a:p>
        </p:txBody>
      </p:sp>
      <p:sp>
        <p:nvSpPr>
          <p:cNvPr id="1324180786" name="Text 9"/>
          <p:cNvSpPr/>
          <p:nvPr/>
        </p:nvSpPr>
        <p:spPr bwMode="auto">
          <a:xfrm>
            <a:off x="1272897" y="4464009"/>
            <a:ext cx="2909543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Crossfade tra tracce ambient</a:t>
            </a:r>
            <a:endParaRPr sz="1700"/>
          </a:p>
        </p:txBody>
      </p:sp>
      <p:pic>
        <p:nvPicPr>
          <p:cNvPr id="1636761848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4854652"/>
            <a:ext cx="221097" cy="221097"/>
          </a:xfrm>
          <a:prstGeom prst="rect">
            <a:avLst/>
          </a:prstGeom>
        </p:spPr>
      </p:pic>
      <p:sp>
        <p:nvSpPr>
          <p:cNvPr id="1415265533" name="Text 10"/>
          <p:cNvSpPr/>
          <p:nvPr/>
        </p:nvSpPr>
        <p:spPr bwMode="auto">
          <a:xfrm flipH="0" flipV="0">
            <a:off x="1272897" y="4850128"/>
            <a:ext cx="5011624" cy="23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⚙️</a:t>
            </a: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Pannello impostazioni e profilo</a:t>
            </a:r>
            <a:endParaRPr sz="2000" b="1"/>
          </a:p>
        </p:txBody>
      </p:sp>
      <p:sp>
        <p:nvSpPr>
          <p:cNvPr id="2121812136" name="Text 11"/>
          <p:cNvSpPr/>
          <p:nvPr/>
        </p:nvSpPr>
        <p:spPr bwMode="auto">
          <a:xfrm>
            <a:off x="1272897" y="5176240"/>
            <a:ext cx="1938952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Controllo completo</a:t>
            </a:r>
            <a:endParaRPr sz="1700"/>
          </a:p>
        </p:txBody>
      </p:sp>
      <p:pic>
        <p:nvPicPr>
          <p:cNvPr id="1707673718" name="Image 4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5685946"/>
            <a:ext cx="221097" cy="221097"/>
          </a:xfrm>
          <a:prstGeom prst="rect">
            <a:avLst/>
          </a:prstGeom>
        </p:spPr>
      </p:pic>
      <p:sp>
        <p:nvSpPr>
          <p:cNvPr id="313399093" name="Text 12"/>
          <p:cNvSpPr/>
          <p:nvPr/>
        </p:nvSpPr>
        <p:spPr bwMode="auto">
          <a:xfrm flipH="0" flipV="0">
            <a:off x="1272897" y="5681423"/>
            <a:ext cx="4748166" cy="231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🔐</a:t>
            </a: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Autenticazione </a:t>
            </a: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duale</a:t>
            </a:r>
            <a:endParaRPr sz="2000" b="1"/>
          </a:p>
        </p:txBody>
      </p:sp>
      <p:sp>
        <p:nvSpPr>
          <p:cNvPr id="1775997796" name="Text 13"/>
          <p:cNvSpPr/>
          <p:nvPr/>
        </p:nvSpPr>
        <p:spPr bwMode="auto">
          <a:xfrm>
            <a:off x="1272897" y="6007535"/>
            <a:ext cx="2391204" cy="195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Locale + Supabase Auth</a:t>
            </a:r>
            <a:endParaRPr sz="1700"/>
          </a:p>
        </p:txBody>
      </p:sp>
      <p:pic>
        <p:nvPicPr>
          <p:cNvPr id="1912076946" name="Image 5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49033" y="6517241"/>
            <a:ext cx="221097" cy="221097"/>
          </a:xfrm>
          <a:prstGeom prst="rect">
            <a:avLst/>
          </a:prstGeom>
        </p:spPr>
      </p:pic>
      <p:sp>
        <p:nvSpPr>
          <p:cNvPr id="552467746" name="Text 14"/>
          <p:cNvSpPr/>
          <p:nvPr/>
        </p:nvSpPr>
        <p:spPr bwMode="auto">
          <a:xfrm flipH="0" flipV="0">
            <a:off x="1272897" y="6512717"/>
            <a:ext cx="4652246" cy="230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000" b="1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🐾</a:t>
            </a: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Pet gattino</a:t>
            </a:r>
            <a:endParaRPr sz="2000" b="1"/>
          </a:p>
        </p:txBody>
      </p:sp>
      <p:sp>
        <p:nvSpPr>
          <p:cNvPr id="1364857885" name="Text 15"/>
          <p:cNvSpPr/>
          <p:nvPr/>
        </p:nvSpPr>
        <p:spPr bwMode="auto">
          <a:xfrm flipH="0" flipV="0">
            <a:off x="1272897" y="6838351"/>
            <a:ext cx="4652246" cy="476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Autonomo, macchina a stati</a:t>
            </a:r>
            <a:endParaRPr sz="1700"/>
          </a:p>
        </p:txBody>
      </p:sp>
      <p:sp>
        <p:nvSpPr>
          <p:cNvPr id="52918001" name="Text 16"/>
          <p:cNvSpPr/>
          <p:nvPr/>
        </p:nvSpPr>
        <p:spPr bwMode="auto">
          <a:xfrm>
            <a:off x="7502602" y="1899045"/>
            <a:ext cx="3709350" cy="231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24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Un progetto che dimostra</a:t>
            </a:r>
            <a:endParaRPr sz="2400" b="1"/>
          </a:p>
        </p:txBody>
      </p:sp>
      <p:sp>
        <p:nvSpPr>
          <p:cNvPr id="595013659" name="Shape 17"/>
          <p:cNvSpPr/>
          <p:nvPr/>
        </p:nvSpPr>
        <p:spPr bwMode="auto">
          <a:xfrm>
            <a:off x="7502603" y="2237184"/>
            <a:ext cx="3122888" cy="1040486"/>
          </a:xfrm>
          <a:prstGeom prst="roundRect">
            <a:avLst>
              <a:gd name="adj" fmla="val 7031"/>
            </a:avLst>
          </a:prstGeom>
          <a:solidFill>
            <a:srgbClr val="FBFAFF"/>
          </a:solidFill>
          <a:ln w="15240">
            <a:solidFill>
              <a:srgbClr val="D0CED9"/>
            </a:solidFill>
            <a:prstDash val="solid"/>
          </a:ln>
        </p:spPr>
      </p:sp>
      <p:pic>
        <p:nvPicPr>
          <p:cNvPr id="902078569" name="Image 6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487363" y="2237184"/>
            <a:ext cx="60959" cy="1040486"/>
          </a:xfrm>
          <a:prstGeom prst="rect">
            <a:avLst/>
          </a:prstGeom>
        </p:spPr>
      </p:pic>
      <p:sp>
        <p:nvSpPr>
          <p:cNvPr id="880819314" name="Text 18"/>
          <p:cNvSpPr/>
          <p:nvPr/>
        </p:nvSpPr>
        <p:spPr bwMode="auto">
          <a:xfrm>
            <a:off x="7710962" y="2399823"/>
            <a:ext cx="2846139" cy="23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8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Architettura</a:t>
            </a:r>
            <a:r>
              <a:rPr lang="en-US" sz="18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 professionale</a:t>
            </a:r>
            <a:endParaRPr sz="1800" b="1"/>
          </a:p>
        </p:txBody>
      </p:sp>
      <p:sp>
        <p:nvSpPr>
          <p:cNvPr id="526906901" name="Text 19"/>
          <p:cNvSpPr/>
          <p:nvPr/>
        </p:nvSpPr>
        <p:spPr bwMode="auto">
          <a:xfrm>
            <a:off x="7710963" y="2725935"/>
            <a:ext cx="275189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46 segnali, 8 autoload, zero accoppiamento</a:t>
            </a:r>
            <a:endParaRPr sz="1500"/>
          </a:p>
        </p:txBody>
      </p:sp>
      <p:sp>
        <p:nvSpPr>
          <p:cNvPr id="125144980" name="Shape 20"/>
          <p:cNvSpPr/>
          <p:nvPr/>
        </p:nvSpPr>
        <p:spPr bwMode="auto">
          <a:xfrm>
            <a:off x="10721220" y="2237184"/>
            <a:ext cx="3123009" cy="1040486"/>
          </a:xfrm>
          <a:prstGeom prst="roundRect">
            <a:avLst>
              <a:gd name="adj" fmla="val 7031"/>
            </a:avLst>
          </a:prstGeom>
          <a:solidFill>
            <a:srgbClr val="FBFAFF"/>
          </a:solidFill>
          <a:ln w="15240">
            <a:solidFill>
              <a:srgbClr val="D0CED9"/>
            </a:solidFill>
            <a:prstDash val="solid"/>
          </a:ln>
        </p:spPr>
      </p:sp>
      <p:pic>
        <p:nvPicPr>
          <p:cNvPr id="1954545903" name="Image 7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0705980" y="2237184"/>
            <a:ext cx="60959" cy="1040486"/>
          </a:xfrm>
          <a:prstGeom prst="rect">
            <a:avLst/>
          </a:prstGeom>
        </p:spPr>
      </p:pic>
      <p:sp>
        <p:nvSpPr>
          <p:cNvPr id="1583305750" name="Text 21"/>
          <p:cNvSpPr/>
          <p:nvPr/>
        </p:nvSpPr>
        <p:spPr bwMode="auto">
          <a:xfrm>
            <a:off x="10929578" y="2399823"/>
            <a:ext cx="2452119" cy="231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8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Sviluppo collaborativo</a:t>
            </a:r>
            <a:endParaRPr sz="1800" b="1"/>
          </a:p>
        </p:txBody>
      </p:sp>
      <p:sp>
        <p:nvSpPr>
          <p:cNvPr id="1856269481" name="Text 22"/>
          <p:cNvSpPr/>
          <p:nvPr/>
        </p:nvSpPr>
        <p:spPr bwMode="auto">
          <a:xfrm>
            <a:off x="10929579" y="2725935"/>
            <a:ext cx="275201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Pipeline CI/CD con 9 job paralleli</a:t>
            </a:r>
            <a:endParaRPr sz="1500"/>
          </a:p>
        </p:txBody>
      </p:sp>
      <p:sp>
        <p:nvSpPr>
          <p:cNvPr id="421747186" name="Shape 23"/>
          <p:cNvSpPr/>
          <p:nvPr/>
        </p:nvSpPr>
        <p:spPr bwMode="auto">
          <a:xfrm>
            <a:off x="7502603" y="3373398"/>
            <a:ext cx="3122888" cy="1040486"/>
          </a:xfrm>
          <a:prstGeom prst="roundRect">
            <a:avLst>
              <a:gd name="adj" fmla="val 7031"/>
            </a:avLst>
          </a:prstGeom>
          <a:solidFill>
            <a:srgbClr val="FBFAFF"/>
          </a:solidFill>
          <a:ln w="15240">
            <a:solidFill>
              <a:srgbClr val="D0CED9"/>
            </a:solidFill>
            <a:prstDash val="solid"/>
          </a:ln>
        </p:spPr>
      </p:sp>
      <p:pic>
        <p:nvPicPr>
          <p:cNvPr id="571774193" name="Image 8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487363" y="3373398"/>
            <a:ext cx="60959" cy="1040486"/>
          </a:xfrm>
          <a:prstGeom prst="rect">
            <a:avLst/>
          </a:prstGeom>
        </p:spPr>
      </p:pic>
      <p:sp>
        <p:nvSpPr>
          <p:cNvPr id="1369360910" name="Text 24"/>
          <p:cNvSpPr/>
          <p:nvPr/>
        </p:nvSpPr>
        <p:spPr bwMode="auto">
          <a:xfrm>
            <a:off x="7710962" y="3536034"/>
            <a:ext cx="2020037" cy="231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8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Design offline-first</a:t>
            </a:r>
            <a:endParaRPr sz="1800" b="1"/>
          </a:p>
        </p:txBody>
      </p:sp>
      <p:sp>
        <p:nvSpPr>
          <p:cNvPr id="2037760838" name="Text 25"/>
          <p:cNvSpPr/>
          <p:nvPr/>
        </p:nvSpPr>
        <p:spPr bwMode="auto">
          <a:xfrm>
            <a:off x="7710963" y="3862148"/>
            <a:ext cx="275189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Funziona sempre, anche senza connessione</a:t>
            </a:r>
            <a:endParaRPr sz="1500"/>
          </a:p>
        </p:txBody>
      </p:sp>
      <p:sp>
        <p:nvSpPr>
          <p:cNvPr id="1029597806" name="Shape 26"/>
          <p:cNvSpPr/>
          <p:nvPr/>
        </p:nvSpPr>
        <p:spPr bwMode="auto">
          <a:xfrm>
            <a:off x="10721220" y="3373398"/>
            <a:ext cx="3123009" cy="1040486"/>
          </a:xfrm>
          <a:prstGeom prst="roundRect">
            <a:avLst>
              <a:gd name="adj" fmla="val 7031"/>
            </a:avLst>
          </a:prstGeom>
          <a:solidFill>
            <a:srgbClr val="FBFAFF"/>
          </a:solidFill>
          <a:ln w="15240">
            <a:solidFill>
              <a:srgbClr val="D0CED9"/>
            </a:solidFill>
            <a:prstDash val="solid"/>
          </a:ln>
        </p:spPr>
      </p:sp>
      <p:pic>
        <p:nvPicPr>
          <p:cNvPr id="1477360889" name="Image 9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0705980" y="3373398"/>
            <a:ext cx="60959" cy="1040486"/>
          </a:xfrm>
          <a:prstGeom prst="rect">
            <a:avLst/>
          </a:prstGeom>
        </p:spPr>
      </p:pic>
      <p:sp>
        <p:nvSpPr>
          <p:cNvPr id="1227815639" name="Text 27"/>
          <p:cNvSpPr/>
          <p:nvPr/>
        </p:nvSpPr>
        <p:spPr bwMode="auto">
          <a:xfrm>
            <a:off x="10929578" y="3536034"/>
            <a:ext cx="2376669" cy="231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99"/>
              </a:lnSpc>
              <a:buNone/>
              <a:defRPr/>
            </a:pPr>
            <a:r>
              <a:rPr lang="en-US" sz="18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10.650 righe di codice</a:t>
            </a:r>
            <a:endParaRPr sz="1800" b="1"/>
          </a:p>
        </p:txBody>
      </p:sp>
      <p:sp>
        <p:nvSpPr>
          <p:cNvPr id="322085428" name="Text 28"/>
          <p:cNvSpPr/>
          <p:nvPr/>
        </p:nvSpPr>
        <p:spPr bwMode="auto">
          <a:xfrm>
            <a:off x="10929579" y="3862148"/>
            <a:ext cx="2752011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Pulito, testabile, pronto a scalare</a:t>
            </a:r>
            <a:endParaRPr sz="1500"/>
          </a:p>
        </p:txBody>
      </p:sp>
      <p:sp>
        <p:nvSpPr>
          <p:cNvPr id="1412029270" name="Shape 31"/>
          <p:cNvSpPr/>
          <p:nvPr/>
        </p:nvSpPr>
        <p:spPr bwMode="auto">
          <a:xfrm>
            <a:off x="7487362" y="4745354"/>
            <a:ext cx="6341625" cy="681513"/>
          </a:xfrm>
          <a:prstGeom prst="roundRect">
            <a:avLst>
              <a:gd name="adj" fmla="val 3245"/>
            </a:avLst>
          </a:prstGeom>
          <a:solidFill>
            <a:srgbClr val="B6D6FC"/>
          </a:solidFill>
          <a:ln/>
        </p:spPr>
      </p:sp>
      <p:pic>
        <p:nvPicPr>
          <p:cNvPr id="319391543" name="Image 10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618868" y="5072419"/>
            <a:ext cx="184189" cy="147398"/>
          </a:xfrm>
          <a:prstGeom prst="rect">
            <a:avLst/>
          </a:prstGeom>
        </p:spPr>
      </p:pic>
      <p:sp>
        <p:nvSpPr>
          <p:cNvPr id="2070480021" name="Text 32"/>
          <p:cNvSpPr/>
          <p:nvPr/>
        </p:nvSpPr>
        <p:spPr bwMode="auto">
          <a:xfrm>
            <a:off x="7966351" y="4877872"/>
            <a:ext cx="5715237" cy="38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99"/>
              </a:lnSpc>
              <a:buNone/>
              <a:defRPr/>
            </a:pPr>
            <a:r>
              <a:rPr lang="en-US" sz="14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Il database cloud ha già </a:t>
            </a:r>
            <a:r>
              <a:rPr lang="en-US" sz="1400" b="1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15 tabelle</a:t>
            </a:r>
            <a:r>
              <a:rPr lang="en-US" sz="14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 una parte in uso attivo, le altre pronte per le funzionalità future.</a:t>
            </a:r>
            <a:endParaRPr sz="1400"/>
          </a:p>
        </p:txBody>
      </p:sp>
      <p:sp>
        <p:nvSpPr>
          <p:cNvPr id="1716601058" name=""/>
          <p:cNvSpPr/>
          <p:nvPr/>
        </p:nvSpPr>
        <p:spPr bwMode="auto">
          <a:xfrm rot="0" flipH="0" flipV="0">
            <a:off x="12206590" y="7660956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319469944" name="Text 15"/>
          <p:cNvSpPr/>
          <p:nvPr/>
        </p:nvSpPr>
        <p:spPr bwMode="auto">
          <a:xfrm>
            <a:off x="7502602" y="5752674"/>
            <a:ext cx="5420616" cy="3368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98"/>
              </a:lnSpc>
              <a:buNone/>
              <a:defRPr/>
            </a:pPr>
            <a:r>
              <a:rPr lang="en-US" sz="2000" b="1" u="none">
                <a:solidFill>
                  <a:srgbClr val="C00000"/>
                </a:solidFill>
                <a:latin typeface="Libre Baskerville"/>
                <a:ea typeface="Libre Baskerville"/>
                <a:cs typeface="Libre Baskerville"/>
              </a:rPr>
              <a:t>E ORA?? Pausa per mostrarvi una demo con</a:t>
            </a:r>
            <a:endParaRPr sz="2000" b="1" u="none">
              <a:solidFill>
                <a:srgbClr val="C00000"/>
              </a:solidFill>
              <a:latin typeface="Libre Baskerville"/>
              <a:ea typeface="Libre Baskerville"/>
              <a:cs typeface="Libre Baskerville"/>
            </a:endParaRPr>
          </a:p>
          <a:p>
            <a:pPr marL="0" indent="0" algn="l">
              <a:lnSpc>
                <a:spcPts val="2498"/>
              </a:lnSpc>
              <a:buNone/>
              <a:defRPr/>
            </a:pPr>
            <a:r>
              <a:rPr lang="en-US" sz="2000" b="1" u="none">
                <a:solidFill>
                  <a:srgbClr val="C00000"/>
                </a:solidFill>
                <a:latin typeface="Libre Baskerville"/>
                <a:ea typeface="Libre Baskerville"/>
                <a:cs typeface="Libre Baskerville"/>
              </a:rPr>
              <a:t>Tutorial Interattivo</a:t>
            </a:r>
            <a:endParaRPr sz="2000" b="1" u="none">
              <a:solidFill>
                <a:srgbClr val="C00000"/>
              </a:solidFill>
            </a:endParaRPr>
          </a:p>
        </p:txBody>
      </p:sp>
      <p:sp>
        <p:nvSpPr>
          <p:cNvPr id="508607235" name="Text 16"/>
          <p:cNvSpPr/>
          <p:nvPr/>
        </p:nvSpPr>
        <p:spPr bwMode="auto">
          <a:xfrm>
            <a:off x="7502604" y="6485648"/>
            <a:ext cx="6021465" cy="62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98"/>
              </a:lnSpc>
              <a:buNone/>
              <a:defRPr/>
            </a:pPr>
            <a:r>
              <a:rPr lang="en-US" sz="16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9 passi guidati, avanzamento a segnali: aspetta l'azione del giocatore.</a:t>
            </a:r>
            <a:endParaRPr sz="1600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6F6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970461" name="Text 0"/>
          <p:cNvSpPr/>
          <p:nvPr/>
        </p:nvSpPr>
        <p:spPr bwMode="auto">
          <a:xfrm>
            <a:off x="731520" y="457200"/>
            <a:ext cx="1316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200" b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Flusso Signal-Driven</a:t>
            </a:r>
            <a:endParaRPr sz="4200" b="1"/>
          </a:p>
        </p:txBody>
      </p:sp>
      <p:sp>
        <p:nvSpPr>
          <p:cNvPr id="1616452807" name="Text 1"/>
          <p:cNvSpPr/>
          <p:nvPr/>
        </p:nvSpPr>
        <p:spPr bwMode="auto">
          <a:xfrm>
            <a:off x="731520" y="1280160"/>
            <a:ext cx="1316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Zero accoppiamento. </a:t>
            </a:r>
            <a:r>
              <a:rPr lang="en-US" sz="22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Tutto passa dal SignalBus — 46 segnali tipizzati.</a:t>
            </a:r>
            <a:endParaRPr sz="2200"/>
          </a:p>
        </p:txBody>
      </p:sp>
      <p:sp>
        <p:nvSpPr>
          <p:cNvPr id="662261594" name="Shape 2"/>
          <p:cNvSpPr/>
          <p:nvPr/>
        </p:nvSpPr>
        <p:spPr bwMode="auto">
          <a:xfrm>
            <a:off x="5577840" y="3291840"/>
            <a:ext cx="3474720" cy="2194560"/>
          </a:xfrm>
          <a:prstGeom prst="ellipse">
            <a:avLst/>
          </a:prstGeom>
          <a:solidFill>
            <a:srgbClr val="C4B8F5">
              <a:alpha val="50000"/>
            </a:srgbClr>
          </a:solidFill>
          <a:ln/>
        </p:spPr>
      </p:sp>
      <p:sp>
        <p:nvSpPr>
          <p:cNvPr id="36932084" name="Shape 3"/>
          <p:cNvSpPr/>
          <p:nvPr/>
        </p:nvSpPr>
        <p:spPr bwMode="auto">
          <a:xfrm>
            <a:off x="5943600" y="3566160"/>
            <a:ext cx="2743200" cy="1645920"/>
          </a:xfrm>
          <a:prstGeom prst="roundRect">
            <a:avLst>
              <a:gd name="adj" fmla="val 11111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45356572" name="Text 4"/>
          <p:cNvSpPr/>
          <p:nvPr/>
        </p:nvSpPr>
        <p:spPr bwMode="auto">
          <a:xfrm>
            <a:off x="5943600" y="356616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SignalBus</a:t>
            </a:r>
            <a:br>
              <a:rPr lang="en-US" sz="28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</a:br>
            <a:r>
              <a:rPr lang="en-US" sz="140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46 segnali tipizzati</a:t>
            </a:r>
            <a:endParaRPr lang="en-US" sz="2800"/>
          </a:p>
        </p:txBody>
      </p:sp>
      <p:sp>
        <p:nvSpPr>
          <p:cNvPr id="431168087" name="Shape 5"/>
          <p:cNvSpPr/>
          <p:nvPr/>
        </p:nvSpPr>
        <p:spPr bwMode="auto">
          <a:xfrm>
            <a:off x="7242048" y="345643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0945375" name="Shape 6"/>
          <p:cNvSpPr/>
          <p:nvPr/>
        </p:nvSpPr>
        <p:spPr bwMode="auto">
          <a:xfrm>
            <a:off x="731520" y="2286000"/>
            <a:ext cx="2743200" cy="14630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C4B8F5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559362269" name="Shape 7"/>
          <p:cNvSpPr/>
          <p:nvPr/>
        </p:nvSpPr>
        <p:spPr bwMode="auto">
          <a:xfrm>
            <a:off x="914400" y="2468880"/>
            <a:ext cx="164592" cy="16459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95069565" name="Text 8"/>
          <p:cNvSpPr/>
          <p:nvPr/>
        </p:nvSpPr>
        <p:spPr bwMode="auto">
          <a:xfrm>
            <a:off x="731520" y="22860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Input UI</a:t>
            </a:r>
            <a:br>
              <a:rPr lang="en-US" sz="18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</a:b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azione utente</a:t>
            </a:r>
            <a:endParaRPr lang="en-US" sz="1800"/>
          </a:p>
        </p:txBody>
      </p:sp>
      <p:sp>
        <p:nvSpPr>
          <p:cNvPr id="1627406485" name="Shape 9"/>
          <p:cNvSpPr/>
          <p:nvPr/>
        </p:nvSpPr>
        <p:spPr bwMode="auto">
          <a:xfrm>
            <a:off x="3455919" y="3125625"/>
            <a:ext cx="3154680" cy="54864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490836501" name="Shape 10"/>
          <p:cNvSpPr/>
          <p:nvPr/>
        </p:nvSpPr>
        <p:spPr bwMode="auto">
          <a:xfrm flipH="1" flipV="1">
            <a:off x="3493521" y="2909415"/>
            <a:ext cx="3154680" cy="548640"/>
          </a:xfrm>
          <a:prstGeom prst="line">
            <a:avLst/>
          </a:prstGeom>
          <a:noFill/>
          <a:ln w="25400">
            <a:solidFill>
              <a:srgbClr val="7B6FE8"/>
            </a:solidFill>
            <a:prstDash val="dash"/>
            <a:tailEnd type="triangle"/>
          </a:ln>
        </p:spPr>
      </p:sp>
      <p:sp>
        <p:nvSpPr>
          <p:cNvPr id="918571311" name="Text 11"/>
          <p:cNvSpPr/>
          <p:nvPr/>
        </p:nvSpPr>
        <p:spPr bwMode="auto">
          <a:xfrm>
            <a:off x="4137660" y="2971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i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user_action</a:t>
            </a:r>
            <a:endParaRPr sz="1300"/>
          </a:p>
        </p:txBody>
      </p:sp>
      <p:sp>
        <p:nvSpPr>
          <p:cNvPr id="1003038752" name="Shape 12"/>
          <p:cNvSpPr/>
          <p:nvPr/>
        </p:nvSpPr>
        <p:spPr bwMode="auto">
          <a:xfrm>
            <a:off x="11155680" y="2286000"/>
            <a:ext cx="2743200" cy="14630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C4B8F5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289973181" name="Shape 13"/>
          <p:cNvSpPr/>
          <p:nvPr/>
        </p:nvSpPr>
        <p:spPr bwMode="auto">
          <a:xfrm>
            <a:off x="11338560" y="2468880"/>
            <a:ext cx="164592" cy="16459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86422310" name="Text 14"/>
          <p:cNvSpPr/>
          <p:nvPr/>
        </p:nvSpPr>
        <p:spPr bwMode="auto">
          <a:xfrm>
            <a:off x="11155680" y="22860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GameManager</a:t>
            </a:r>
            <a:br>
              <a:rPr lang="en-US" sz="18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</a:b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logica e stato</a:t>
            </a:r>
            <a:endParaRPr sz="1800"/>
          </a:p>
        </p:txBody>
      </p:sp>
      <p:sp>
        <p:nvSpPr>
          <p:cNvPr id="616501241" name="Shape 15"/>
          <p:cNvSpPr/>
          <p:nvPr/>
        </p:nvSpPr>
        <p:spPr bwMode="auto">
          <a:xfrm flipH="1">
            <a:off x="7982198" y="2909415"/>
            <a:ext cx="3154680" cy="54864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955017790" name="Shape 16"/>
          <p:cNvSpPr/>
          <p:nvPr/>
        </p:nvSpPr>
        <p:spPr bwMode="auto">
          <a:xfrm flipV="1">
            <a:off x="8019801" y="3125625"/>
            <a:ext cx="3154680" cy="548640"/>
          </a:xfrm>
          <a:prstGeom prst="line">
            <a:avLst/>
          </a:prstGeom>
          <a:noFill/>
          <a:ln w="25400">
            <a:solidFill>
              <a:srgbClr val="7B6FE8"/>
            </a:solidFill>
            <a:prstDash val="dash"/>
            <a:tailEnd type="triangle"/>
          </a:ln>
        </p:spPr>
      </p:sp>
      <p:sp>
        <p:nvSpPr>
          <p:cNvPr id="1313827485" name="Text 17"/>
          <p:cNvSpPr/>
          <p:nvPr/>
        </p:nvSpPr>
        <p:spPr bwMode="auto">
          <a:xfrm>
            <a:off x="8663940" y="29718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i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state_changed</a:t>
            </a:r>
            <a:endParaRPr sz="1300"/>
          </a:p>
        </p:txBody>
      </p:sp>
      <p:sp>
        <p:nvSpPr>
          <p:cNvPr id="1437973011" name="Shape 18"/>
          <p:cNvSpPr/>
          <p:nvPr/>
        </p:nvSpPr>
        <p:spPr bwMode="auto">
          <a:xfrm>
            <a:off x="731520" y="5577840"/>
            <a:ext cx="2743200" cy="14630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C4B8F5"/>
            </a:solidFill>
            <a:prstDash val="solid"/>
          </a:ln>
        </p:spPr>
      </p:sp>
      <p:sp>
        <p:nvSpPr>
          <p:cNvPr id="468864781" name="Shape 19"/>
          <p:cNvSpPr/>
          <p:nvPr/>
        </p:nvSpPr>
        <p:spPr bwMode="auto">
          <a:xfrm>
            <a:off x="914400" y="5760720"/>
            <a:ext cx="164592" cy="16459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66047356" name="Text 20"/>
          <p:cNvSpPr/>
          <p:nvPr/>
        </p:nvSpPr>
        <p:spPr bwMode="auto">
          <a:xfrm>
            <a:off x="731520" y="5577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SaveManager</a:t>
            </a:r>
            <a:br>
              <a:rPr lang="en-US" sz="20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</a:b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JSON + SQLite WAL</a:t>
            </a:r>
            <a:endParaRPr sz="2000"/>
          </a:p>
        </p:txBody>
      </p:sp>
      <p:sp>
        <p:nvSpPr>
          <p:cNvPr id="167779754" name="Shape 21"/>
          <p:cNvSpPr/>
          <p:nvPr/>
        </p:nvSpPr>
        <p:spPr bwMode="auto">
          <a:xfrm flipV="1">
            <a:off x="3510768" y="5315717"/>
            <a:ext cx="3154680" cy="109728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273838290" name="Shape 22"/>
          <p:cNvSpPr/>
          <p:nvPr/>
        </p:nvSpPr>
        <p:spPr bwMode="auto">
          <a:xfrm flipH="1">
            <a:off x="3438672" y="5108442"/>
            <a:ext cx="3154680" cy="1097280"/>
          </a:xfrm>
          <a:prstGeom prst="line">
            <a:avLst/>
          </a:prstGeom>
          <a:noFill/>
          <a:ln w="25400">
            <a:solidFill>
              <a:srgbClr val="7B6FE8"/>
            </a:solidFill>
            <a:prstDash val="dash"/>
            <a:tailEnd type="triangle"/>
          </a:ln>
        </p:spPr>
      </p:sp>
      <p:sp>
        <p:nvSpPr>
          <p:cNvPr id="66059695" name="Text 23"/>
          <p:cNvSpPr/>
          <p:nvPr/>
        </p:nvSpPr>
        <p:spPr bwMode="auto">
          <a:xfrm>
            <a:off x="4137660" y="5440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i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save_complete</a:t>
            </a:r>
            <a:endParaRPr sz="1300"/>
          </a:p>
        </p:txBody>
      </p:sp>
      <p:sp>
        <p:nvSpPr>
          <p:cNvPr id="1610557016" name="Shape 24"/>
          <p:cNvSpPr/>
          <p:nvPr/>
        </p:nvSpPr>
        <p:spPr bwMode="auto">
          <a:xfrm>
            <a:off x="11155680" y="5577840"/>
            <a:ext cx="2743200" cy="146304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C4B8F5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315229676" name="Shape 25"/>
          <p:cNvSpPr/>
          <p:nvPr/>
        </p:nvSpPr>
        <p:spPr bwMode="auto">
          <a:xfrm>
            <a:off x="11338560" y="5760720"/>
            <a:ext cx="164592" cy="16459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73247185" name="Text 26"/>
          <p:cNvSpPr/>
          <p:nvPr/>
        </p:nvSpPr>
        <p:spPr bwMode="auto">
          <a:xfrm>
            <a:off x="11155680" y="5577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SupabaseClient</a:t>
            </a:r>
            <a:br>
              <a:rPr lang="en-US" sz="2000" b="1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</a:b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sync cloud, 15 tbl.</a:t>
            </a:r>
            <a:endParaRPr lang="en-US" sz="1800"/>
          </a:p>
        </p:txBody>
      </p:sp>
      <p:sp>
        <p:nvSpPr>
          <p:cNvPr id="175179858" name="Shape 27"/>
          <p:cNvSpPr/>
          <p:nvPr/>
        </p:nvSpPr>
        <p:spPr bwMode="auto">
          <a:xfrm flipH="1" flipV="1">
            <a:off x="8037048" y="5108442"/>
            <a:ext cx="3154680" cy="109728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1081900679" name="Shape 28"/>
          <p:cNvSpPr/>
          <p:nvPr/>
        </p:nvSpPr>
        <p:spPr bwMode="auto">
          <a:xfrm>
            <a:off x="7964952" y="5315717"/>
            <a:ext cx="3154680" cy="1097280"/>
          </a:xfrm>
          <a:prstGeom prst="line">
            <a:avLst/>
          </a:prstGeom>
          <a:noFill/>
          <a:ln w="25400">
            <a:solidFill>
              <a:srgbClr val="7B6FE8"/>
            </a:solidFill>
            <a:prstDash val="dash"/>
            <a:tailEnd type="triangle"/>
          </a:ln>
        </p:spPr>
      </p:sp>
      <p:sp>
        <p:nvSpPr>
          <p:cNvPr id="42420440" name="Text 29"/>
          <p:cNvSpPr/>
          <p:nvPr/>
        </p:nvSpPr>
        <p:spPr bwMode="auto">
          <a:xfrm>
            <a:off x="8663940" y="5440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 i="1">
                <a:solidFill>
                  <a:srgbClr val="4F46E5"/>
                </a:solidFill>
                <a:latin typeface="Open Sans"/>
                <a:ea typeface="Open Sans"/>
                <a:cs typeface="Open Sans"/>
              </a:rPr>
              <a:t>sync_done</a:t>
            </a:r>
            <a:endParaRPr sz="1300"/>
          </a:p>
        </p:txBody>
      </p:sp>
      <p:sp>
        <p:nvSpPr>
          <p:cNvPr id="598725559" name="Shape 30"/>
          <p:cNvSpPr/>
          <p:nvPr/>
        </p:nvSpPr>
        <p:spPr bwMode="auto">
          <a:xfrm>
            <a:off x="8961120" y="7498080"/>
            <a:ext cx="34747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B8F5"/>
            </a:solidFill>
            <a:prstDash val="solid"/>
          </a:ln>
        </p:spPr>
      </p:sp>
      <p:sp>
        <p:nvSpPr>
          <p:cNvPr id="67098302" name="Shape 31"/>
          <p:cNvSpPr/>
          <p:nvPr/>
        </p:nvSpPr>
        <p:spPr bwMode="auto">
          <a:xfrm>
            <a:off x="9144000" y="7680960"/>
            <a:ext cx="365760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  <a:tailEnd type="triangle"/>
          </a:ln>
        </p:spPr>
      </p:sp>
      <p:sp>
        <p:nvSpPr>
          <p:cNvPr id="872122220" name="Text 32"/>
          <p:cNvSpPr/>
          <p:nvPr/>
        </p:nvSpPr>
        <p:spPr bwMode="auto">
          <a:xfrm>
            <a:off x="9555480" y="7543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emette</a:t>
            </a:r>
            <a:endParaRPr sz="1500"/>
          </a:p>
        </p:txBody>
      </p:sp>
      <p:sp>
        <p:nvSpPr>
          <p:cNvPr id="1989865061" name="Shape 33"/>
          <p:cNvSpPr/>
          <p:nvPr/>
        </p:nvSpPr>
        <p:spPr bwMode="auto">
          <a:xfrm>
            <a:off x="10332720" y="7680960"/>
            <a:ext cx="365760" cy="0"/>
          </a:xfrm>
          <a:prstGeom prst="line">
            <a:avLst/>
          </a:prstGeom>
          <a:noFill/>
          <a:ln w="25400">
            <a:solidFill>
              <a:srgbClr val="7B6FE8"/>
            </a:solidFill>
            <a:prstDash val="dash"/>
            <a:tailEnd type="triangle"/>
          </a:ln>
        </p:spPr>
      </p:sp>
      <p:sp>
        <p:nvSpPr>
          <p:cNvPr id="1120007120" name="Text 34"/>
          <p:cNvSpPr/>
          <p:nvPr/>
        </p:nvSpPr>
        <p:spPr bwMode="auto">
          <a:xfrm>
            <a:off x="10744200" y="7543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F1F2E"/>
                </a:solidFill>
                <a:latin typeface="Open Sans"/>
                <a:ea typeface="Open Sans"/>
                <a:cs typeface="Open Sans"/>
              </a:rPr>
              <a:t>riceve</a:t>
            </a:r>
            <a:endParaRPr sz="1500"/>
          </a:p>
        </p:txBody>
      </p:sp>
      <p:sp>
        <p:nvSpPr>
          <p:cNvPr id="337762270" name=""/>
          <p:cNvSpPr/>
          <p:nvPr/>
        </p:nvSpPr>
        <p:spPr bwMode="auto">
          <a:xfrm rot="0" flipH="0" flipV="0">
            <a:off x="12527280" y="7772400"/>
            <a:ext cx="2024594" cy="41547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564183" name="Text 0"/>
          <p:cNvSpPr/>
          <p:nvPr/>
        </p:nvSpPr>
        <p:spPr bwMode="auto">
          <a:xfrm>
            <a:off x="793789" y="653890"/>
            <a:ext cx="4742440" cy="532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4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Filosofia di Design</a:t>
            </a:r>
            <a:endParaRPr sz="4200" b="1"/>
          </a:p>
        </p:txBody>
      </p:sp>
      <p:sp>
        <p:nvSpPr>
          <p:cNvPr id="1467019388" name="Text 1"/>
          <p:cNvSpPr/>
          <p:nvPr/>
        </p:nvSpPr>
        <p:spPr bwMode="auto">
          <a:xfrm>
            <a:off x="793789" y="1236463"/>
            <a:ext cx="4908743" cy="2661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2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Quattro principi che guidano ogni scelta</a:t>
            </a:r>
            <a:endParaRPr sz="2200"/>
          </a:p>
        </p:txBody>
      </p:sp>
      <p:sp>
        <p:nvSpPr>
          <p:cNvPr id="2015984374" name="Shape 2"/>
          <p:cNvSpPr/>
          <p:nvPr/>
        </p:nvSpPr>
        <p:spPr bwMode="auto">
          <a:xfrm>
            <a:off x="793790" y="1693544"/>
            <a:ext cx="6457592" cy="1796296"/>
          </a:xfrm>
          <a:prstGeom prst="roundRect">
            <a:avLst>
              <a:gd name="adj" fmla="val 1421"/>
            </a:avLst>
          </a:prstGeom>
          <a:solidFill>
            <a:srgbClr val="EAE8F3"/>
          </a:solidFill>
          <a:ln/>
        </p:spPr>
      </p:sp>
      <p:pic>
        <p:nvPicPr>
          <p:cNvPr id="180590212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63811" y="1863566"/>
            <a:ext cx="510302" cy="510302"/>
          </a:xfrm>
          <a:prstGeom prst="rect">
            <a:avLst/>
          </a:prstGeom>
        </p:spPr>
      </p:pic>
      <p:pic>
        <p:nvPicPr>
          <p:cNvPr id="1521414970" name="Image 1" descr="preencoded.p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>
            <a:off x="1104186" y="2003822"/>
            <a:ext cx="229553" cy="229552"/>
          </a:xfrm>
          <a:prstGeom prst="rect">
            <a:avLst/>
          </a:prstGeom>
        </p:spPr>
      </p:pic>
      <p:sp>
        <p:nvSpPr>
          <p:cNvPr id="120556007" name="Text 3"/>
          <p:cNvSpPr/>
          <p:nvPr/>
        </p:nvSpPr>
        <p:spPr bwMode="auto">
          <a:xfrm>
            <a:off x="963810" y="2501383"/>
            <a:ext cx="3299953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 i="1" u="sng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Community, non Competizione</a:t>
            </a:r>
            <a:endParaRPr sz="1900" i="1" u="sng"/>
          </a:p>
        </p:txBody>
      </p:sp>
      <p:sp>
        <p:nvSpPr>
          <p:cNvPr id="1497389713" name="Text 4"/>
          <p:cNvSpPr/>
          <p:nvPr/>
        </p:nvSpPr>
        <p:spPr bwMode="auto">
          <a:xfrm>
            <a:off x="963811" y="2843570"/>
            <a:ext cx="6117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Nessun punteggio, nessuna classifica. Focus sulla creatività personale.</a:t>
            </a:r>
            <a:endParaRPr sz="1600"/>
          </a:p>
        </p:txBody>
      </p:sp>
      <p:sp>
        <p:nvSpPr>
          <p:cNvPr id="1090893606" name="Shape 5"/>
          <p:cNvSpPr/>
          <p:nvPr/>
        </p:nvSpPr>
        <p:spPr bwMode="auto">
          <a:xfrm>
            <a:off x="7378898" y="1693544"/>
            <a:ext cx="6457712" cy="1796296"/>
          </a:xfrm>
          <a:prstGeom prst="roundRect">
            <a:avLst>
              <a:gd name="adj" fmla="val 1421"/>
            </a:avLst>
          </a:prstGeom>
          <a:solidFill>
            <a:srgbClr val="EAE8F3"/>
          </a:solidFill>
          <a:ln/>
        </p:spPr>
      </p:sp>
      <p:pic>
        <p:nvPicPr>
          <p:cNvPr id="2002470148" name="Image 2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548920" y="1863566"/>
            <a:ext cx="510302" cy="510302"/>
          </a:xfrm>
          <a:prstGeom prst="rect">
            <a:avLst/>
          </a:prstGeom>
        </p:spPr>
      </p:pic>
      <p:pic>
        <p:nvPicPr>
          <p:cNvPr id="136284374" name="Image 3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7689294" y="2003822"/>
            <a:ext cx="229553" cy="229552"/>
          </a:xfrm>
          <a:prstGeom prst="rect">
            <a:avLst/>
          </a:prstGeom>
        </p:spPr>
      </p:pic>
      <p:sp>
        <p:nvSpPr>
          <p:cNvPr id="2089142305" name="Text 6"/>
          <p:cNvSpPr/>
          <p:nvPr/>
        </p:nvSpPr>
        <p:spPr bwMode="auto">
          <a:xfrm>
            <a:off x="7548919" y="2501383"/>
            <a:ext cx="1677317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 i="1" u="sng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Tutto Sbloccato</a:t>
            </a:r>
            <a:endParaRPr sz="1900" i="1" u="sng"/>
          </a:p>
        </p:txBody>
      </p:sp>
      <p:sp>
        <p:nvSpPr>
          <p:cNvPr id="1613855841" name="Text 7"/>
          <p:cNvSpPr/>
          <p:nvPr/>
        </p:nvSpPr>
        <p:spPr bwMode="auto">
          <a:xfrm>
            <a:off x="7548920" y="2843570"/>
            <a:ext cx="61176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Nessun grind, nessun paywall. Tutto disponibile da subito.</a:t>
            </a:r>
            <a:endParaRPr sz="1600"/>
          </a:p>
        </p:txBody>
      </p:sp>
      <p:sp>
        <p:nvSpPr>
          <p:cNvPr id="482878129" name="Shape 8"/>
          <p:cNvSpPr/>
          <p:nvPr/>
        </p:nvSpPr>
        <p:spPr bwMode="auto">
          <a:xfrm>
            <a:off x="793790" y="3617357"/>
            <a:ext cx="6457592" cy="1796296"/>
          </a:xfrm>
          <a:prstGeom prst="roundRect">
            <a:avLst>
              <a:gd name="adj" fmla="val 1421"/>
            </a:avLst>
          </a:prstGeom>
          <a:solidFill>
            <a:srgbClr val="EAE8F3"/>
          </a:solidFill>
          <a:ln/>
        </p:spPr>
      </p:sp>
      <p:pic>
        <p:nvPicPr>
          <p:cNvPr id="380978893" name="Image 4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963811" y="3787378"/>
            <a:ext cx="510302" cy="510302"/>
          </a:xfrm>
          <a:prstGeom prst="rect">
            <a:avLst/>
          </a:prstGeom>
        </p:spPr>
      </p:pic>
      <p:pic>
        <p:nvPicPr>
          <p:cNvPr id="831956631" name="Image 5" descr="preencoded.png"/>
          <p:cNvPicPr>
            <a:picLocks noChangeAspect="1"/>
          </p:cNvPicPr>
          <p:nvPr/>
        </p:nvPicPr>
        <p:blipFill rotWithShape="1"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 bwMode="auto">
          <a:xfrm>
            <a:off x="1104186" y="3927634"/>
            <a:ext cx="229553" cy="229552"/>
          </a:xfrm>
          <a:prstGeom prst="rect">
            <a:avLst/>
          </a:prstGeom>
        </p:spPr>
      </p:pic>
      <p:sp>
        <p:nvSpPr>
          <p:cNvPr id="465412709" name="Text 9"/>
          <p:cNvSpPr/>
          <p:nvPr/>
        </p:nvSpPr>
        <p:spPr bwMode="auto">
          <a:xfrm>
            <a:off x="963810" y="4425195"/>
            <a:ext cx="1636901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 i="1" u="sng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Zero Pressione</a:t>
            </a:r>
            <a:endParaRPr sz="1900" i="1" u="sng"/>
          </a:p>
        </p:txBody>
      </p:sp>
      <p:sp>
        <p:nvSpPr>
          <p:cNvPr id="1318569260" name="Text 10"/>
          <p:cNvSpPr/>
          <p:nvPr/>
        </p:nvSpPr>
        <p:spPr bwMode="auto">
          <a:xfrm>
            <a:off x="963811" y="4767382"/>
            <a:ext cx="6117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Niente notifiche, timer o energia. Gioca quando vuoi, chiudi senza sensi di colpa.</a:t>
            </a:r>
            <a:endParaRPr sz="1600"/>
          </a:p>
        </p:txBody>
      </p:sp>
      <p:sp>
        <p:nvSpPr>
          <p:cNvPr id="1935695726" name="Shape 11"/>
          <p:cNvSpPr/>
          <p:nvPr/>
        </p:nvSpPr>
        <p:spPr bwMode="auto">
          <a:xfrm>
            <a:off x="7378898" y="3617357"/>
            <a:ext cx="6457712" cy="1796296"/>
          </a:xfrm>
          <a:prstGeom prst="roundRect">
            <a:avLst>
              <a:gd name="adj" fmla="val 1421"/>
            </a:avLst>
          </a:prstGeom>
          <a:solidFill>
            <a:srgbClr val="EAE8F3"/>
          </a:solidFill>
          <a:ln/>
        </p:spPr>
      </p:sp>
      <p:pic>
        <p:nvPicPr>
          <p:cNvPr id="511604961" name="Image 6" descr="preencoded.png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>
            <a:off x="7548920" y="3787378"/>
            <a:ext cx="510302" cy="510302"/>
          </a:xfrm>
          <a:prstGeom prst="rect">
            <a:avLst/>
          </a:prstGeom>
        </p:spPr>
      </p:pic>
      <p:pic>
        <p:nvPicPr>
          <p:cNvPr id="2002838149" name="Image 7" descr="preencoded.png"/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 bwMode="auto">
          <a:xfrm>
            <a:off x="7689294" y="3927634"/>
            <a:ext cx="229553" cy="229552"/>
          </a:xfrm>
          <a:prstGeom prst="rect">
            <a:avLst/>
          </a:prstGeom>
        </p:spPr>
      </p:pic>
      <p:sp>
        <p:nvSpPr>
          <p:cNvPr id="735395779" name="Text 12"/>
          <p:cNvSpPr/>
          <p:nvPr/>
        </p:nvSpPr>
        <p:spPr bwMode="auto">
          <a:xfrm>
            <a:off x="7548919" y="4425195"/>
            <a:ext cx="2831022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 i="1" u="sng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Presenza senza Invasione</a:t>
            </a:r>
            <a:endParaRPr sz="1900" i="1" u="sng"/>
          </a:p>
        </p:txBody>
      </p:sp>
      <p:sp>
        <p:nvSpPr>
          <p:cNvPr id="882648240" name="Text 13"/>
          <p:cNvSpPr/>
          <p:nvPr/>
        </p:nvSpPr>
        <p:spPr bwMode="auto">
          <a:xfrm>
            <a:off x="7548919" y="4767380"/>
            <a:ext cx="6119065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Il gioco esiste sullo sfondo della tua giornata, non per dominarla.</a:t>
            </a:r>
            <a:endParaRPr sz="1600"/>
          </a:p>
        </p:txBody>
      </p:sp>
      <p:sp>
        <p:nvSpPr>
          <p:cNvPr id="1882237484" name="Text 14"/>
          <p:cNvSpPr/>
          <p:nvPr/>
        </p:nvSpPr>
        <p:spPr bwMode="auto">
          <a:xfrm>
            <a:off x="793789" y="5684638"/>
            <a:ext cx="2236314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A chi è destinato</a:t>
            </a:r>
            <a:endParaRPr sz="2200" b="1"/>
          </a:p>
        </p:txBody>
      </p:sp>
      <p:sp>
        <p:nvSpPr>
          <p:cNvPr id="1073197595" name="Text 15"/>
          <p:cNvSpPr/>
          <p:nvPr/>
        </p:nvSpPr>
        <p:spPr bwMode="auto">
          <a:xfrm>
            <a:off x="793790" y="6077903"/>
            <a:ext cx="6313884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Studenti in cerca di uno spazio tranquillo, lavoratori remoti, creativi.</a:t>
            </a:r>
            <a:endParaRPr sz="1600"/>
          </a:p>
        </p:txBody>
      </p:sp>
      <p:sp>
        <p:nvSpPr>
          <p:cNvPr id="1933378323" name="Text 16"/>
          <p:cNvSpPr/>
          <p:nvPr/>
        </p:nvSpPr>
        <p:spPr bwMode="auto">
          <a:xfrm>
            <a:off x="7530345" y="5684638"/>
            <a:ext cx="2919804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Cosa lo rende diverso</a:t>
            </a:r>
            <a:endParaRPr sz="2200" b="1"/>
          </a:p>
        </p:txBody>
      </p:sp>
      <p:sp>
        <p:nvSpPr>
          <p:cNvPr id="1148249187" name="Text 17"/>
          <p:cNvSpPr/>
          <p:nvPr/>
        </p:nvSpPr>
        <p:spPr bwMode="auto">
          <a:xfrm>
            <a:off x="7530346" y="6077903"/>
            <a:ext cx="63138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Offline, leggero (15 FPS background / 60 foreground), personalizzabile, dati crittografati con HMAC.</a:t>
            </a:r>
            <a:endParaRPr sz="1600"/>
          </a:p>
        </p:txBody>
      </p:sp>
      <p:sp>
        <p:nvSpPr>
          <p:cNvPr id="1194772077" name="Text 18"/>
          <p:cNvSpPr/>
          <p:nvPr/>
        </p:nvSpPr>
        <p:spPr bwMode="auto">
          <a:xfrm>
            <a:off x="1048941" y="7193993"/>
            <a:ext cx="7672602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"Il software più utile è quello che ti fa stare bene senza chiederti nulla in cambio."</a:t>
            </a:r>
            <a:endParaRPr sz="1600"/>
          </a:p>
        </p:txBody>
      </p:sp>
      <p:sp>
        <p:nvSpPr>
          <p:cNvPr id="935015991" name="Shape 19"/>
          <p:cNvSpPr/>
          <p:nvPr/>
        </p:nvSpPr>
        <p:spPr bwMode="auto">
          <a:xfrm>
            <a:off x="793790" y="7050524"/>
            <a:ext cx="22860" cy="525066"/>
          </a:xfrm>
          <a:prstGeom prst="rect">
            <a:avLst/>
          </a:prstGeom>
          <a:solidFill>
            <a:srgbClr val="403CCF"/>
          </a:solidFill>
          <a:ln/>
        </p:spPr>
      </p:sp>
      <p:sp>
        <p:nvSpPr>
          <p:cNvPr id="1773949593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148384" name="Text 0"/>
          <p:cNvSpPr/>
          <p:nvPr/>
        </p:nvSpPr>
        <p:spPr bwMode="auto">
          <a:xfrm>
            <a:off x="793789" y="641865"/>
            <a:ext cx="5158376" cy="532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4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Architettura Tecnica</a:t>
            </a:r>
            <a:endParaRPr sz="4200" b="1"/>
          </a:p>
        </p:txBody>
      </p:sp>
      <p:sp>
        <p:nvSpPr>
          <p:cNvPr id="1036159377" name="Shape 1"/>
          <p:cNvSpPr/>
          <p:nvPr/>
        </p:nvSpPr>
        <p:spPr bwMode="auto">
          <a:xfrm>
            <a:off x="793790" y="1428631"/>
            <a:ext cx="13042821" cy="3732371"/>
          </a:xfrm>
          <a:prstGeom prst="roundRect">
            <a:avLst>
              <a:gd name="adj" fmla="val 684"/>
            </a:avLst>
          </a:prstGeom>
          <a:noFill/>
          <a:ln w="7620">
            <a:solidFill>
              <a:srgbClr val="000000">
                <a:alpha val="7999"/>
              </a:srgbClr>
            </a:solidFill>
            <a:prstDash val="solid"/>
          </a:ln>
        </p:spPr>
      </p:sp>
      <p:sp>
        <p:nvSpPr>
          <p:cNvPr id="1610449180" name="Text 2"/>
          <p:cNvSpPr/>
          <p:nvPr/>
        </p:nvSpPr>
        <p:spPr bwMode="auto">
          <a:xfrm>
            <a:off x="971668" y="1520307"/>
            <a:ext cx="566161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Layer</a:t>
            </a:r>
            <a:endParaRPr sz="1600"/>
          </a:p>
        </p:txBody>
      </p:sp>
      <p:sp>
        <p:nvSpPr>
          <p:cNvPr id="688500227" name="Text 3"/>
          <p:cNvSpPr/>
          <p:nvPr/>
        </p:nvSpPr>
        <p:spPr bwMode="auto">
          <a:xfrm>
            <a:off x="2929532" y="1520307"/>
            <a:ext cx="1089636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Tecnologia</a:t>
            </a:r>
            <a:endParaRPr sz="1600"/>
          </a:p>
        </p:txBody>
      </p:sp>
      <p:sp>
        <p:nvSpPr>
          <p:cNvPr id="1191865932" name="Text 4"/>
          <p:cNvSpPr/>
          <p:nvPr/>
        </p:nvSpPr>
        <p:spPr bwMode="auto">
          <a:xfrm>
            <a:off x="5534977" y="1520307"/>
            <a:ext cx="934955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Dettaglio</a:t>
            </a:r>
            <a:endParaRPr sz="1600"/>
          </a:p>
        </p:txBody>
      </p:sp>
      <p:sp>
        <p:nvSpPr>
          <p:cNvPr id="1475204634" name="Text 5"/>
          <p:cNvSpPr/>
          <p:nvPr/>
        </p:nvSpPr>
        <p:spPr bwMode="auto">
          <a:xfrm>
            <a:off x="971668" y="1934169"/>
            <a:ext cx="639880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Engine</a:t>
            </a:r>
            <a:endParaRPr sz="1600"/>
          </a:p>
        </p:txBody>
      </p:sp>
      <p:sp>
        <p:nvSpPr>
          <p:cNvPr id="1901044955" name="Text 6"/>
          <p:cNvSpPr/>
          <p:nvPr/>
        </p:nvSpPr>
        <p:spPr bwMode="auto">
          <a:xfrm>
            <a:off x="2929532" y="1934169"/>
            <a:ext cx="929596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Godot 4.6</a:t>
            </a:r>
            <a:endParaRPr sz="1600"/>
          </a:p>
        </p:txBody>
      </p:sp>
      <p:sp>
        <p:nvSpPr>
          <p:cNvPr id="334110514" name="Text 7"/>
          <p:cNvSpPr/>
          <p:nvPr/>
        </p:nvSpPr>
        <p:spPr bwMode="auto">
          <a:xfrm>
            <a:off x="5534977" y="1934169"/>
            <a:ext cx="8447516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GDScript, renderer GL Compatibility, viewport 1280×720, filtro Nearest per pixel art nitido</a:t>
            </a:r>
            <a:endParaRPr sz="1600"/>
          </a:p>
        </p:txBody>
      </p:sp>
      <p:sp>
        <p:nvSpPr>
          <p:cNvPr id="394719185" name="Text 8"/>
          <p:cNvSpPr/>
          <p:nvPr/>
        </p:nvSpPr>
        <p:spPr bwMode="auto">
          <a:xfrm>
            <a:off x="971668" y="2348031"/>
            <a:ext cx="936640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DB Locale</a:t>
            </a:r>
            <a:endParaRPr sz="1600"/>
          </a:p>
        </p:txBody>
      </p:sp>
      <p:sp>
        <p:nvSpPr>
          <p:cNvPr id="1915975776" name="Text 9"/>
          <p:cNvSpPr/>
          <p:nvPr/>
        </p:nvSpPr>
        <p:spPr bwMode="auto">
          <a:xfrm>
            <a:off x="2929532" y="2348031"/>
            <a:ext cx="782058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SQLite 3</a:t>
            </a:r>
            <a:endParaRPr sz="1600"/>
          </a:p>
        </p:txBody>
      </p:sp>
      <p:sp>
        <p:nvSpPr>
          <p:cNvPr id="536672206" name="Text 10"/>
          <p:cNvSpPr/>
          <p:nvPr/>
        </p:nvSpPr>
        <p:spPr bwMode="auto">
          <a:xfrm>
            <a:off x="5534977" y="2348031"/>
            <a:ext cx="764117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WAL mode, 11 tabelle, foreign keys con CASCADE, migrazioni automatiche v1→v5</a:t>
            </a:r>
            <a:endParaRPr sz="1600"/>
          </a:p>
        </p:txBody>
      </p:sp>
      <p:sp>
        <p:nvSpPr>
          <p:cNvPr id="1640742854" name="Text 11"/>
          <p:cNvSpPr/>
          <p:nvPr/>
        </p:nvSpPr>
        <p:spPr bwMode="auto">
          <a:xfrm>
            <a:off x="971668" y="2761893"/>
            <a:ext cx="884849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DB Cloud</a:t>
            </a:r>
            <a:endParaRPr sz="1600"/>
          </a:p>
        </p:txBody>
      </p:sp>
      <p:sp>
        <p:nvSpPr>
          <p:cNvPr id="146930596" name="Text 12"/>
          <p:cNvSpPr/>
          <p:nvPr/>
        </p:nvSpPr>
        <p:spPr bwMode="auto">
          <a:xfrm>
            <a:off x="2929532" y="2761893"/>
            <a:ext cx="219323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Supabase (PostgreSQL)</a:t>
            </a:r>
            <a:endParaRPr sz="1600"/>
          </a:p>
        </p:txBody>
      </p:sp>
      <p:sp>
        <p:nvSpPr>
          <p:cNvPr id="368900825" name="Text 13"/>
          <p:cNvSpPr/>
          <p:nvPr/>
        </p:nvSpPr>
        <p:spPr bwMode="auto">
          <a:xfrm>
            <a:off x="5534977" y="2761893"/>
            <a:ext cx="6176317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15 tabelle, Row-Level Security per-utente, REST API auto-generata</a:t>
            </a:r>
            <a:endParaRPr sz="1600"/>
          </a:p>
        </p:txBody>
      </p:sp>
      <p:sp>
        <p:nvSpPr>
          <p:cNvPr id="910412240" name="Text 14"/>
          <p:cNvSpPr/>
          <p:nvPr/>
        </p:nvSpPr>
        <p:spPr bwMode="auto">
          <a:xfrm>
            <a:off x="971668" y="3175753"/>
            <a:ext cx="1405244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Autenticazione</a:t>
            </a:r>
            <a:endParaRPr sz="1600"/>
          </a:p>
        </p:txBody>
      </p:sp>
      <p:sp>
        <p:nvSpPr>
          <p:cNvPr id="1399007987" name="Text 15"/>
          <p:cNvSpPr/>
          <p:nvPr/>
        </p:nvSpPr>
        <p:spPr bwMode="auto">
          <a:xfrm>
            <a:off x="2929532" y="3175753"/>
            <a:ext cx="551974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Duale</a:t>
            </a:r>
            <a:endParaRPr sz="1600"/>
          </a:p>
        </p:txBody>
      </p:sp>
      <p:sp>
        <p:nvSpPr>
          <p:cNvPr id="2107845513" name="Text 16"/>
          <p:cNvSpPr/>
          <p:nvPr/>
        </p:nvSpPr>
        <p:spPr bwMode="auto">
          <a:xfrm>
            <a:off x="5534977" y="3175753"/>
            <a:ext cx="8084675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Locale: PBKDF2-SHA256 con salt random. Cloud: Supabase Auth con JWT auto-refresh</a:t>
            </a:r>
            <a:endParaRPr sz="1600"/>
          </a:p>
        </p:txBody>
      </p:sp>
      <p:sp>
        <p:nvSpPr>
          <p:cNvPr id="168274526" name="Text 17"/>
          <p:cNvSpPr/>
          <p:nvPr/>
        </p:nvSpPr>
        <p:spPr bwMode="auto">
          <a:xfrm>
            <a:off x="971668" y="3589614"/>
            <a:ext cx="798230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Integrità</a:t>
            </a:r>
            <a:endParaRPr sz="1600"/>
          </a:p>
        </p:txBody>
      </p:sp>
      <p:sp>
        <p:nvSpPr>
          <p:cNvPr id="226847780" name="Text 18"/>
          <p:cNvSpPr/>
          <p:nvPr/>
        </p:nvSpPr>
        <p:spPr bwMode="auto">
          <a:xfrm>
            <a:off x="2929532" y="3589614"/>
            <a:ext cx="139483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HMAC-SHA256</a:t>
            </a:r>
            <a:endParaRPr sz="1600"/>
          </a:p>
        </p:txBody>
      </p:sp>
      <p:sp>
        <p:nvSpPr>
          <p:cNvPr id="1670481630" name="Text 19"/>
          <p:cNvSpPr/>
          <p:nvPr/>
        </p:nvSpPr>
        <p:spPr bwMode="auto">
          <a:xfrm>
            <a:off x="5534977" y="3589614"/>
            <a:ext cx="6203208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Firma crittografica su ogni salvataggio, rilevamento manomissioni</a:t>
            </a:r>
            <a:endParaRPr sz="1600"/>
          </a:p>
        </p:txBody>
      </p:sp>
      <p:sp>
        <p:nvSpPr>
          <p:cNvPr id="1645508708" name="Text 20"/>
          <p:cNvSpPr/>
          <p:nvPr/>
        </p:nvSpPr>
        <p:spPr bwMode="auto">
          <a:xfrm>
            <a:off x="971668" y="4003476"/>
            <a:ext cx="122804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Osservabilità</a:t>
            </a:r>
            <a:endParaRPr sz="1600"/>
          </a:p>
        </p:txBody>
      </p:sp>
      <p:sp>
        <p:nvSpPr>
          <p:cNvPr id="2041419516" name="Text 21"/>
          <p:cNvSpPr/>
          <p:nvPr/>
        </p:nvSpPr>
        <p:spPr bwMode="auto">
          <a:xfrm>
            <a:off x="2929532" y="4003476"/>
            <a:ext cx="1736236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Logger strutturato</a:t>
            </a:r>
            <a:endParaRPr sz="1600"/>
          </a:p>
        </p:txBody>
      </p:sp>
      <p:sp>
        <p:nvSpPr>
          <p:cNvPr id="1355412372" name="Text 22"/>
          <p:cNvSpPr/>
          <p:nvPr/>
        </p:nvSpPr>
        <p:spPr bwMode="auto">
          <a:xfrm>
            <a:off x="5534977" y="4003476"/>
            <a:ext cx="7773030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JSON Lines con correlation ID, rotazione 5 MB × 5 file, redazione automatica secret</a:t>
            </a:r>
            <a:endParaRPr sz="1600"/>
          </a:p>
        </p:txBody>
      </p:sp>
      <p:sp>
        <p:nvSpPr>
          <p:cNvPr id="265461046" name="Text 23"/>
          <p:cNvSpPr/>
          <p:nvPr/>
        </p:nvSpPr>
        <p:spPr bwMode="auto">
          <a:xfrm>
            <a:off x="971668" y="4417337"/>
            <a:ext cx="536492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CI/CD</a:t>
            </a:r>
            <a:endParaRPr sz="1600"/>
          </a:p>
        </p:txBody>
      </p:sp>
      <p:sp>
        <p:nvSpPr>
          <p:cNvPr id="977066922" name="Text 24"/>
          <p:cNvSpPr/>
          <p:nvPr/>
        </p:nvSpPr>
        <p:spPr bwMode="auto">
          <a:xfrm>
            <a:off x="2929532" y="4417337"/>
            <a:ext cx="1416554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GitHub Actions</a:t>
            </a:r>
            <a:endParaRPr sz="1600"/>
          </a:p>
        </p:txBody>
      </p:sp>
      <p:sp>
        <p:nvSpPr>
          <p:cNvPr id="1141776148" name="Text 25"/>
          <p:cNvSpPr/>
          <p:nvPr/>
        </p:nvSpPr>
        <p:spPr bwMode="auto">
          <a:xfrm>
            <a:off x="5534977" y="4417337"/>
            <a:ext cx="8333104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9 job paralleli: lint, JSON, sprite, crossref, DB schema, signals, pixelart, smoke, deep-tests</a:t>
            </a:r>
            <a:endParaRPr sz="1600"/>
          </a:p>
        </p:txBody>
      </p:sp>
      <p:sp>
        <p:nvSpPr>
          <p:cNvPr id="1237959213" name="Text 26"/>
          <p:cNvSpPr/>
          <p:nvPr/>
        </p:nvSpPr>
        <p:spPr bwMode="auto">
          <a:xfrm>
            <a:off x="971668" y="4831198"/>
            <a:ext cx="663891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Deploy</a:t>
            </a:r>
            <a:endParaRPr sz="1600"/>
          </a:p>
        </p:txBody>
      </p:sp>
      <p:sp>
        <p:nvSpPr>
          <p:cNvPr id="1219191905" name="Text 27"/>
          <p:cNvSpPr/>
          <p:nvPr/>
        </p:nvSpPr>
        <p:spPr bwMode="auto">
          <a:xfrm>
            <a:off x="2929532" y="4831198"/>
            <a:ext cx="2384317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Netlify + GitHub Releases</a:t>
            </a:r>
            <a:endParaRPr sz="1600"/>
          </a:p>
        </p:txBody>
      </p:sp>
      <p:sp>
        <p:nvSpPr>
          <p:cNvPr id="1156183087" name="Text 28"/>
          <p:cNvSpPr/>
          <p:nvPr/>
        </p:nvSpPr>
        <p:spPr bwMode="auto">
          <a:xfrm>
            <a:off x="5534977" y="4831198"/>
            <a:ext cx="5868247" cy="2392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Build automatici Windows (.exe) e HTML5 su ogni push a main</a:t>
            </a:r>
            <a:endParaRPr sz="1600"/>
          </a:p>
        </p:txBody>
      </p:sp>
      <p:sp>
        <p:nvSpPr>
          <p:cNvPr id="1912337243" name="Shape 31"/>
          <p:cNvSpPr/>
          <p:nvPr/>
        </p:nvSpPr>
        <p:spPr bwMode="auto">
          <a:xfrm>
            <a:off x="793789" y="5667136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EAE8F3"/>
          </a:solidFill>
          <a:ln/>
        </p:spPr>
      </p:sp>
      <p:sp>
        <p:nvSpPr>
          <p:cNvPr id="1817841314" name="Text 32"/>
          <p:cNvSpPr/>
          <p:nvPr/>
        </p:nvSpPr>
        <p:spPr bwMode="auto">
          <a:xfrm>
            <a:off x="963810" y="5837157"/>
            <a:ext cx="2227187" cy="2661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Zero Accoppiamento</a:t>
            </a:r>
            <a:endParaRPr sz="1900"/>
          </a:p>
        </p:txBody>
      </p:sp>
      <p:sp>
        <p:nvSpPr>
          <p:cNvPr id="1615443263" name="Text 33"/>
          <p:cNvSpPr/>
          <p:nvPr/>
        </p:nvSpPr>
        <p:spPr bwMode="auto">
          <a:xfrm>
            <a:off x="963810" y="6179343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Rimuovere o sostituire un sistema non rompe gli altri</a:t>
            </a:r>
            <a:endParaRPr sz="1500"/>
          </a:p>
        </p:txBody>
      </p:sp>
      <p:sp>
        <p:nvSpPr>
          <p:cNvPr id="186784088" name="Shape 34"/>
          <p:cNvSpPr/>
          <p:nvPr/>
        </p:nvSpPr>
        <p:spPr bwMode="auto">
          <a:xfrm>
            <a:off x="5183860" y="5667136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EAE8F3"/>
          </a:solidFill>
          <a:ln/>
        </p:spPr>
      </p:sp>
      <p:sp>
        <p:nvSpPr>
          <p:cNvPr id="1659110069" name="Text 35"/>
          <p:cNvSpPr/>
          <p:nvPr/>
        </p:nvSpPr>
        <p:spPr bwMode="auto">
          <a:xfrm>
            <a:off x="5353882" y="5837157"/>
            <a:ext cx="1100464" cy="2661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Testabilità</a:t>
            </a:r>
            <a:endParaRPr sz="1900"/>
          </a:p>
        </p:txBody>
      </p:sp>
      <p:sp>
        <p:nvSpPr>
          <p:cNvPr id="1019239314" name="Text 36"/>
          <p:cNvSpPr/>
          <p:nvPr/>
        </p:nvSpPr>
        <p:spPr bwMode="auto">
          <a:xfrm>
            <a:off x="5353882" y="6179343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Ogni componente può essere verificato in isolamento</a:t>
            </a:r>
            <a:endParaRPr sz="1500"/>
          </a:p>
        </p:txBody>
      </p:sp>
      <p:sp>
        <p:nvSpPr>
          <p:cNvPr id="553997059" name="Shape 37"/>
          <p:cNvSpPr/>
          <p:nvPr/>
        </p:nvSpPr>
        <p:spPr bwMode="auto">
          <a:xfrm>
            <a:off x="9573934" y="5667136"/>
            <a:ext cx="4262557" cy="1158478"/>
          </a:xfrm>
          <a:prstGeom prst="roundRect">
            <a:avLst>
              <a:gd name="adj" fmla="val 2203"/>
            </a:avLst>
          </a:prstGeom>
          <a:solidFill>
            <a:srgbClr val="EAE8F3"/>
          </a:solidFill>
          <a:ln/>
        </p:spPr>
      </p:sp>
      <p:sp>
        <p:nvSpPr>
          <p:cNvPr id="2018185027" name="Text 38"/>
          <p:cNvSpPr/>
          <p:nvPr/>
        </p:nvSpPr>
        <p:spPr bwMode="auto">
          <a:xfrm>
            <a:off x="9743955" y="5837157"/>
            <a:ext cx="1288271" cy="2661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19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Estensibilità</a:t>
            </a:r>
            <a:endParaRPr sz="1900"/>
          </a:p>
        </p:txBody>
      </p:sp>
      <p:sp>
        <p:nvSpPr>
          <p:cNvPr id="1918612957" name="Text 39"/>
          <p:cNvSpPr/>
          <p:nvPr/>
        </p:nvSpPr>
        <p:spPr bwMode="auto">
          <a:xfrm>
            <a:off x="9743955" y="6179343"/>
            <a:ext cx="392251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5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Aggiungere feature = connettere un listener, senza toccare il resto</a:t>
            </a:r>
            <a:endParaRPr sz="1500"/>
          </a:p>
        </p:txBody>
      </p:sp>
      <p:sp>
        <p:nvSpPr>
          <p:cNvPr id="728228341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872284" name="Text 0"/>
          <p:cNvSpPr/>
          <p:nvPr/>
        </p:nvSpPr>
        <p:spPr bwMode="auto">
          <a:xfrm>
            <a:off x="793789" y="690562"/>
            <a:ext cx="5040392" cy="638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  <a:defRPr/>
            </a:pPr>
            <a:r>
              <a:rPr lang="en-US" sz="4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Persistenza dei Dati</a:t>
            </a:r>
            <a:endParaRPr sz="4200" b="1"/>
          </a:p>
        </p:txBody>
      </p:sp>
      <p:sp>
        <p:nvSpPr>
          <p:cNvPr id="1993238714" name="Text 1"/>
          <p:cNvSpPr/>
          <p:nvPr/>
        </p:nvSpPr>
        <p:spPr bwMode="auto">
          <a:xfrm>
            <a:off x="793789" y="1401960"/>
            <a:ext cx="8394571" cy="31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400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Tre livelli di protezione</a:t>
            </a:r>
            <a:r>
              <a:rPr lang="en-US" sz="2400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 — I dati dell'utente non si perdono mai.</a:t>
            </a:r>
            <a:endParaRPr sz="2400"/>
          </a:p>
        </p:txBody>
      </p:sp>
      <p:sp>
        <p:nvSpPr>
          <p:cNvPr id="1198411116" name="Shape 2"/>
          <p:cNvSpPr/>
          <p:nvPr/>
        </p:nvSpPr>
        <p:spPr bwMode="auto">
          <a:xfrm>
            <a:off x="1099899" y="2812733"/>
            <a:ext cx="3918823" cy="204073"/>
          </a:xfrm>
          <a:prstGeom prst="roundRect">
            <a:avLst>
              <a:gd name="adj" fmla="val 15005"/>
            </a:avLst>
          </a:prstGeom>
          <a:solidFill>
            <a:srgbClr val="EAE8F3"/>
          </a:solidFill>
          <a:ln/>
        </p:spPr>
      </p:sp>
      <p:sp>
        <p:nvSpPr>
          <p:cNvPr id="429592732" name="Shape 3"/>
          <p:cNvSpPr/>
          <p:nvPr/>
        </p:nvSpPr>
        <p:spPr bwMode="auto">
          <a:xfrm>
            <a:off x="793790" y="2608600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EAE8F3"/>
          </a:solidFill>
          <a:ln/>
        </p:spPr>
      </p:sp>
      <p:pic>
        <p:nvPicPr>
          <p:cNvPr id="128228382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946903" y="2761714"/>
            <a:ext cx="306110" cy="306110"/>
          </a:xfrm>
          <a:prstGeom prst="rect">
            <a:avLst/>
          </a:prstGeom>
        </p:spPr>
      </p:pic>
      <p:sp>
        <p:nvSpPr>
          <p:cNvPr id="1325947474" name="Text 4"/>
          <p:cNvSpPr/>
          <p:nvPr/>
        </p:nvSpPr>
        <p:spPr bwMode="auto">
          <a:xfrm>
            <a:off x="997862" y="3404709"/>
            <a:ext cx="2124840" cy="31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1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JSON con HMAC</a:t>
            </a:r>
            <a:endParaRPr sz="2150"/>
          </a:p>
        </p:txBody>
      </p:sp>
      <p:sp>
        <p:nvSpPr>
          <p:cNvPr id="552195895" name="Text 5"/>
          <p:cNvSpPr/>
          <p:nvPr/>
        </p:nvSpPr>
        <p:spPr bwMode="auto">
          <a:xfrm>
            <a:off x="997863" y="3833693"/>
            <a:ext cx="3816906" cy="1861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Salvataggio primario in </a:t>
            </a:r>
            <a:r>
              <a:rPr lang="en-US" sz="1700">
                <a:solidFill>
                  <a:srgbClr val="49495A"/>
                </a:solidFill>
                <a:highlight>
                  <a:srgbClr val="EEEDF2"/>
                </a:highlight>
                <a:latin typeface="Consolas"/>
                <a:ea typeface="Consolas"/>
                <a:cs typeface="Consolas"/>
              </a:rPr>
              <a:t>save_data.json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con firma crittografica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SHA-256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per rilevare manomissioni. Backup automatico e scrittura atomica (temp → rename) per resistenza ai crash.</a:t>
            </a:r>
            <a:endParaRPr sz="1700"/>
          </a:p>
        </p:txBody>
      </p:sp>
      <p:sp>
        <p:nvSpPr>
          <p:cNvPr id="662590523" name="Shape 6"/>
          <p:cNvSpPr/>
          <p:nvPr/>
        </p:nvSpPr>
        <p:spPr bwMode="auto">
          <a:xfrm>
            <a:off x="5508665" y="2506504"/>
            <a:ext cx="3918942" cy="204073"/>
          </a:xfrm>
          <a:prstGeom prst="roundRect">
            <a:avLst>
              <a:gd name="adj" fmla="val 15005"/>
            </a:avLst>
          </a:prstGeom>
          <a:solidFill>
            <a:srgbClr val="EAE8F3"/>
          </a:solidFill>
          <a:ln/>
        </p:spPr>
      </p:sp>
      <p:sp>
        <p:nvSpPr>
          <p:cNvPr id="1158575721" name="Shape 7"/>
          <p:cNvSpPr/>
          <p:nvPr/>
        </p:nvSpPr>
        <p:spPr bwMode="auto">
          <a:xfrm>
            <a:off x="5202554" y="2302371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EAE8F3"/>
          </a:solidFill>
          <a:ln/>
        </p:spPr>
      </p:sp>
      <p:pic>
        <p:nvPicPr>
          <p:cNvPr id="382390047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5355669" y="2455485"/>
            <a:ext cx="306110" cy="306110"/>
          </a:xfrm>
          <a:prstGeom prst="rect">
            <a:avLst/>
          </a:prstGeom>
        </p:spPr>
      </p:pic>
      <p:sp>
        <p:nvSpPr>
          <p:cNvPr id="443250673" name="Text 8"/>
          <p:cNvSpPr/>
          <p:nvPr/>
        </p:nvSpPr>
        <p:spPr bwMode="auto">
          <a:xfrm>
            <a:off x="5406626" y="3098482"/>
            <a:ext cx="2019108" cy="31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1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SQLite con WAL</a:t>
            </a:r>
            <a:endParaRPr sz="2150"/>
          </a:p>
        </p:txBody>
      </p:sp>
      <p:sp>
        <p:nvSpPr>
          <p:cNvPr id="1857073414" name="Text 9"/>
          <p:cNvSpPr/>
          <p:nvPr/>
        </p:nvSpPr>
        <p:spPr bwMode="auto">
          <a:xfrm>
            <a:off x="5406628" y="3527465"/>
            <a:ext cx="3817025" cy="1861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Database relazionale locale con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11 tabelle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, foreign keys con CASCADE, indici, migrazioni automatiche v1→v5. Write-Ahead Logging per concorrenza sicura.</a:t>
            </a:r>
            <a:endParaRPr sz="1700"/>
          </a:p>
        </p:txBody>
      </p:sp>
      <p:sp>
        <p:nvSpPr>
          <p:cNvPr id="1163316833" name="Shape 10"/>
          <p:cNvSpPr/>
          <p:nvPr/>
        </p:nvSpPr>
        <p:spPr bwMode="auto">
          <a:xfrm>
            <a:off x="9917549" y="2200394"/>
            <a:ext cx="3918942" cy="204073"/>
          </a:xfrm>
          <a:prstGeom prst="roundRect">
            <a:avLst>
              <a:gd name="adj" fmla="val 15005"/>
            </a:avLst>
          </a:prstGeom>
          <a:solidFill>
            <a:srgbClr val="EAE8F3"/>
          </a:solidFill>
          <a:ln/>
        </p:spPr>
      </p:sp>
      <p:sp>
        <p:nvSpPr>
          <p:cNvPr id="1861875434" name="Shape 11"/>
          <p:cNvSpPr/>
          <p:nvPr/>
        </p:nvSpPr>
        <p:spPr bwMode="auto">
          <a:xfrm>
            <a:off x="9611439" y="1996261"/>
            <a:ext cx="612338" cy="612338"/>
          </a:xfrm>
          <a:prstGeom prst="roundRect">
            <a:avLst>
              <a:gd name="adj" fmla="val 74665"/>
            </a:avLst>
          </a:prstGeom>
          <a:solidFill>
            <a:srgbClr val="EAE8F3"/>
          </a:solidFill>
          <a:ln/>
        </p:spPr>
      </p:sp>
      <p:pic>
        <p:nvPicPr>
          <p:cNvPr id="632253330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9764554" y="2149376"/>
            <a:ext cx="306110" cy="306110"/>
          </a:xfrm>
          <a:prstGeom prst="rect">
            <a:avLst/>
          </a:prstGeom>
        </p:spPr>
      </p:pic>
      <p:sp>
        <p:nvSpPr>
          <p:cNvPr id="23877980" name="Text 12"/>
          <p:cNvSpPr/>
          <p:nvPr/>
        </p:nvSpPr>
        <p:spPr bwMode="auto">
          <a:xfrm>
            <a:off x="9815511" y="2792372"/>
            <a:ext cx="2019771" cy="31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  <a:defRPr/>
            </a:pPr>
            <a:r>
              <a:rPr lang="en-US" sz="215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Supabase Cloud</a:t>
            </a:r>
            <a:endParaRPr sz="2150"/>
          </a:p>
        </p:txBody>
      </p:sp>
      <p:sp>
        <p:nvSpPr>
          <p:cNvPr id="1728190354" name="Text 13"/>
          <p:cNvSpPr/>
          <p:nvPr/>
        </p:nvSpPr>
        <p:spPr bwMode="auto">
          <a:xfrm>
            <a:off x="9815512" y="3221355"/>
            <a:ext cx="3817025" cy="2171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Offline-first: i dati locali hanno priorità, la coda si svuota al ritorno della connessione. </a:t>
            </a:r>
            <a:r>
              <a:rPr lang="en-US" sz="17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15 tabelle cloud</a:t>
            </a:r>
            <a:r>
              <a:rPr lang="en-US" sz="17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con RLS: ogni utente vede solo i propri dati.</a:t>
            </a:r>
            <a:endParaRPr sz="1700"/>
          </a:p>
        </p:txBody>
      </p:sp>
      <p:sp>
        <p:nvSpPr>
          <p:cNvPr id="447689569" name="Shape 14"/>
          <p:cNvSpPr/>
          <p:nvPr/>
        </p:nvSpPr>
        <p:spPr bwMode="auto">
          <a:xfrm>
            <a:off x="793790" y="6106120"/>
            <a:ext cx="13042821" cy="1432798"/>
          </a:xfrm>
          <a:prstGeom prst="roundRect">
            <a:avLst>
              <a:gd name="adj" fmla="val 2137"/>
            </a:avLst>
          </a:prstGeom>
          <a:solidFill>
            <a:srgbClr val="B6D6FC"/>
          </a:solidFill>
          <a:ln/>
        </p:spPr>
      </p:sp>
      <p:pic>
        <p:nvPicPr>
          <p:cNvPr id="1725056616" name="Image 3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997863" y="6411158"/>
            <a:ext cx="255151" cy="204073"/>
          </a:xfrm>
          <a:prstGeom prst="rect">
            <a:avLst/>
          </a:prstGeom>
        </p:spPr>
      </p:pic>
      <p:sp>
        <p:nvSpPr>
          <p:cNvPr id="311977950" name="Text 15"/>
          <p:cNvSpPr/>
          <p:nvPr/>
        </p:nvSpPr>
        <p:spPr bwMode="auto">
          <a:xfrm>
            <a:off x="1457087" y="6340793"/>
            <a:ext cx="12175450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  <a:defRPr/>
            </a:pPr>
            <a:r>
              <a:rPr lang="en-US" sz="1550" b="1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Osservabilità — Logger strutturato:</a:t>
            </a:r>
            <a:r>
              <a:rPr lang="en-US" sz="15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JSON Lines, correlation ID, 4 livelli (DEBUG/INFO/WARN/ERROR), rotazione </a:t>
            </a:r>
            <a:r>
              <a:rPr lang="en-US" sz="1550" b="1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5 MB × 5 file = 25 MB</a:t>
            </a:r>
            <a:r>
              <a:rPr lang="en-US" sz="15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redazione automatica di secret (password, token, jwt, hmac_key). Flush ogni 2s, buffer 2000 entries.</a:t>
            </a:r>
            <a:endParaRPr sz="1550"/>
          </a:p>
        </p:txBody>
      </p:sp>
      <p:sp>
        <p:nvSpPr>
          <p:cNvPr id="850786309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776794" name="Text 0"/>
          <p:cNvSpPr/>
          <p:nvPr/>
        </p:nvSpPr>
        <p:spPr bwMode="auto">
          <a:xfrm>
            <a:off x="793789" y="831771"/>
            <a:ext cx="5424819" cy="532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  <a:defRPr/>
            </a:pPr>
            <a:r>
              <a:rPr lang="en-US" sz="4200" b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Processo di Sviluppo</a:t>
            </a:r>
            <a:endParaRPr sz="4200" b="1"/>
          </a:p>
        </p:txBody>
      </p:sp>
      <p:sp>
        <p:nvSpPr>
          <p:cNvPr id="1444068099" name="Shape 1"/>
          <p:cNvSpPr/>
          <p:nvPr/>
        </p:nvSpPr>
        <p:spPr bwMode="auto">
          <a:xfrm>
            <a:off x="671274" y="1554718"/>
            <a:ext cx="5885974" cy="5843111"/>
          </a:xfrm>
          <a:prstGeom prst="roundRect">
            <a:avLst>
              <a:gd name="adj" fmla="val 437"/>
            </a:avLst>
          </a:prstGeom>
          <a:solidFill>
            <a:srgbClr val="E7E0FF"/>
          </a:solidFill>
          <a:ln/>
        </p:spPr>
      </p:sp>
      <p:sp>
        <p:nvSpPr>
          <p:cNvPr id="1796546088" name="Text 2"/>
          <p:cNvSpPr/>
          <p:nvPr/>
        </p:nvSpPr>
        <p:spPr bwMode="auto">
          <a:xfrm>
            <a:off x="841295" y="1682233"/>
            <a:ext cx="3455898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400" b="1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Come abbiamo lavorato</a:t>
            </a:r>
            <a:endParaRPr sz="2400" b="1"/>
          </a:p>
        </p:txBody>
      </p:sp>
      <p:sp>
        <p:nvSpPr>
          <p:cNvPr id="1542422468" name="Text 3"/>
          <p:cNvSpPr/>
          <p:nvPr/>
        </p:nvSpPr>
        <p:spPr bwMode="auto">
          <a:xfrm>
            <a:off x="841296" y="2075498"/>
            <a:ext cx="5545931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8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Sviluppo audit-driven</a:t>
            </a: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 — 3 passaggi sistematici. Bug classificati per severità (critico/alto/medio) e risolti in ordine.</a:t>
            </a:r>
            <a:endParaRPr sz="1800"/>
          </a:p>
        </p:txBody>
      </p:sp>
      <p:sp>
        <p:nvSpPr>
          <p:cNvPr id="1110763785" name="Text 4"/>
          <p:cNvSpPr/>
          <p:nvPr/>
        </p:nvSpPr>
        <p:spPr bwMode="auto">
          <a:xfrm>
            <a:off x="841295" y="3155512"/>
            <a:ext cx="3506648" cy="266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400" b="1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Gestione del Repository</a:t>
            </a:r>
            <a:endParaRPr sz="2400" b="1"/>
          </a:p>
        </p:txBody>
      </p:sp>
      <p:sp>
        <p:nvSpPr>
          <p:cNvPr id="1455200829" name="Text 5"/>
          <p:cNvSpPr/>
          <p:nvPr/>
        </p:nvSpPr>
        <p:spPr bwMode="auto">
          <a:xfrm flipH="0" flipV="0">
            <a:off x="841295" y="3548775"/>
            <a:ext cx="5545930" cy="3705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Char char="•"/>
              <a:defRPr/>
            </a:pPr>
            <a:r>
              <a:rPr lang="en-US" sz="20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Commit semantici (feat/fix/chore/docs)</a:t>
            </a:r>
            <a:endParaRPr sz="2000" i="1"/>
          </a:p>
          <a:p>
            <a:pPr marL="342900" indent="-342900" algn="l">
              <a:lnSpc>
                <a:spcPct val="200000"/>
              </a:lnSpc>
              <a:buSzPct val="100000"/>
              <a:buChar char="•"/>
              <a:defRPr/>
            </a:pPr>
            <a:r>
              <a:rPr lang="en-US" sz="20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Sprint iterativi con task tracciati</a:t>
            </a:r>
            <a:endParaRPr sz="2000" i="1"/>
          </a:p>
          <a:p>
            <a:pPr marL="342900" indent="-342900" algn="l">
              <a:lnSpc>
                <a:spcPct val="200000"/>
              </a:lnSpc>
              <a:buSzPct val="100000"/>
              <a:buChar char="•"/>
              <a:defRPr/>
            </a:pPr>
            <a:r>
              <a:rPr lang="en-US" sz="20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Branch main con CI obbligatoria</a:t>
            </a:r>
            <a:endParaRPr sz="2000" i="1"/>
          </a:p>
          <a:p>
            <a:pPr marL="342900" indent="-342900" algn="l">
              <a:lnSpc>
                <a:spcPct val="200000"/>
              </a:lnSpc>
              <a:buSzPct val="100000"/>
              <a:buChar char="•"/>
              <a:defRPr/>
            </a:pPr>
            <a:r>
              <a:rPr lang="en-US" sz="20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Documentazione: guide </a:t>
            </a:r>
            <a:r>
              <a:rPr lang="en-US" sz="20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operative </a:t>
            </a:r>
            <a:r>
              <a:rPr lang="en-US" sz="20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per ogni membro del team</a:t>
            </a:r>
            <a:endParaRPr sz="2000"/>
          </a:p>
        </p:txBody>
      </p:sp>
      <p:sp>
        <p:nvSpPr>
          <p:cNvPr id="1303916992" name="Text 6"/>
          <p:cNvSpPr/>
          <p:nvPr/>
        </p:nvSpPr>
        <p:spPr bwMode="auto">
          <a:xfrm>
            <a:off x="6857404" y="1586983"/>
            <a:ext cx="6856560" cy="267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800" b="1" i="1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Continuous Integration — </a:t>
            </a:r>
            <a:r>
              <a:rPr lang="en-US" sz="2800" b="1" i="1">
                <a:solidFill>
                  <a:srgbClr val="5955EB"/>
                </a:solidFill>
                <a:latin typeface="Libre Baskerville"/>
                <a:ea typeface="Libre Baskerville"/>
                <a:cs typeface="Libre Baskerville"/>
              </a:rPr>
              <a:t>9 Job Paralleli</a:t>
            </a:r>
            <a:endParaRPr sz="2800" b="1" i="1"/>
          </a:p>
        </p:txBody>
      </p:sp>
      <p:sp>
        <p:nvSpPr>
          <p:cNvPr id="2090390967" name="Text 7"/>
          <p:cNvSpPr/>
          <p:nvPr/>
        </p:nvSpPr>
        <p:spPr bwMode="auto">
          <a:xfrm>
            <a:off x="6857404" y="2075497"/>
            <a:ext cx="6203222" cy="238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8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Pipeline GitHub Actions: nessun merge senza verde totale.</a:t>
            </a:r>
            <a:endParaRPr sz="1800"/>
          </a:p>
        </p:txBody>
      </p:sp>
      <p:pic>
        <p:nvPicPr>
          <p:cNvPr id="681187542" name="Image 0" descr="preencoded.png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6921103" y="2462332"/>
            <a:ext cx="255151" cy="255151"/>
          </a:xfrm>
          <a:prstGeom prst="rect">
            <a:avLst/>
          </a:prstGeom>
        </p:spPr>
      </p:pic>
      <p:sp>
        <p:nvSpPr>
          <p:cNvPr id="106091059" name="Text 8"/>
          <p:cNvSpPr/>
          <p:nvPr/>
        </p:nvSpPr>
        <p:spPr bwMode="auto">
          <a:xfrm>
            <a:off x="7410092" y="2457092"/>
            <a:ext cx="381589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lint</a:t>
            </a:r>
            <a:endParaRPr sz="2000" b="1"/>
          </a:p>
        </p:txBody>
      </p:sp>
      <p:sp>
        <p:nvSpPr>
          <p:cNvPr id="946842012" name="Text 9"/>
          <p:cNvSpPr/>
          <p:nvPr/>
        </p:nvSpPr>
        <p:spPr bwMode="auto">
          <a:xfrm>
            <a:off x="7410092" y="2850355"/>
            <a:ext cx="2529381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GDScript gdlint + gdformat</a:t>
            </a:r>
            <a:endParaRPr sz="1600"/>
          </a:p>
        </p:txBody>
      </p:sp>
      <p:pic>
        <p:nvPicPr>
          <p:cNvPr id="1800377383" name="Image 1" descr="preencoded.png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6921103" y="3348871"/>
            <a:ext cx="255151" cy="255151"/>
          </a:xfrm>
          <a:prstGeom prst="rect">
            <a:avLst/>
          </a:prstGeom>
        </p:spPr>
      </p:pic>
      <p:sp>
        <p:nvSpPr>
          <p:cNvPr id="630204395" name="Text 10"/>
          <p:cNvSpPr/>
          <p:nvPr/>
        </p:nvSpPr>
        <p:spPr bwMode="auto">
          <a:xfrm>
            <a:off x="7410092" y="3343631"/>
            <a:ext cx="1553353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validate-json</a:t>
            </a:r>
            <a:endParaRPr sz="2000" b="1"/>
          </a:p>
        </p:txBody>
      </p:sp>
      <p:sp>
        <p:nvSpPr>
          <p:cNvPr id="290424810" name="Text 11"/>
          <p:cNvSpPr/>
          <p:nvPr/>
        </p:nvSpPr>
        <p:spPr bwMode="auto">
          <a:xfrm>
            <a:off x="7410092" y="3736895"/>
            <a:ext cx="2186183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Cataloghi dei contenuti</a:t>
            </a:r>
            <a:endParaRPr sz="1600"/>
          </a:p>
        </p:txBody>
      </p:sp>
      <p:pic>
        <p:nvPicPr>
          <p:cNvPr id="1732894981" name="Image 2" descr="preencoded.png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>
            <a:off x="6921103" y="4235410"/>
            <a:ext cx="255151" cy="255151"/>
          </a:xfrm>
          <a:prstGeom prst="rect">
            <a:avLst/>
          </a:prstGeom>
        </p:spPr>
      </p:pic>
      <p:sp>
        <p:nvSpPr>
          <p:cNvPr id="774468859" name="Text 12"/>
          <p:cNvSpPr/>
          <p:nvPr/>
        </p:nvSpPr>
        <p:spPr bwMode="auto">
          <a:xfrm>
            <a:off x="7410092" y="4230171"/>
            <a:ext cx="1864157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validate-sprites</a:t>
            </a:r>
            <a:endParaRPr sz="2000" b="1"/>
          </a:p>
        </p:txBody>
      </p:sp>
      <p:sp>
        <p:nvSpPr>
          <p:cNvPr id="1030027838" name="Text 13"/>
          <p:cNvSpPr/>
          <p:nvPr/>
        </p:nvSpPr>
        <p:spPr bwMode="auto">
          <a:xfrm>
            <a:off x="7410092" y="4623435"/>
            <a:ext cx="2483636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Esistenza e integrità sprite</a:t>
            </a:r>
            <a:endParaRPr sz="1600"/>
          </a:p>
        </p:txBody>
      </p:sp>
      <p:pic>
        <p:nvPicPr>
          <p:cNvPr id="688685698" name="Image 3" descr="preencoded.png"/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>
            <a:off x="6921103" y="5121950"/>
            <a:ext cx="255151" cy="255151"/>
          </a:xfrm>
          <a:prstGeom prst="rect">
            <a:avLst/>
          </a:prstGeom>
        </p:spPr>
      </p:pic>
      <p:sp>
        <p:nvSpPr>
          <p:cNvPr id="1394025966" name="Text 14"/>
          <p:cNvSpPr/>
          <p:nvPr/>
        </p:nvSpPr>
        <p:spPr bwMode="auto">
          <a:xfrm>
            <a:off x="7410092" y="5116710"/>
            <a:ext cx="1341524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validate-db</a:t>
            </a:r>
            <a:endParaRPr sz="2000" b="1"/>
          </a:p>
        </p:txBody>
      </p:sp>
      <p:sp>
        <p:nvSpPr>
          <p:cNvPr id="705779375" name="Text 15"/>
          <p:cNvSpPr/>
          <p:nvPr/>
        </p:nvSpPr>
        <p:spPr bwMode="auto">
          <a:xfrm>
            <a:off x="7410092" y="5509973"/>
            <a:ext cx="2556664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Schema SQLite e Supabase</a:t>
            </a:r>
            <a:endParaRPr sz="1600"/>
          </a:p>
        </p:txBody>
      </p:sp>
      <p:pic>
        <p:nvPicPr>
          <p:cNvPr id="2074093805" name="Image 4" descr="preencoded.png"/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 bwMode="auto">
          <a:xfrm>
            <a:off x="6921103" y="6008489"/>
            <a:ext cx="255151" cy="255151"/>
          </a:xfrm>
          <a:prstGeom prst="rect">
            <a:avLst/>
          </a:prstGeom>
        </p:spPr>
      </p:pic>
      <p:sp>
        <p:nvSpPr>
          <p:cNvPr id="1840888763" name="Text 16"/>
          <p:cNvSpPr/>
          <p:nvPr/>
        </p:nvSpPr>
        <p:spPr bwMode="auto">
          <a:xfrm>
            <a:off x="7410092" y="6003249"/>
            <a:ext cx="3537097" cy="266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  <a:defRPr/>
            </a:pPr>
            <a:r>
              <a:rPr lang="en-US" sz="2000" b="1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smoke-headless + deep-tests</a:t>
            </a:r>
            <a:endParaRPr sz="2000" b="1"/>
          </a:p>
        </p:txBody>
      </p:sp>
      <p:sp>
        <p:nvSpPr>
          <p:cNvPr id="728233344" name="Text 17"/>
          <p:cNvSpPr/>
          <p:nvPr/>
        </p:nvSpPr>
        <p:spPr bwMode="auto">
          <a:xfrm>
            <a:off x="7410092" y="6396513"/>
            <a:ext cx="3329170" cy="238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Test Godot headless e approfonditi</a:t>
            </a:r>
            <a:endParaRPr sz="1600"/>
          </a:p>
        </p:txBody>
      </p:sp>
      <p:sp>
        <p:nvSpPr>
          <p:cNvPr id="749647355" name="Text 18"/>
          <p:cNvSpPr/>
          <p:nvPr/>
        </p:nvSpPr>
        <p:spPr bwMode="auto">
          <a:xfrm>
            <a:off x="7112556" y="6778109"/>
            <a:ext cx="673155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  <a:defRPr/>
            </a:pPr>
            <a:r>
              <a:rPr lang="en-US" sz="16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Ogni push validato automaticamente. Niente merge senza tutti i controlli verdi.</a:t>
            </a:r>
            <a:endParaRPr sz="1600"/>
          </a:p>
        </p:txBody>
      </p:sp>
      <p:sp>
        <p:nvSpPr>
          <p:cNvPr id="1171697045" name="Shape 19"/>
          <p:cNvSpPr/>
          <p:nvPr/>
        </p:nvSpPr>
        <p:spPr bwMode="auto">
          <a:xfrm>
            <a:off x="6857405" y="6778109"/>
            <a:ext cx="22860" cy="476250"/>
          </a:xfrm>
          <a:prstGeom prst="rect">
            <a:avLst/>
          </a:prstGeom>
          <a:solidFill>
            <a:srgbClr val="403CCF"/>
          </a:solidFill>
          <a:ln/>
        </p:spPr>
      </p:sp>
      <p:sp>
        <p:nvSpPr>
          <p:cNvPr id="674160218" name=""/>
          <p:cNvSpPr/>
          <p:nvPr/>
        </p:nvSpPr>
        <p:spPr bwMode="auto">
          <a:xfrm rot="0" flipH="0" flipV="0">
            <a:off x="12301840" y="7660956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8794239" name="Text 0"/>
          <p:cNvSpPr/>
          <p:nvPr/>
        </p:nvSpPr>
        <p:spPr bwMode="auto">
          <a:xfrm flipH="0" flipV="0">
            <a:off x="721398" y="666749"/>
            <a:ext cx="13115210" cy="712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899"/>
              </a:lnSpc>
              <a:buNone/>
              <a:defRPr/>
            </a:pPr>
            <a:r>
              <a:rPr lang="en-US" sz="5000" b="1" u="sng">
                <a:solidFill>
                  <a:srgbClr val="403CCF"/>
                </a:solidFill>
                <a:latin typeface="Libre Baskerville"/>
                <a:ea typeface="Libre Baskerville"/>
                <a:cs typeface="Libre Baskerville"/>
              </a:rPr>
              <a:t>Conclusione</a:t>
            </a:r>
            <a:endParaRPr sz="5000" b="1" u="sng"/>
          </a:p>
        </p:txBody>
      </p:sp>
      <p:sp>
        <p:nvSpPr>
          <p:cNvPr id="1524172006" name="Text 1"/>
          <p:cNvSpPr/>
          <p:nvPr/>
        </p:nvSpPr>
        <p:spPr bwMode="auto">
          <a:xfrm>
            <a:off x="7315000" y="1409103"/>
            <a:ext cx="756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endParaRPr lang="en-US" sz="1250"/>
          </a:p>
        </p:txBody>
      </p:sp>
      <p:sp>
        <p:nvSpPr>
          <p:cNvPr id="1895485029" name="Shape 2"/>
          <p:cNvSpPr/>
          <p:nvPr/>
        </p:nvSpPr>
        <p:spPr bwMode="auto">
          <a:xfrm>
            <a:off x="793789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33574060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21399" y="1677709"/>
            <a:ext cx="190499" cy="190499"/>
          </a:xfrm>
          <a:prstGeom prst="rect">
            <a:avLst/>
          </a:prstGeom>
        </p:spPr>
      </p:pic>
      <p:pic>
        <p:nvPicPr>
          <p:cNvPr id="79119692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949190" y="3332558"/>
            <a:ext cx="190499" cy="190499"/>
          </a:xfrm>
          <a:prstGeom prst="rect">
            <a:avLst/>
          </a:prstGeom>
        </p:spPr>
      </p:pic>
      <p:sp>
        <p:nvSpPr>
          <p:cNvPr id="277307334" name="Text 3"/>
          <p:cNvSpPr/>
          <p:nvPr/>
        </p:nvSpPr>
        <p:spPr bwMode="auto">
          <a:xfrm>
            <a:off x="1054773" y="2011083"/>
            <a:ext cx="2054284" cy="24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2200">
                <a:solidFill>
                  <a:srgbClr val="49495A"/>
                </a:solidFill>
                <a:latin typeface="FreeSerif"/>
                <a:ea typeface="FreeSerif"/>
                <a:cs typeface="FreeSerif"/>
              </a:rPr>
              <a:t>Giorgia Chiampan</a:t>
            </a:r>
            <a:endParaRPr sz="2200">
              <a:latin typeface="FreeSerif"/>
              <a:cs typeface="FreeSerif"/>
            </a:endParaRPr>
          </a:p>
        </p:txBody>
      </p:sp>
      <p:sp>
        <p:nvSpPr>
          <p:cNvPr id="1098400202" name="Text 4"/>
          <p:cNvSpPr/>
          <p:nvPr/>
        </p:nvSpPr>
        <p:spPr bwMode="auto">
          <a:xfrm>
            <a:off x="1054773" y="2611515"/>
            <a:ext cx="3751539" cy="86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La nostra tutor. Per la guida costante, la pazienza e la fiducia in ogni fase del progetto.</a:t>
            </a:r>
            <a:endParaRPr sz="1400"/>
          </a:p>
        </p:txBody>
      </p:sp>
      <p:sp>
        <p:nvSpPr>
          <p:cNvPr id="1329343849" name="Shape 5"/>
          <p:cNvSpPr/>
          <p:nvPr/>
        </p:nvSpPr>
        <p:spPr bwMode="auto">
          <a:xfrm>
            <a:off x="5178384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265236789" name="Image 2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105994" y="1677709"/>
            <a:ext cx="190499" cy="190499"/>
          </a:xfrm>
          <a:prstGeom prst="rect">
            <a:avLst/>
          </a:prstGeom>
        </p:spPr>
      </p:pic>
      <p:pic>
        <p:nvPicPr>
          <p:cNvPr id="1637933392" name="Image 3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333785" y="3332558"/>
            <a:ext cx="190499" cy="190499"/>
          </a:xfrm>
          <a:prstGeom prst="rect">
            <a:avLst/>
          </a:prstGeom>
        </p:spPr>
      </p:pic>
      <p:sp>
        <p:nvSpPr>
          <p:cNvPr id="1910573272" name="Text 6"/>
          <p:cNvSpPr/>
          <p:nvPr/>
        </p:nvSpPr>
        <p:spPr bwMode="auto">
          <a:xfrm>
            <a:off x="5439368" y="2011083"/>
            <a:ext cx="2903112" cy="24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2200">
                <a:solidFill>
                  <a:srgbClr val="49495A"/>
                </a:solidFill>
                <a:latin typeface="FreeSerif"/>
                <a:ea typeface="FreeSerif"/>
                <a:cs typeface="FreeSerif"/>
              </a:rPr>
              <a:t>311-Verona &amp; Facilitatori</a:t>
            </a:r>
            <a:endParaRPr sz="2200">
              <a:latin typeface="FreeSerif"/>
              <a:cs typeface="FreeSerif"/>
            </a:endParaRPr>
          </a:p>
        </p:txBody>
      </p:sp>
      <p:sp>
        <p:nvSpPr>
          <p:cNvPr id="2036140619" name="Text 7"/>
          <p:cNvSpPr/>
          <p:nvPr/>
        </p:nvSpPr>
        <p:spPr bwMode="auto">
          <a:xfrm>
            <a:off x="5439368" y="2611515"/>
            <a:ext cx="3751539" cy="863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Per gli spazi, gli strumenti e le opportunità che hanno trasformato un'idea in un prodotto.</a:t>
            </a:r>
            <a:endParaRPr sz="1400"/>
          </a:p>
        </p:txBody>
      </p:sp>
      <p:sp>
        <p:nvSpPr>
          <p:cNvPr id="1836082615" name="Shape 8"/>
          <p:cNvSpPr/>
          <p:nvPr/>
        </p:nvSpPr>
        <p:spPr bwMode="auto">
          <a:xfrm>
            <a:off x="9562980" y="1750099"/>
            <a:ext cx="4273509" cy="1700569"/>
          </a:xfrm>
          <a:prstGeom prst="roundRect">
            <a:avLst>
              <a:gd name="adj" fmla="val 1401"/>
            </a:avLst>
          </a:prstGeom>
          <a:solidFill>
            <a:srgbClr val="FBFAFF"/>
          </a:solidFill>
          <a:ln w="22860">
            <a:solidFill>
              <a:srgbClr val="D0CED9"/>
            </a:solidFill>
            <a:prstDash val="solid"/>
          </a:ln>
        </p:spPr>
      </p:sp>
      <p:pic>
        <p:nvPicPr>
          <p:cNvPr id="1107728146" name="Image 4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90590" y="1677709"/>
            <a:ext cx="190499" cy="190499"/>
          </a:xfrm>
          <a:prstGeom prst="rect">
            <a:avLst/>
          </a:prstGeom>
        </p:spPr>
      </p:pic>
      <p:pic>
        <p:nvPicPr>
          <p:cNvPr id="324396046" name="Image 5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3718380" y="3332558"/>
            <a:ext cx="190499" cy="190499"/>
          </a:xfrm>
          <a:prstGeom prst="rect">
            <a:avLst/>
          </a:prstGeom>
        </p:spPr>
      </p:pic>
      <p:sp>
        <p:nvSpPr>
          <p:cNvPr id="869648382" name="Text 9"/>
          <p:cNvSpPr/>
          <p:nvPr/>
        </p:nvSpPr>
        <p:spPr bwMode="auto">
          <a:xfrm>
            <a:off x="9823964" y="2011083"/>
            <a:ext cx="2385370" cy="24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49"/>
              </a:lnSpc>
              <a:buNone/>
              <a:defRPr/>
            </a:pPr>
            <a:r>
              <a:rPr lang="en-US" sz="2200">
                <a:solidFill>
                  <a:srgbClr val="49495A"/>
                </a:solidFill>
                <a:latin typeface="FreeSerif"/>
                <a:ea typeface="FreeSerif"/>
                <a:cs typeface="FreeSerif"/>
              </a:rPr>
              <a:t>Docenti &amp; Compagni</a:t>
            </a:r>
            <a:endParaRPr sz="2200">
              <a:latin typeface="FreeSerif"/>
              <a:cs typeface="FreeSerif"/>
            </a:endParaRPr>
          </a:p>
        </p:txBody>
      </p:sp>
      <p:sp>
        <p:nvSpPr>
          <p:cNvPr id="797148447" name="Text 10"/>
          <p:cNvSpPr/>
          <p:nvPr/>
        </p:nvSpPr>
        <p:spPr bwMode="auto">
          <a:xfrm>
            <a:off x="9823964" y="2611515"/>
            <a:ext cx="3751539" cy="647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140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Per domande, spunti e confronti durante tutto l'anno. Ogni conversazione ha lasciato un segno.</a:t>
            </a:r>
            <a:endParaRPr sz="1400"/>
          </a:p>
        </p:txBody>
      </p:sp>
      <p:sp>
        <p:nvSpPr>
          <p:cNvPr id="969211575" name="Text 11"/>
          <p:cNvSpPr/>
          <p:nvPr/>
        </p:nvSpPr>
        <p:spPr bwMode="auto">
          <a:xfrm>
            <a:off x="1031913" y="3986451"/>
            <a:ext cx="12804696" cy="431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99"/>
              </a:lnSpc>
              <a:buNone/>
              <a:defRPr/>
            </a:pPr>
            <a:r>
              <a:rPr lang="en-US" sz="20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Relax Room non sarebbe esistito senza di voi.</a:t>
            </a:r>
            <a:r>
              <a:rPr lang="en-US" sz="2000" b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Grazie.</a:t>
            </a:r>
            <a:endParaRPr sz="2000"/>
          </a:p>
        </p:txBody>
      </p:sp>
      <p:sp>
        <p:nvSpPr>
          <p:cNvPr id="882961242" name="Shape 12"/>
          <p:cNvSpPr/>
          <p:nvPr/>
        </p:nvSpPr>
        <p:spPr bwMode="auto">
          <a:xfrm>
            <a:off x="793789" y="3575684"/>
            <a:ext cx="22860" cy="681989"/>
          </a:xfrm>
          <a:prstGeom prst="rect">
            <a:avLst/>
          </a:prstGeom>
          <a:solidFill>
            <a:srgbClr val="403CCF"/>
          </a:solidFill>
          <a:ln/>
        </p:spPr>
      </p:sp>
      <p:sp>
        <p:nvSpPr>
          <p:cNvPr id="1732329202" name="Text 13"/>
          <p:cNvSpPr/>
          <p:nvPr/>
        </p:nvSpPr>
        <p:spPr bwMode="auto">
          <a:xfrm>
            <a:off x="3184404" y="4461984"/>
            <a:ext cx="1671006" cy="5242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3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10.650</a:t>
            </a:r>
            <a:endParaRPr sz="4300"/>
          </a:p>
        </p:txBody>
      </p:sp>
      <p:sp>
        <p:nvSpPr>
          <p:cNvPr id="846199579" name="Text 14"/>
          <p:cNvSpPr/>
          <p:nvPr/>
        </p:nvSpPr>
        <p:spPr bwMode="auto">
          <a:xfrm>
            <a:off x="3194622" y="5148499"/>
            <a:ext cx="1650571" cy="248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9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Righe di codice</a:t>
            </a:r>
            <a:endParaRPr sz="1900"/>
          </a:p>
        </p:txBody>
      </p:sp>
      <p:sp>
        <p:nvSpPr>
          <p:cNvPr id="1994282894" name="Text 15"/>
          <p:cNvSpPr/>
          <p:nvPr/>
        </p:nvSpPr>
        <p:spPr bwMode="auto">
          <a:xfrm>
            <a:off x="2520856" y="5463181"/>
            <a:ext cx="2998220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Pulito, testabile, pronto a scalare</a:t>
            </a:r>
            <a:endParaRPr sz="1550"/>
          </a:p>
        </p:txBody>
      </p:sp>
      <p:sp>
        <p:nvSpPr>
          <p:cNvPr id="886294161" name="Text 16"/>
          <p:cNvSpPr/>
          <p:nvPr/>
        </p:nvSpPr>
        <p:spPr bwMode="auto">
          <a:xfrm>
            <a:off x="10306658" y="4461984"/>
            <a:ext cx="608145" cy="5242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3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46</a:t>
            </a:r>
            <a:endParaRPr sz="4300"/>
          </a:p>
        </p:txBody>
      </p:sp>
      <p:sp>
        <p:nvSpPr>
          <p:cNvPr id="1734007393" name="Text 17"/>
          <p:cNvSpPr/>
          <p:nvPr/>
        </p:nvSpPr>
        <p:spPr bwMode="auto">
          <a:xfrm>
            <a:off x="9825565" y="5148499"/>
            <a:ext cx="1570332" cy="248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9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Segnali globali</a:t>
            </a:r>
            <a:endParaRPr sz="1900"/>
          </a:p>
        </p:txBody>
      </p:sp>
      <p:sp>
        <p:nvSpPr>
          <p:cNvPr id="664495954" name="Text 18"/>
          <p:cNvSpPr/>
          <p:nvPr/>
        </p:nvSpPr>
        <p:spPr bwMode="auto">
          <a:xfrm>
            <a:off x="9158292" y="5463181"/>
            <a:ext cx="2904995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Zero accoppiamento tra sistemi</a:t>
            </a:r>
            <a:endParaRPr sz="1550"/>
          </a:p>
        </p:txBody>
      </p:sp>
      <p:sp>
        <p:nvSpPr>
          <p:cNvPr id="1390475885" name="Text 19"/>
          <p:cNvSpPr/>
          <p:nvPr/>
        </p:nvSpPr>
        <p:spPr bwMode="auto">
          <a:xfrm>
            <a:off x="3563978" y="5980746"/>
            <a:ext cx="911857" cy="5242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3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129</a:t>
            </a:r>
            <a:endParaRPr sz="4300"/>
          </a:p>
        </p:txBody>
      </p:sp>
      <p:sp>
        <p:nvSpPr>
          <p:cNvPr id="1087073201" name="Text 20"/>
          <p:cNvSpPr/>
          <p:nvPr/>
        </p:nvSpPr>
        <p:spPr bwMode="auto">
          <a:xfrm>
            <a:off x="3080688" y="6667260"/>
            <a:ext cx="1878439" cy="248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9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Oggetti decorativi</a:t>
            </a:r>
            <a:endParaRPr sz="1900"/>
          </a:p>
        </p:txBody>
      </p:sp>
      <p:sp>
        <p:nvSpPr>
          <p:cNvPr id="1548075858" name="Text 21"/>
          <p:cNvSpPr/>
          <p:nvPr/>
        </p:nvSpPr>
        <p:spPr bwMode="auto">
          <a:xfrm>
            <a:off x="2649073" y="6981942"/>
            <a:ext cx="2741786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In 13 categorie drag-and-drop</a:t>
            </a:r>
            <a:endParaRPr sz="1550"/>
          </a:p>
        </p:txBody>
      </p:sp>
      <p:sp>
        <p:nvSpPr>
          <p:cNvPr id="1895377544" name="Text 22"/>
          <p:cNvSpPr/>
          <p:nvPr/>
        </p:nvSpPr>
        <p:spPr bwMode="auto">
          <a:xfrm>
            <a:off x="10458513" y="5980746"/>
            <a:ext cx="304432" cy="5242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99"/>
              </a:lnSpc>
              <a:buNone/>
              <a:defRPr/>
            </a:pPr>
            <a:r>
              <a:rPr lang="en-US" sz="43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3</a:t>
            </a:r>
            <a:endParaRPr sz="4300"/>
          </a:p>
        </p:txBody>
      </p:sp>
      <p:sp>
        <p:nvSpPr>
          <p:cNvPr id="1462324794" name="Text 23"/>
          <p:cNvSpPr/>
          <p:nvPr/>
        </p:nvSpPr>
        <p:spPr bwMode="auto">
          <a:xfrm>
            <a:off x="9979969" y="6667260"/>
            <a:ext cx="1261523" cy="248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49"/>
              </a:lnSpc>
              <a:buNone/>
              <a:defRPr/>
            </a:pPr>
            <a:r>
              <a:rPr lang="en-US" sz="1900">
                <a:solidFill>
                  <a:srgbClr val="49495A"/>
                </a:solidFill>
                <a:latin typeface="Libre Baskerville"/>
                <a:ea typeface="Libre Baskerville"/>
                <a:cs typeface="Libre Baskerville"/>
              </a:rPr>
              <a:t>Sviluppatori</a:t>
            </a:r>
            <a:endParaRPr sz="1900"/>
          </a:p>
        </p:txBody>
      </p:sp>
      <p:sp>
        <p:nvSpPr>
          <p:cNvPr id="558875778" name="Text 24"/>
          <p:cNvSpPr/>
          <p:nvPr/>
        </p:nvSpPr>
        <p:spPr bwMode="auto">
          <a:xfrm>
            <a:off x="9655990" y="6981942"/>
            <a:ext cx="1909598" cy="216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550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Renan · Elia · Cristian</a:t>
            </a:r>
            <a:endParaRPr sz="1550"/>
          </a:p>
        </p:txBody>
      </p:sp>
      <p:sp>
        <p:nvSpPr>
          <p:cNvPr id="381747257" name="Text 25"/>
          <p:cNvSpPr/>
          <p:nvPr/>
        </p:nvSpPr>
        <p:spPr bwMode="auto">
          <a:xfrm>
            <a:off x="6219241" y="7322937"/>
            <a:ext cx="2192635" cy="216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99"/>
              </a:lnSpc>
              <a:buNone/>
              <a:defRPr/>
            </a:pPr>
            <a:r>
              <a:rPr lang="en-US" sz="1400" i="1">
                <a:solidFill>
                  <a:srgbClr val="49495A"/>
                </a:solidFill>
                <a:latin typeface="Open Sans"/>
                <a:ea typeface="Open Sans"/>
                <a:cs typeface="Open Sans"/>
              </a:rPr>
              <a:t>rojectwork IFTS 2025/2026</a:t>
            </a:r>
            <a:endParaRPr sz="1400"/>
          </a:p>
        </p:txBody>
      </p:sp>
      <p:sp>
        <p:nvSpPr>
          <p:cNvPr id="495784427" name=""/>
          <p:cNvSpPr/>
          <p:nvPr/>
        </p:nvSpPr>
        <p:spPr bwMode="auto">
          <a:xfrm rot="0" flipH="0" flipV="0">
            <a:off x="12206590" y="7660956"/>
            <a:ext cx="2371116" cy="52691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4</cp:revision>
  <dcterms:created xsi:type="dcterms:W3CDTF">2026-04-17T07:28:38Z</dcterms:created>
  <dcterms:modified xsi:type="dcterms:W3CDTF">2026-04-17T10:25:32Z</dcterms:modified>
</cp:coreProperties>
</file>