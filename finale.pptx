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4608"/>
        <p:guide pos="2592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59295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68647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4026045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5308994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653845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93782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3967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9579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47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520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201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2239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086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408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2135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E5C139-B151-53E3-A39E-3EEB2FE3AA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036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3473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7764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CDE648-79EF-EDEF-7BC3-3EAE1285BD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5401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493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9977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D3A0BA-5741-2340-4947-30010A29462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929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6863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8697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793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4902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3943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58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48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258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797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619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523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568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755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804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5B7D9B-C7A1-0993-1F89-092130D029A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766356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1863451400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814190654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330619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1272134747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1786391499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870294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1083972182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73473363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268966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1983492224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95991263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76932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1563157809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1723624725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787797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933770254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601379499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455212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2054598522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707084713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media1.svg"/><Relationship Id="rId6" Type="http://schemas.openxmlformats.org/officeDocument/2006/relationships/hyperlink" Target="https://mini-cozy-room.netlify.app/team/renan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media2.sv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media3.sv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media4.sv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media5.sv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media6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media7.svg"/><Relationship Id="rId5" Type="http://schemas.openxmlformats.org/officeDocument/2006/relationships/image" Target="../media/image26.png"/><Relationship Id="rId6" Type="http://schemas.openxmlformats.org/officeDocument/2006/relationships/image" Target="../media/media8.svg"/><Relationship Id="rId7" Type="http://schemas.openxmlformats.org/officeDocument/2006/relationships/image" Target="../media/image27.png"/><Relationship Id="rId8" Type="http://schemas.openxmlformats.org/officeDocument/2006/relationships/image" Target="../media/media9.svg"/><Relationship Id="rId9" Type="http://schemas.openxmlformats.org/officeDocument/2006/relationships/image" Target="../media/image2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media10.svg"/><Relationship Id="rId5" Type="http://schemas.openxmlformats.org/officeDocument/2006/relationships/image" Target="../media/image30.png"/><Relationship Id="rId6" Type="http://schemas.openxmlformats.org/officeDocument/2006/relationships/image" Target="../media/media11.svg"/><Relationship Id="rId7" Type="http://schemas.openxmlformats.org/officeDocument/2006/relationships/image" Target="../media/image31.png"/><Relationship Id="rId8" Type="http://schemas.openxmlformats.org/officeDocument/2006/relationships/image" Target="../media/media12.svg"/><Relationship Id="rId9" Type="http://schemas.openxmlformats.org/officeDocument/2006/relationships/image" Target="../media/image32.png"/><Relationship Id="rId10" Type="http://schemas.openxmlformats.org/officeDocument/2006/relationships/image" Target="../media/media13.svg"/><Relationship Id="rId11" Type="http://schemas.openxmlformats.org/officeDocument/2006/relationships/image" Target="../media/image33.png"/><Relationship Id="rId12" Type="http://schemas.openxmlformats.org/officeDocument/2006/relationships/image" Target="../media/media14.sv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152719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417179772" name="Text 0"/>
          <p:cNvSpPr/>
          <p:nvPr/>
        </p:nvSpPr>
        <p:spPr bwMode="auto">
          <a:xfrm>
            <a:off x="793789" y="2444472"/>
            <a:ext cx="5136859" cy="70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52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Mini Cozy Room</a:t>
            </a:r>
            <a:endParaRPr sz="5200" b="1"/>
          </a:p>
        </p:txBody>
      </p:sp>
      <p:sp>
        <p:nvSpPr>
          <p:cNvPr id="1677258828" name="Shape 1"/>
          <p:cNvSpPr/>
          <p:nvPr/>
        </p:nvSpPr>
        <p:spPr bwMode="auto">
          <a:xfrm>
            <a:off x="793790" y="3493413"/>
            <a:ext cx="2813566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pic>
        <p:nvPicPr>
          <p:cNvPr id="800269857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929878" y="3615809"/>
            <a:ext cx="181451" cy="181451"/>
          </a:xfrm>
          <a:prstGeom prst="rect">
            <a:avLst/>
          </a:prstGeom>
        </p:spPr>
      </p:pic>
      <p:sp>
        <p:nvSpPr>
          <p:cNvPr id="918029741" name="Text 2"/>
          <p:cNvSpPr/>
          <p:nvPr/>
        </p:nvSpPr>
        <p:spPr bwMode="auto">
          <a:xfrm>
            <a:off x="1100725" y="3561397"/>
            <a:ext cx="2386967" cy="29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PROGETTO IFTS 2025/2026</a:t>
            </a:r>
            <a:endParaRPr sz="1500"/>
          </a:p>
        </p:txBody>
      </p:sp>
      <p:sp>
        <p:nvSpPr>
          <p:cNvPr id="952196149" name="Text 3"/>
          <p:cNvSpPr/>
          <p:nvPr/>
        </p:nvSpPr>
        <p:spPr bwMode="auto">
          <a:xfrm>
            <a:off x="793790" y="4010382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5955EB"/>
                </a:solidFill>
                <a:latin typeface="Libre Baskerville"/>
                <a:ea typeface="Libre Baskerville"/>
                <a:cs typeface="Libre Baskerville"/>
              </a:rPr>
              <a:t>Relax Room</a:t>
            </a:r>
            <a:r>
              <a:rPr lang="en-US" sz="22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 — Desktop companion per relax e produttività</a:t>
            </a:r>
            <a:endParaRPr sz="2200"/>
          </a:p>
        </p:txBody>
      </p:sp>
      <p:sp>
        <p:nvSpPr>
          <p:cNvPr id="1556310826" name="Text 4"/>
          <p:cNvSpPr/>
          <p:nvPr/>
        </p:nvSpPr>
        <p:spPr bwMode="auto">
          <a:xfrm>
            <a:off x="793790" y="5059204"/>
            <a:ext cx="7556421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Presentazione Aprile 2026 | </a:t>
            </a:r>
            <a:r>
              <a:rPr lang="en-US" sz="175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Renan Augusto Macena</a:t>
            </a: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· </a:t>
            </a:r>
            <a:r>
              <a:rPr lang="en-US" sz="175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Elia Zoccatelli</a:t>
            </a:r>
            <a:r>
              <a:rPr lang="en-US" sz="17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· </a:t>
            </a:r>
            <a:r>
              <a:rPr lang="en-US" sz="175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Cristian Marino</a:t>
            </a:r>
            <a:endParaRPr lang="en-US" sz="1750"/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🔗 </a:t>
            </a:r>
            <a:r>
              <a:rPr lang="en-US" sz="1500" u="sng">
                <a:solidFill>
                  <a:srgbClr val="4F46E5"/>
                </a:solidFill>
                <a:latin typeface="Open Sans"/>
                <a:ea typeface="Open Sans"/>
                <a:cs typeface="Open Sans"/>
                <a:hlinkClick r:id="rId6" tooltip=""/>
              </a:rPr>
              <a:t>mini-cozy-room.netlify.app/team/renan</a:t>
            </a:r>
            <a:endParaRPr lang="en-US" sz="1500"/>
          </a:p>
        </p:txBody>
      </p:sp>
      <p:sp>
        <p:nvSpPr>
          <p:cNvPr id="1053746839" name=""/>
          <p:cNvSpPr/>
          <p:nvPr/>
        </p:nvSpPr>
        <p:spPr bwMode="auto">
          <a:xfrm rot="0" flipH="0" flipV="0">
            <a:off x="12301840" y="7660956"/>
            <a:ext cx="2371116" cy="5269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449186" name="Text 0"/>
          <p:cNvSpPr/>
          <p:nvPr/>
        </p:nvSpPr>
        <p:spPr bwMode="auto">
          <a:xfrm>
            <a:off x="793789" y="645080"/>
            <a:ext cx="5083887" cy="567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  <a:defRPr/>
            </a:pPr>
            <a:r>
              <a:rPr lang="en-US" sz="42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Il Team + Il Progetto</a:t>
            </a:r>
            <a:endParaRPr sz="4200" b="1"/>
          </a:p>
        </p:txBody>
      </p:sp>
      <p:sp>
        <p:nvSpPr>
          <p:cNvPr id="1201539203" name="Shape 1"/>
          <p:cNvSpPr/>
          <p:nvPr/>
        </p:nvSpPr>
        <p:spPr bwMode="auto">
          <a:xfrm>
            <a:off x="793790" y="1592937"/>
            <a:ext cx="6974324" cy="1904405"/>
          </a:xfrm>
          <a:prstGeom prst="roundRect">
            <a:avLst>
              <a:gd name="adj" fmla="val 5762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776708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0930" y="1592937"/>
            <a:ext cx="91440" cy="1904405"/>
          </a:xfrm>
          <a:prstGeom prst="rect">
            <a:avLst/>
          </a:prstGeom>
        </p:spPr>
      </p:pic>
      <p:sp>
        <p:nvSpPr>
          <p:cNvPr id="875872631" name="Text 2"/>
          <p:cNvSpPr/>
          <p:nvPr/>
        </p:nvSpPr>
        <p:spPr bwMode="auto">
          <a:xfrm>
            <a:off x="1066681" y="1797247"/>
            <a:ext cx="6497122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26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Renan Augusto Macena</a:t>
            </a:r>
            <a:r>
              <a:rPr lang="en-US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— </a:t>
            </a:r>
            <a:r>
              <a:rPr lang="en-US" sz="2000">
                <a:solidFill>
                  <a:srgbClr val="5955EB"/>
                </a:solidFill>
                <a:latin typeface="Libre Baskerville"/>
                <a:ea typeface="Libre Baskerville"/>
                <a:cs typeface="Libre Baskerville"/>
              </a:rPr>
              <a:t>Team Lead &amp; Architetto Software</a:t>
            </a:r>
            <a:endParaRPr sz="2000"/>
          </a:p>
        </p:txBody>
      </p:sp>
      <p:sp>
        <p:nvSpPr>
          <p:cNvPr id="733158189" name="Text 3"/>
          <p:cNvSpPr/>
          <p:nvPr/>
        </p:nvSpPr>
        <p:spPr bwMode="auto">
          <a:xfrm>
            <a:off x="1066681" y="2509361"/>
            <a:ext cx="6497122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Architettura signal-driven, sistemi core, gestione del repository.</a:t>
            </a:r>
            <a:endParaRPr sz="1800"/>
          </a:p>
        </p:txBody>
      </p:sp>
      <p:sp>
        <p:nvSpPr>
          <p:cNvPr id="1418284154" name="Shape 4"/>
          <p:cNvSpPr/>
          <p:nvPr/>
        </p:nvSpPr>
        <p:spPr bwMode="auto">
          <a:xfrm>
            <a:off x="793790" y="3642479"/>
            <a:ext cx="6974324" cy="1620917"/>
          </a:xfrm>
          <a:prstGeom prst="roundRect">
            <a:avLst>
              <a:gd name="adj" fmla="val 677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63971678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0930" y="3642479"/>
            <a:ext cx="91440" cy="1620917"/>
          </a:xfrm>
          <a:prstGeom prst="rect">
            <a:avLst/>
          </a:prstGeom>
        </p:spPr>
      </p:pic>
      <p:sp>
        <p:nvSpPr>
          <p:cNvPr id="418036457" name="Text 5"/>
          <p:cNvSpPr/>
          <p:nvPr/>
        </p:nvSpPr>
        <p:spPr bwMode="auto">
          <a:xfrm>
            <a:off x="1066680" y="3846789"/>
            <a:ext cx="5029674" cy="284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26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Elia Zoccatelli</a:t>
            </a:r>
            <a:r>
              <a:rPr lang="en-US" sz="2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— </a:t>
            </a:r>
            <a:r>
              <a:rPr lang="en-US" sz="2200">
                <a:solidFill>
                  <a:srgbClr val="5955EB"/>
                </a:solidFill>
                <a:latin typeface="Libre Baskerville"/>
                <a:ea typeface="Libre Baskerville"/>
                <a:cs typeface="Libre Baskerville"/>
              </a:rPr>
              <a:t>Database Engineer</a:t>
            </a:r>
            <a:endParaRPr sz="2200"/>
          </a:p>
        </p:txBody>
      </p:sp>
      <p:sp>
        <p:nvSpPr>
          <p:cNvPr id="2063785833" name="Text 6"/>
          <p:cNvSpPr/>
          <p:nvPr/>
        </p:nvSpPr>
        <p:spPr bwMode="auto">
          <a:xfrm>
            <a:off x="1066681" y="4275415"/>
            <a:ext cx="6497122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Schema dati locale (SQLite, 11 tabelle) e cloud (Supabase, 15 tabelle con RLS).</a:t>
            </a:r>
            <a:endParaRPr sz="1800"/>
          </a:p>
        </p:txBody>
      </p:sp>
      <p:sp>
        <p:nvSpPr>
          <p:cNvPr id="1379036466" name="Shape 7"/>
          <p:cNvSpPr/>
          <p:nvPr/>
        </p:nvSpPr>
        <p:spPr bwMode="auto">
          <a:xfrm>
            <a:off x="793790" y="5408533"/>
            <a:ext cx="6974324" cy="1620917"/>
          </a:xfrm>
          <a:prstGeom prst="roundRect">
            <a:avLst>
              <a:gd name="adj" fmla="val 677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71707367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70930" y="5408533"/>
            <a:ext cx="91440" cy="1620917"/>
          </a:xfrm>
          <a:prstGeom prst="rect">
            <a:avLst/>
          </a:prstGeom>
        </p:spPr>
      </p:pic>
      <p:sp>
        <p:nvSpPr>
          <p:cNvPr id="647755889" name="Text 8"/>
          <p:cNvSpPr/>
          <p:nvPr/>
        </p:nvSpPr>
        <p:spPr bwMode="auto">
          <a:xfrm>
            <a:off x="1066680" y="5612843"/>
            <a:ext cx="5711511" cy="28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26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Cristian Marino</a:t>
            </a:r>
            <a:r>
              <a:rPr lang="en-US" sz="22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— </a:t>
            </a:r>
            <a:r>
              <a:rPr lang="en-US" sz="2200">
                <a:solidFill>
                  <a:srgbClr val="5955EB"/>
                </a:solidFill>
                <a:latin typeface="Libre Baskerville"/>
                <a:ea typeface="Libre Baskerville"/>
                <a:cs typeface="Libre Baskerville"/>
              </a:rPr>
              <a:t>Asset Pipeline &amp; CI/CD</a:t>
            </a:r>
            <a:endParaRPr sz="2200"/>
          </a:p>
        </p:txBody>
      </p:sp>
      <p:sp>
        <p:nvSpPr>
          <p:cNvPr id="1517576973" name="Text 9"/>
          <p:cNvSpPr/>
          <p:nvPr/>
        </p:nvSpPr>
        <p:spPr bwMode="auto">
          <a:xfrm>
            <a:off x="1066681" y="6041469"/>
            <a:ext cx="6497122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Asset pixel art, pipeline CI/CD a 9 job, build Windows e Web.</a:t>
            </a:r>
            <a:endParaRPr sz="1800"/>
          </a:p>
        </p:txBody>
      </p:sp>
      <p:sp>
        <p:nvSpPr>
          <p:cNvPr id="1056826839" name="Text 10"/>
          <p:cNvSpPr/>
          <p:nvPr/>
        </p:nvSpPr>
        <p:spPr bwMode="auto">
          <a:xfrm>
            <a:off x="793790" y="7192685"/>
            <a:ext cx="697432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4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Tre ruoli complementari, un obiettivo comune.</a:t>
            </a:r>
            <a:endParaRPr lang="en-US" sz="1400"/>
          </a:p>
        </p:txBody>
      </p:sp>
      <p:sp>
        <p:nvSpPr>
          <p:cNvPr id="423232870" name="Shape 11"/>
          <p:cNvSpPr/>
          <p:nvPr/>
        </p:nvSpPr>
        <p:spPr bwMode="auto">
          <a:xfrm>
            <a:off x="8087797" y="1429703"/>
            <a:ext cx="5886926" cy="6154817"/>
          </a:xfrm>
          <a:prstGeom prst="roundRect">
            <a:avLst>
              <a:gd name="adj" fmla="val 462"/>
            </a:avLst>
          </a:prstGeom>
          <a:solidFill>
            <a:srgbClr val="E7E0FF"/>
          </a:solidFill>
          <a:ln/>
        </p:spPr>
      </p:sp>
      <p:sp>
        <p:nvSpPr>
          <p:cNvPr id="1241688181" name="Text 12"/>
          <p:cNvSpPr/>
          <p:nvPr/>
        </p:nvSpPr>
        <p:spPr bwMode="auto">
          <a:xfrm>
            <a:off x="8269248" y="157484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Cos'è Relax Room?</a:t>
            </a:r>
            <a:endParaRPr lang="en-US" sz="1750"/>
          </a:p>
        </p:txBody>
      </p:sp>
      <p:sp>
        <p:nvSpPr>
          <p:cNvPr id="1385429910" name="Text 13"/>
          <p:cNvSpPr/>
          <p:nvPr/>
        </p:nvSpPr>
        <p:spPr bwMode="auto">
          <a:xfrm>
            <a:off x="8269248" y="2003465"/>
            <a:ext cx="5524024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Un'app desktop che trasforma il PC in uno spazio accogliente e personalizzabile.</a:t>
            </a:r>
            <a:endParaRPr sz="1600"/>
          </a:p>
        </p:txBody>
      </p:sp>
      <p:sp>
        <p:nvSpPr>
          <p:cNvPr id="1792202603" name="Text 14"/>
          <p:cNvSpPr/>
          <p:nvPr/>
        </p:nvSpPr>
        <p:spPr bwMode="auto">
          <a:xfrm>
            <a:off x="8269248" y="2656523"/>
            <a:ext cx="5524024" cy="265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🎨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7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Stanza Pixel Art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— 129 oggetti, 13 categorie</a:t>
            </a:r>
            <a:endParaRPr sz="1700"/>
          </a:p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🎵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7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Musica Lo-Fi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— 2 tracce ambient con crossfade</a:t>
            </a:r>
            <a:endParaRPr sz="1700"/>
          </a:p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🧍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7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Personaggio animato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— Sprite 32×32, 8 direzioni</a:t>
            </a:r>
            <a:endParaRPr sz="1700"/>
          </a:p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🐈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7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Pet Virtuale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— Gattino autonomo a stati</a:t>
            </a:r>
            <a:endParaRPr sz="1700"/>
          </a:p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📋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7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Produttività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— Strumenti consapevoli</a:t>
            </a:r>
            <a:endParaRPr sz="1700"/>
          </a:p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📴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7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Offline-first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— Nessuna connessione richiesta, sync cloud opzionale</a:t>
            </a:r>
            <a:endParaRPr sz="1700"/>
          </a:p>
        </p:txBody>
      </p:sp>
      <p:sp>
        <p:nvSpPr>
          <p:cNvPr id="1515494030" name="Text 15"/>
          <p:cNvSpPr/>
          <p:nvPr/>
        </p:nvSpPr>
        <p:spPr bwMode="auto">
          <a:xfrm>
            <a:off x="8541425" y="5470088"/>
            <a:ext cx="5251847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5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Non un gioco: un ambiente dove tornare quando serve un momento di calma.</a:t>
            </a:r>
            <a:endParaRPr sz="1500" i="1"/>
          </a:p>
        </p:txBody>
      </p:sp>
      <p:sp>
        <p:nvSpPr>
          <p:cNvPr id="2076387589" name="Shape 16"/>
          <p:cNvSpPr/>
          <p:nvPr/>
        </p:nvSpPr>
        <p:spPr bwMode="auto">
          <a:xfrm>
            <a:off x="8269248" y="5470088"/>
            <a:ext cx="22860" cy="522446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833836929" name=""/>
          <p:cNvSpPr/>
          <p:nvPr/>
        </p:nvSpPr>
        <p:spPr bwMode="auto">
          <a:xfrm rot="0" flipH="0" flipV="0">
            <a:off x="12301840" y="7660956"/>
            <a:ext cx="2371116" cy="5269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235469" name="Text 0"/>
          <p:cNvSpPr/>
          <p:nvPr/>
        </p:nvSpPr>
        <p:spPr bwMode="auto">
          <a:xfrm>
            <a:off x="731520" y="457200"/>
            <a:ext cx="1316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Gameplay &amp; Asset</a:t>
            </a:r>
            <a:endParaRPr sz="4200" b="1"/>
          </a:p>
        </p:txBody>
      </p:sp>
      <p:sp>
        <p:nvSpPr>
          <p:cNvPr id="598357884" name="Text 1"/>
          <p:cNvSpPr/>
          <p:nvPr/>
        </p:nvSpPr>
        <p:spPr bwMode="auto">
          <a:xfrm>
            <a:off x="73152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 i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Gameplay</a:t>
            </a:r>
            <a:endParaRPr lang="en-US" sz="2200"/>
          </a:p>
        </p:txBody>
      </p:sp>
      <p:sp>
        <p:nvSpPr>
          <p:cNvPr id="1899411424" name="Shape 2"/>
          <p:cNvSpPr/>
          <p:nvPr/>
        </p:nvSpPr>
        <p:spPr bwMode="auto">
          <a:xfrm>
            <a:off x="731520" y="219456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4F46E5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14497802" name="Text 3"/>
          <p:cNvSpPr/>
          <p:nvPr/>
        </p:nvSpPr>
        <p:spPr bwMode="auto">
          <a:xfrm>
            <a:off x="73152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32×32</a:t>
            </a:r>
            <a:endParaRPr lang="en-US" sz="3600"/>
          </a:p>
        </p:txBody>
      </p:sp>
      <p:sp>
        <p:nvSpPr>
          <p:cNvPr id="1501853945" name="Text 4"/>
          <p:cNvSpPr/>
          <p:nvPr/>
        </p:nvSpPr>
        <p:spPr bwMode="auto">
          <a:xfrm>
            <a:off x="73152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sprite px</a:t>
            </a:r>
            <a:endParaRPr lang="en-US" sz="1400"/>
          </a:p>
        </p:txBody>
      </p:sp>
      <p:sp>
        <p:nvSpPr>
          <p:cNvPr id="1040274716" name="Shape 5"/>
          <p:cNvSpPr/>
          <p:nvPr/>
        </p:nvSpPr>
        <p:spPr bwMode="auto">
          <a:xfrm>
            <a:off x="2880360" y="219456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ECEBFA"/>
          </a:solidFill>
          <a:ln w="19050">
            <a:solidFill>
              <a:srgbClr val="C4B8F5"/>
            </a:solidFill>
            <a:prstDash val="solid"/>
          </a:ln>
        </p:spPr>
      </p:sp>
      <p:sp>
        <p:nvSpPr>
          <p:cNvPr id="658633327" name="Text 6"/>
          <p:cNvSpPr/>
          <p:nvPr/>
        </p:nvSpPr>
        <p:spPr bwMode="auto">
          <a:xfrm>
            <a:off x="288036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600" b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8</a:t>
            </a:r>
            <a:endParaRPr lang="en-US" sz="5600"/>
          </a:p>
        </p:txBody>
      </p:sp>
      <p:sp>
        <p:nvSpPr>
          <p:cNvPr id="2065958681" name="Text 7"/>
          <p:cNvSpPr/>
          <p:nvPr/>
        </p:nvSpPr>
        <p:spPr bwMode="auto">
          <a:xfrm>
            <a:off x="288036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direzioni</a:t>
            </a:r>
            <a:endParaRPr lang="en-US" sz="1400"/>
          </a:p>
        </p:txBody>
      </p:sp>
      <p:sp>
        <p:nvSpPr>
          <p:cNvPr id="934204263" name="Shape 8"/>
          <p:cNvSpPr/>
          <p:nvPr/>
        </p:nvSpPr>
        <p:spPr bwMode="auto">
          <a:xfrm>
            <a:off x="5029200" y="219456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ECEBFA"/>
          </a:solidFill>
          <a:ln w="19050">
            <a:solidFill>
              <a:srgbClr val="C4B8F5"/>
            </a:solidFill>
            <a:prstDash val="solid"/>
          </a:ln>
        </p:spPr>
      </p:sp>
      <p:sp>
        <p:nvSpPr>
          <p:cNvPr id="933717892" name="Text 9"/>
          <p:cNvSpPr/>
          <p:nvPr/>
        </p:nvSpPr>
        <p:spPr bwMode="auto">
          <a:xfrm>
            <a:off x="502920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600" b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120</a:t>
            </a:r>
            <a:endParaRPr lang="en-US" sz="5600"/>
          </a:p>
        </p:txBody>
      </p:sp>
      <p:sp>
        <p:nvSpPr>
          <p:cNvPr id="91282400" name="Text 10"/>
          <p:cNvSpPr/>
          <p:nvPr/>
        </p:nvSpPr>
        <p:spPr bwMode="auto">
          <a:xfrm>
            <a:off x="502920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px/s</a:t>
            </a:r>
            <a:endParaRPr lang="en-US" sz="1400"/>
          </a:p>
        </p:txBody>
      </p:sp>
      <p:sp>
        <p:nvSpPr>
          <p:cNvPr id="1573335759" name="Shape 11"/>
          <p:cNvSpPr/>
          <p:nvPr/>
        </p:nvSpPr>
        <p:spPr bwMode="auto">
          <a:xfrm>
            <a:off x="731520" y="4297680"/>
            <a:ext cx="6217920" cy="1188720"/>
          </a:xfrm>
          <a:prstGeom prst="roundRect">
            <a:avLst>
              <a:gd name="adj" fmla="val 11538"/>
            </a:avLst>
          </a:prstGeom>
          <a:solidFill>
            <a:srgbClr val="ECEBFA"/>
          </a:solidFill>
          <a:ln w="19050">
            <a:solidFill>
              <a:srgbClr val="C4B8F5"/>
            </a:solidFill>
            <a:prstDash val="solid"/>
          </a:ln>
        </p:spPr>
      </p:sp>
      <p:sp>
        <p:nvSpPr>
          <p:cNvPr id="633664346" name="Text 12"/>
          <p:cNvSpPr/>
          <p:nvPr/>
        </p:nvSpPr>
        <p:spPr bwMode="auto">
          <a:xfrm>
            <a:off x="914400" y="42976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Audio</a:t>
            </a:r>
            <a:br>
              <a:rPr lang="en-US" sz="18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</a:b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2 tracce ambient · crossfade 2s · 3 bus volume</a:t>
            </a:r>
            <a:endParaRPr lang="en-US" sz="1800"/>
          </a:p>
        </p:txBody>
      </p:sp>
      <p:sp>
        <p:nvSpPr>
          <p:cNvPr id="945606145" name="Text 13"/>
          <p:cNvSpPr/>
          <p:nvPr/>
        </p:nvSpPr>
        <p:spPr bwMode="auto">
          <a:xfrm>
            <a:off x="731520" y="56235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Controlli: </a:t>
            </a: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WASD / frecce direzionali</a:t>
            </a:r>
            <a:endParaRPr sz="1600"/>
          </a:p>
        </p:txBody>
      </p:sp>
      <p:sp>
        <p:nvSpPr>
          <p:cNvPr id="1012543356" name="Shape 14"/>
          <p:cNvSpPr/>
          <p:nvPr/>
        </p:nvSpPr>
        <p:spPr bwMode="auto">
          <a:xfrm>
            <a:off x="7315200" y="1645920"/>
            <a:ext cx="0" cy="5943600"/>
          </a:xfrm>
          <a:prstGeom prst="line">
            <a:avLst/>
          </a:prstGeom>
          <a:noFill/>
          <a:ln w="12700">
            <a:solidFill>
              <a:srgbClr val="C4B8F5"/>
            </a:solidFill>
            <a:prstDash val="solid"/>
          </a:ln>
        </p:spPr>
      </p:sp>
      <p:sp>
        <p:nvSpPr>
          <p:cNvPr id="179875102" name="Text 15"/>
          <p:cNvSpPr/>
          <p:nvPr/>
        </p:nvSpPr>
        <p:spPr bwMode="auto">
          <a:xfrm>
            <a:off x="777240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 i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Asset Pipeline</a:t>
            </a:r>
            <a:endParaRPr sz="2600" i="1"/>
          </a:p>
        </p:txBody>
      </p:sp>
      <p:sp>
        <p:nvSpPr>
          <p:cNvPr id="1068506375" name="Text 16"/>
          <p:cNvSpPr/>
          <p:nvPr/>
        </p:nvSpPr>
        <p:spPr bwMode="auto">
          <a:xfrm>
            <a:off x="7772400" y="2057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129</a:t>
            </a: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 </a:t>
            </a: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oggetti in</a:t>
            </a: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 </a:t>
            </a:r>
            <a:r>
              <a:rPr lang="en-US" sz="4000" b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13</a:t>
            </a: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 </a:t>
            </a: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categorie</a:t>
            </a:r>
            <a:endParaRPr lang="en-US" sz="4000"/>
          </a:p>
        </p:txBody>
      </p:sp>
      <p:sp>
        <p:nvSpPr>
          <p:cNvPr id="1706087609" name="Text 17"/>
          <p:cNvSpPr/>
          <p:nvPr/>
        </p:nvSpPr>
        <p:spPr bwMode="auto">
          <a:xfrm>
            <a:off x="7772400" y="29900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Potted Plants</a:t>
            </a:r>
            <a:endParaRPr sz="1500"/>
          </a:p>
        </p:txBody>
      </p:sp>
      <p:sp>
        <p:nvSpPr>
          <p:cNvPr id="344807067" name="Shape 18"/>
          <p:cNvSpPr/>
          <p:nvPr/>
        </p:nvSpPr>
        <p:spPr bwMode="auto">
          <a:xfrm>
            <a:off x="9875520" y="3017519"/>
            <a:ext cx="1245654" cy="36576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82831219" name="Text 19"/>
          <p:cNvSpPr/>
          <p:nvPr/>
        </p:nvSpPr>
        <p:spPr bwMode="auto">
          <a:xfrm>
            <a:off x="11258334" y="299008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19</a:t>
            </a:r>
            <a:endParaRPr sz="1500"/>
          </a:p>
        </p:txBody>
      </p:sp>
      <p:sp>
        <p:nvSpPr>
          <p:cNvPr id="933215076" name="Text 20"/>
          <p:cNvSpPr/>
          <p:nvPr/>
        </p:nvSpPr>
        <p:spPr bwMode="auto">
          <a:xfrm>
            <a:off x="7772400" y="35204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Accessories</a:t>
            </a:r>
            <a:endParaRPr sz="1500"/>
          </a:p>
        </p:txBody>
      </p:sp>
      <p:sp>
        <p:nvSpPr>
          <p:cNvPr id="246109558" name="Shape 21"/>
          <p:cNvSpPr/>
          <p:nvPr/>
        </p:nvSpPr>
        <p:spPr bwMode="auto">
          <a:xfrm>
            <a:off x="9875520" y="3547872"/>
            <a:ext cx="1114533" cy="36576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8802023" name="Text 22"/>
          <p:cNvSpPr/>
          <p:nvPr/>
        </p:nvSpPr>
        <p:spPr bwMode="auto">
          <a:xfrm>
            <a:off x="11127213" y="35204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17</a:t>
            </a:r>
            <a:endParaRPr sz="1500"/>
          </a:p>
        </p:txBody>
      </p:sp>
      <p:sp>
        <p:nvSpPr>
          <p:cNvPr id="702901662" name="Text 23"/>
          <p:cNvSpPr/>
          <p:nvPr/>
        </p:nvSpPr>
        <p:spPr bwMode="auto">
          <a:xfrm>
            <a:off x="7772400" y="40507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Chairs</a:t>
            </a:r>
            <a:endParaRPr sz="1500"/>
          </a:p>
        </p:txBody>
      </p:sp>
      <p:sp>
        <p:nvSpPr>
          <p:cNvPr id="190699393" name="Shape 24"/>
          <p:cNvSpPr/>
          <p:nvPr/>
        </p:nvSpPr>
        <p:spPr bwMode="auto">
          <a:xfrm>
            <a:off x="9875520" y="4078224"/>
            <a:ext cx="917851" cy="36576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5554104" name="Text 25"/>
          <p:cNvSpPr/>
          <p:nvPr/>
        </p:nvSpPr>
        <p:spPr bwMode="auto">
          <a:xfrm>
            <a:off x="10930531" y="405079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14</a:t>
            </a:r>
            <a:endParaRPr sz="1500"/>
          </a:p>
        </p:txBody>
      </p:sp>
      <p:sp>
        <p:nvSpPr>
          <p:cNvPr id="1850563882" name="Text 26"/>
          <p:cNvSpPr/>
          <p:nvPr/>
        </p:nvSpPr>
        <p:spPr bwMode="auto">
          <a:xfrm>
            <a:off x="7772400" y="45811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Plants</a:t>
            </a:r>
            <a:endParaRPr sz="1500"/>
          </a:p>
        </p:txBody>
      </p:sp>
      <p:sp>
        <p:nvSpPr>
          <p:cNvPr id="1426766706" name="Shape 27"/>
          <p:cNvSpPr/>
          <p:nvPr/>
        </p:nvSpPr>
        <p:spPr bwMode="auto">
          <a:xfrm>
            <a:off x="9875520" y="4608576"/>
            <a:ext cx="917851" cy="36576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6953968" name="Text 28"/>
          <p:cNvSpPr/>
          <p:nvPr/>
        </p:nvSpPr>
        <p:spPr bwMode="auto">
          <a:xfrm>
            <a:off x="10930531" y="458114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14</a:t>
            </a:r>
            <a:endParaRPr sz="1500"/>
          </a:p>
        </p:txBody>
      </p:sp>
      <p:sp>
        <p:nvSpPr>
          <p:cNvPr id="22110730" name="Text 29"/>
          <p:cNvSpPr/>
          <p:nvPr/>
        </p:nvSpPr>
        <p:spPr bwMode="auto">
          <a:xfrm>
            <a:off x="7772400" y="51114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Tables</a:t>
            </a:r>
            <a:endParaRPr sz="1500"/>
          </a:p>
        </p:txBody>
      </p:sp>
      <p:sp>
        <p:nvSpPr>
          <p:cNvPr id="1967666012" name="Shape 30"/>
          <p:cNvSpPr/>
          <p:nvPr/>
        </p:nvSpPr>
        <p:spPr bwMode="auto">
          <a:xfrm>
            <a:off x="9875520" y="5138928"/>
            <a:ext cx="786729" cy="36576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44603863" name="Text 31"/>
          <p:cNvSpPr/>
          <p:nvPr/>
        </p:nvSpPr>
        <p:spPr bwMode="auto">
          <a:xfrm>
            <a:off x="10799409" y="511149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12</a:t>
            </a:r>
            <a:endParaRPr sz="1500"/>
          </a:p>
        </p:txBody>
      </p:sp>
      <p:sp>
        <p:nvSpPr>
          <p:cNvPr id="382852758" name="Text 32"/>
          <p:cNvSpPr/>
          <p:nvPr/>
        </p:nvSpPr>
        <p:spPr bwMode="auto">
          <a:xfrm>
            <a:off x="7772400" y="56418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500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Altre (8 cat.)</a:t>
            </a:r>
            <a:endParaRPr sz="1500"/>
          </a:p>
        </p:txBody>
      </p:sp>
      <p:sp>
        <p:nvSpPr>
          <p:cNvPr id="1116279520" name="Shape 33"/>
          <p:cNvSpPr/>
          <p:nvPr/>
        </p:nvSpPr>
        <p:spPr bwMode="auto">
          <a:xfrm>
            <a:off x="9875520" y="566928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557517176" name="Text 34"/>
          <p:cNvSpPr/>
          <p:nvPr/>
        </p:nvSpPr>
        <p:spPr bwMode="auto">
          <a:xfrm>
            <a:off x="13487400" y="564184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53</a:t>
            </a:r>
            <a:endParaRPr sz="1500"/>
          </a:p>
        </p:txBody>
      </p:sp>
      <p:sp>
        <p:nvSpPr>
          <p:cNvPr id="1738218707" name=""/>
          <p:cNvSpPr/>
          <p:nvPr/>
        </p:nvSpPr>
        <p:spPr bwMode="auto">
          <a:xfrm rot="0" flipH="0" flipV="0">
            <a:off x="12301841" y="7660957"/>
            <a:ext cx="2371116" cy="5269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975451" name="Text 0"/>
          <p:cNvSpPr/>
          <p:nvPr/>
        </p:nvSpPr>
        <p:spPr bwMode="auto">
          <a:xfrm>
            <a:off x="793788" y="633172"/>
            <a:ext cx="5009920" cy="461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98"/>
              </a:lnSpc>
              <a:buNone/>
              <a:defRPr/>
            </a:pPr>
            <a:r>
              <a:rPr lang="en-US" sz="42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Demo &amp; Riflessione</a:t>
            </a:r>
            <a:endParaRPr sz="4200" b="1"/>
          </a:p>
        </p:txBody>
      </p:sp>
      <p:sp>
        <p:nvSpPr>
          <p:cNvPr id="627317675" name="Text 1"/>
          <p:cNvSpPr/>
          <p:nvPr/>
        </p:nvSpPr>
        <p:spPr bwMode="auto">
          <a:xfrm>
            <a:off x="1014887" y="1393267"/>
            <a:ext cx="8227363" cy="19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20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"In un mondo che corre, abbiamo costruito un angolo dove fermarsi."</a:t>
            </a:r>
            <a:endParaRPr sz="2000" i="1"/>
          </a:p>
        </p:txBody>
      </p:sp>
      <p:sp>
        <p:nvSpPr>
          <p:cNvPr id="820986616" name="Shape 2"/>
          <p:cNvSpPr/>
          <p:nvPr/>
        </p:nvSpPr>
        <p:spPr bwMode="auto">
          <a:xfrm>
            <a:off x="793789" y="1285517"/>
            <a:ext cx="15239" cy="410050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1573425432" name="Text 3"/>
          <p:cNvSpPr/>
          <p:nvPr/>
        </p:nvSpPr>
        <p:spPr bwMode="auto">
          <a:xfrm>
            <a:off x="793788" y="1899045"/>
            <a:ext cx="2930683" cy="23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24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Vediamolo in azione</a:t>
            </a:r>
            <a:endParaRPr sz="2400" b="1"/>
          </a:p>
        </p:txBody>
      </p:sp>
      <p:pic>
        <p:nvPicPr>
          <p:cNvPr id="1591181294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849033" y="2360770"/>
            <a:ext cx="221097" cy="221097"/>
          </a:xfrm>
          <a:prstGeom prst="rect">
            <a:avLst/>
          </a:prstGeom>
        </p:spPr>
      </p:pic>
      <p:sp>
        <p:nvSpPr>
          <p:cNvPr id="273646523" name="Text 4"/>
          <p:cNvSpPr/>
          <p:nvPr/>
        </p:nvSpPr>
        <p:spPr bwMode="auto">
          <a:xfrm flipH="0" flipV="0">
            <a:off x="1272897" y="2356246"/>
            <a:ext cx="5558805" cy="23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🏠</a:t>
            </a: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Navigazione nella stanza</a:t>
            </a:r>
            <a:endParaRPr sz="2000" b="1"/>
          </a:p>
        </p:txBody>
      </p:sp>
      <p:sp>
        <p:nvSpPr>
          <p:cNvPr id="1282520497" name="Text 5"/>
          <p:cNvSpPr/>
          <p:nvPr/>
        </p:nvSpPr>
        <p:spPr bwMode="auto">
          <a:xfrm>
            <a:off x="1272897" y="2682358"/>
            <a:ext cx="3736238" cy="19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Decorazioni e salvataggio persistente</a:t>
            </a:r>
            <a:endParaRPr sz="1700"/>
          </a:p>
        </p:txBody>
      </p:sp>
      <p:pic>
        <p:nvPicPr>
          <p:cNvPr id="341453937" name="Image 1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49033" y="3192064"/>
            <a:ext cx="221097" cy="221097"/>
          </a:xfrm>
          <a:prstGeom prst="rect">
            <a:avLst/>
          </a:prstGeom>
        </p:spPr>
      </p:pic>
      <p:sp>
        <p:nvSpPr>
          <p:cNvPr id="2073937898" name="Text 6"/>
          <p:cNvSpPr/>
          <p:nvPr/>
        </p:nvSpPr>
        <p:spPr bwMode="auto">
          <a:xfrm flipH="0" flipV="0">
            <a:off x="1272897" y="3187539"/>
            <a:ext cx="5801996" cy="23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👤</a:t>
            </a: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Selezione e personalizzazione del personaggio</a:t>
            </a:r>
            <a:endParaRPr sz="2000" b="1"/>
          </a:p>
        </p:txBody>
      </p:sp>
      <p:sp>
        <p:nvSpPr>
          <p:cNvPr id="1960618257" name="Text 7"/>
          <p:cNvSpPr/>
          <p:nvPr/>
        </p:nvSpPr>
        <p:spPr bwMode="auto">
          <a:xfrm>
            <a:off x="1272897" y="3751776"/>
            <a:ext cx="2830479" cy="19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Sprite animato in 8 direzioni</a:t>
            </a:r>
            <a:endParaRPr sz="1700"/>
          </a:p>
        </p:txBody>
      </p:sp>
      <p:pic>
        <p:nvPicPr>
          <p:cNvPr id="46106201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49033" y="4142421"/>
            <a:ext cx="221097" cy="221097"/>
          </a:xfrm>
          <a:prstGeom prst="rect">
            <a:avLst/>
          </a:prstGeom>
        </p:spPr>
      </p:pic>
      <p:sp>
        <p:nvSpPr>
          <p:cNvPr id="1615058534" name="Text 8"/>
          <p:cNvSpPr/>
          <p:nvPr/>
        </p:nvSpPr>
        <p:spPr bwMode="auto">
          <a:xfrm flipH="0" flipV="0">
            <a:off x="1272897" y="4127476"/>
            <a:ext cx="4869762" cy="241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🎵</a:t>
            </a: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Musica lo-fi</a:t>
            </a:r>
            <a:endParaRPr sz="2000" b="1"/>
          </a:p>
        </p:txBody>
      </p:sp>
      <p:sp>
        <p:nvSpPr>
          <p:cNvPr id="249993754" name="Text 9"/>
          <p:cNvSpPr/>
          <p:nvPr/>
        </p:nvSpPr>
        <p:spPr bwMode="auto">
          <a:xfrm>
            <a:off x="1272897" y="4464009"/>
            <a:ext cx="2909543" cy="19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Crossfade tra tracce ambient</a:t>
            </a:r>
            <a:endParaRPr sz="1700"/>
          </a:p>
        </p:txBody>
      </p:sp>
      <p:pic>
        <p:nvPicPr>
          <p:cNvPr id="841566084" name="Image 3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49033" y="4854652"/>
            <a:ext cx="221097" cy="221097"/>
          </a:xfrm>
          <a:prstGeom prst="rect">
            <a:avLst/>
          </a:prstGeom>
        </p:spPr>
      </p:pic>
      <p:sp>
        <p:nvSpPr>
          <p:cNvPr id="1221400584" name="Text 10"/>
          <p:cNvSpPr/>
          <p:nvPr/>
        </p:nvSpPr>
        <p:spPr bwMode="auto">
          <a:xfrm flipH="0" flipV="0">
            <a:off x="1272897" y="4850128"/>
            <a:ext cx="5011624" cy="23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⚙️</a:t>
            </a: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Pannello impostazioni e profilo</a:t>
            </a:r>
            <a:endParaRPr sz="2000" b="1"/>
          </a:p>
        </p:txBody>
      </p:sp>
      <p:sp>
        <p:nvSpPr>
          <p:cNvPr id="1585645585" name="Text 11"/>
          <p:cNvSpPr/>
          <p:nvPr/>
        </p:nvSpPr>
        <p:spPr bwMode="auto">
          <a:xfrm>
            <a:off x="1272897" y="5176240"/>
            <a:ext cx="1938952" cy="19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Controllo completo</a:t>
            </a:r>
            <a:endParaRPr sz="1700"/>
          </a:p>
        </p:txBody>
      </p:sp>
      <p:pic>
        <p:nvPicPr>
          <p:cNvPr id="1928868241" name="Image 4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49033" y="5685946"/>
            <a:ext cx="221097" cy="221097"/>
          </a:xfrm>
          <a:prstGeom prst="rect">
            <a:avLst/>
          </a:prstGeom>
        </p:spPr>
      </p:pic>
      <p:sp>
        <p:nvSpPr>
          <p:cNvPr id="1478495597" name="Text 12"/>
          <p:cNvSpPr/>
          <p:nvPr/>
        </p:nvSpPr>
        <p:spPr bwMode="auto">
          <a:xfrm flipH="0" flipV="0">
            <a:off x="1272897" y="5681423"/>
            <a:ext cx="4748166" cy="231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🔐</a:t>
            </a: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Autenticazione </a:t>
            </a: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duale</a:t>
            </a:r>
            <a:endParaRPr sz="2000" b="1"/>
          </a:p>
        </p:txBody>
      </p:sp>
      <p:sp>
        <p:nvSpPr>
          <p:cNvPr id="5535245" name="Text 13"/>
          <p:cNvSpPr/>
          <p:nvPr/>
        </p:nvSpPr>
        <p:spPr bwMode="auto">
          <a:xfrm>
            <a:off x="1272897" y="6007535"/>
            <a:ext cx="2391204" cy="19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Locale + Supabase Auth</a:t>
            </a:r>
            <a:endParaRPr sz="1700"/>
          </a:p>
        </p:txBody>
      </p:sp>
      <p:pic>
        <p:nvPicPr>
          <p:cNvPr id="821632866" name="Image 5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49033" y="6517241"/>
            <a:ext cx="221097" cy="221097"/>
          </a:xfrm>
          <a:prstGeom prst="rect">
            <a:avLst/>
          </a:prstGeom>
        </p:spPr>
      </p:pic>
      <p:sp>
        <p:nvSpPr>
          <p:cNvPr id="2127335759" name="Text 14"/>
          <p:cNvSpPr/>
          <p:nvPr/>
        </p:nvSpPr>
        <p:spPr bwMode="auto">
          <a:xfrm flipH="0" flipV="0">
            <a:off x="1272897" y="6512717"/>
            <a:ext cx="4652246" cy="23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🐾</a:t>
            </a: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Pet gattino</a:t>
            </a:r>
            <a:endParaRPr sz="2000" b="1"/>
          </a:p>
        </p:txBody>
      </p:sp>
      <p:sp>
        <p:nvSpPr>
          <p:cNvPr id="170195499" name="Text 15"/>
          <p:cNvSpPr/>
          <p:nvPr/>
        </p:nvSpPr>
        <p:spPr bwMode="auto">
          <a:xfrm flipH="0" flipV="0">
            <a:off x="1272897" y="6838351"/>
            <a:ext cx="4652246" cy="476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Autonomo, macchina a stati</a:t>
            </a:r>
            <a:endParaRPr sz="1700"/>
          </a:p>
        </p:txBody>
      </p:sp>
      <p:sp>
        <p:nvSpPr>
          <p:cNvPr id="1096416425" name="Text 16"/>
          <p:cNvSpPr/>
          <p:nvPr/>
        </p:nvSpPr>
        <p:spPr bwMode="auto">
          <a:xfrm>
            <a:off x="7502602" y="1899045"/>
            <a:ext cx="3709350" cy="231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24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Un progetto che dimostra</a:t>
            </a:r>
            <a:endParaRPr sz="2400" b="1"/>
          </a:p>
        </p:txBody>
      </p:sp>
      <p:sp>
        <p:nvSpPr>
          <p:cNvPr id="2051487053" name="Shape 17"/>
          <p:cNvSpPr/>
          <p:nvPr/>
        </p:nvSpPr>
        <p:spPr bwMode="auto">
          <a:xfrm>
            <a:off x="7502603" y="2237184"/>
            <a:ext cx="3122888" cy="1040486"/>
          </a:xfrm>
          <a:prstGeom prst="roundRect">
            <a:avLst>
              <a:gd name="adj" fmla="val 7031"/>
            </a:avLst>
          </a:prstGeom>
          <a:solidFill>
            <a:srgbClr val="FBFAFF"/>
          </a:solidFill>
          <a:ln w="15240">
            <a:solidFill>
              <a:srgbClr val="D0CED9"/>
            </a:solidFill>
            <a:prstDash val="solid"/>
          </a:ln>
        </p:spPr>
      </p:sp>
      <p:pic>
        <p:nvPicPr>
          <p:cNvPr id="1783910498" name="Image 6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487363" y="2237184"/>
            <a:ext cx="60959" cy="1040486"/>
          </a:xfrm>
          <a:prstGeom prst="rect">
            <a:avLst/>
          </a:prstGeom>
        </p:spPr>
      </p:pic>
      <p:sp>
        <p:nvSpPr>
          <p:cNvPr id="1356606963" name="Text 18"/>
          <p:cNvSpPr/>
          <p:nvPr/>
        </p:nvSpPr>
        <p:spPr bwMode="auto">
          <a:xfrm>
            <a:off x="7710962" y="2399823"/>
            <a:ext cx="2846139" cy="23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18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Architettura</a:t>
            </a:r>
            <a:r>
              <a:rPr lang="en-US" sz="18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 professionale</a:t>
            </a:r>
            <a:endParaRPr sz="1800" b="1"/>
          </a:p>
        </p:txBody>
      </p:sp>
      <p:sp>
        <p:nvSpPr>
          <p:cNvPr id="1808205159" name="Text 19"/>
          <p:cNvSpPr/>
          <p:nvPr/>
        </p:nvSpPr>
        <p:spPr bwMode="auto">
          <a:xfrm>
            <a:off x="7710963" y="2725935"/>
            <a:ext cx="2751891" cy="38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46 segnali, 8 autoload, zero accoppiamento</a:t>
            </a:r>
            <a:endParaRPr sz="1500"/>
          </a:p>
        </p:txBody>
      </p:sp>
      <p:sp>
        <p:nvSpPr>
          <p:cNvPr id="844274492" name="Shape 20"/>
          <p:cNvSpPr/>
          <p:nvPr/>
        </p:nvSpPr>
        <p:spPr bwMode="auto">
          <a:xfrm>
            <a:off x="10721220" y="2237184"/>
            <a:ext cx="3123009" cy="1040486"/>
          </a:xfrm>
          <a:prstGeom prst="roundRect">
            <a:avLst>
              <a:gd name="adj" fmla="val 7031"/>
            </a:avLst>
          </a:prstGeom>
          <a:solidFill>
            <a:srgbClr val="FBFAFF"/>
          </a:solidFill>
          <a:ln w="15240">
            <a:solidFill>
              <a:srgbClr val="D0CED9"/>
            </a:solidFill>
            <a:prstDash val="solid"/>
          </a:ln>
        </p:spPr>
      </p:sp>
      <p:pic>
        <p:nvPicPr>
          <p:cNvPr id="1856116130" name="Image 7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705980" y="2237184"/>
            <a:ext cx="60959" cy="1040486"/>
          </a:xfrm>
          <a:prstGeom prst="rect">
            <a:avLst/>
          </a:prstGeom>
        </p:spPr>
      </p:pic>
      <p:sp>
        <p:nvSpPr>
          <p:cNvPr id="67203706" name="Text 21"/>
          <p:cNvSpPr/>
          <p:nvPr/>
        </p:nvSpPr>
        <p:spPr bwMode="auto">
          <a:xfrm>
            <a:off x="10929578" y="2399823"/>
            <a:ext cx="2452119" cy="23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18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Sviluppo collaborativo</a:t>
            </a:r>
            <a:endParaRPr sz="1800" b="1"/>
          </a:p>
        </p:txBody>
      </p:sp>
      <p:sp>
        <p:nvSpPr>
          <p:cNvPr id="271006496" name="Text 22"/>
          <p:cNvSpPr/>
          <p:nvPr/>
        </p:nvSpPr>
        <p:spPr bwMode="auto">
          <a:xfrm>
            <a:off x="10929579" y="2725935"/>
            <a:ext cx="2752011" cy="38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Pipeline CI/CD con 9 job paralleli</a:t>
            </a:r>
            <a:endParaRPr sz="1500"/>
          </a:p>
        </p:txBody>
      </p:sp>
      <p:sp>
        <p:nvSpPr>
          <p:cNvPr id="1787014319" name="Shape 23"/>
          <p:cNvSpPr/>
          <p:nvPr/>
        </p:nvSpPr>
        <p:spPr bwMode="auto">
          <a:xfrm>
            <a:off x="7502603" y="3373398"/>
            <a:ext cx="3122888" cy="1040486"/>
          </a:xfrm>
          <a:prstGeom prst="roundRect">
            <a:avLst>
              <a:gd name="adj" fmla="val 7031"/>
            </a:avLst>
          </a:prstGeom>
          <a:solidFill>
            <a:srgbClr val="FBFAFF"/>
          </a:solidFill>
          <a:ln w="15240">
            <a:solidFill>
              <a:srgbClr val="D0CED9"/>
            </a:solidFill>
            <a:prstDash val="solid"/>
          </a:ln>
        </p:spPr>
      </p:sp>
      <p:pic>
        <p:nvPicPr>
          <p:cNvPr id="417267631" name="Image 8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487363" y="3373398"/>
            <a:ext cx="60959" cy="1040486"/>
          </a:xfrm>
          <a:prstGeom prst="rect">
            <a:avLst/>
          </a:prstGeom>
        </p:spPr>
      </p:pic>
      <p:sp>
        <p:nvSpPr>
          <p:cNvPr id="1216860669" name="Text 24"/>
          <p:cNvSpPr/>
          <p:nvPr/>
        </p:nvSpPr>
        <p:spPr bwMode="auto">
          <a:xfrm>
            <a:off x="7710962" y="3536034"/>
            <a:ext cx="2020037" cy="23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18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Design offline-first</a:t>
            </a:r>
            <a:endParaRPr sz="1800" b="1"/>
          </a:p>
        </p:txBody>
      </p:sp>
      <p:sp>
        <p:nvSpPr>
          <p:cNvPr id="1349294053" name="Text 25"/>
          <p:cNvSpPr/>
          <p:nvPr/>
        </p:nvSpPr>
        <p:spPr bwMode="auto">
          <a:xfrm>
            <a:off x="7710963" y="3862148"/>
            <a:ext cx="2751891" cy="38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Funziona sempre, anche senza connessione</a:t>
            </a:r>
            <a:endParaRPr sz="1500"/>
          </a:p>
        </p:txBody>
      </p:sp>
      <p:sp>
        <p:nvSpPr>
          <p:cNvPr id="2072921259" name="Shape 26"/>
          <p:cNvSpPr/>
          <p:nvPr/>
        </p:nvSpPr>
        <p:spPr bwMode="auto">
          <a:xfrm>
            <a:off x="10721220" y="3373398"/>
            <a:ext cx="3123009" cy="1040486"/>
          </a:xfrm>
          <a:prstGeom prst="roundRect">
            <a:avLst>
              <a:gd name="adj" fmla="val 7031"/>
            </a:avLst>
          </a:prstGeom>
          <a:solidFill>
            <a:srgbClr val="FBFAFF"/>
          </a:solidFill>
          <a:ln w="15240">
            <a:solidFill>
              <a:srgbClr val="D0CED9"/>
            </a:solidFill>
            <a:prstDash val="solid"/>
          </a:ln>
        </p:spPr>
      </p:sp>
      <p:pic>
        <p:nvPicPr>
          <p:cNvPr id="130543262" name="Image 9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705980" y="3373398"/>
            <a:ext cx="60959" cy="1040486"/>
          </a:xfrm>
          <a:prstGeom prst="rect">
            <a:avLst/>
          </a:prstGeom>
        </p:spPr>
      </p:pic>
      <p:sp>
        <p:nvSpPr>
          <p:cNvPr id="1512973791" name="Text 27"/>
          <p:cNvSpPr/>
          <p:nvPr/>
        </p:nvSpPr>
        <p:spPr bwMode="auto">
          <a:xfrm>
            <a:off x="10929578" y="3536034"/>
            <a:ext cx="2376669" cy="23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99"/>
              </a:lnSpc>
              <a:buNone/>
              <a:defRPr/>
            </a:pPr>
            <a:r>
              <a:rPr lang="en-US" sz="18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10.650 righe di codice</a:t>
            </a:r>
            <a:endParaRPr sz="1800" b="1"/>
          </a:p>
        </p:txBody>
      </p:sp>
      <p:sp>
        <p:nvSpPr>
          <p:cNvPr id="902536436" name="Text 28"/>
          <p:cNvSpPr/>
          <p:nvPr/>
        </p:nvSpPr>
        <p:spPr bwMode="auto">
          <a:xfrm>
            <a:off x="10929579" y="3862148"/>
            <a:ext cx="2752011" cy="38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Pulito, testabile, pronto a scalare</a:t>
            </a:r>
            <a:endParaRPr sz="1500"/>
          </a:p>
        </p:txBody>
      </p:sp>
      <p:sp>
        <p:nvSpPr>
          <p:cNvPr id="1025577634" name="Shape 31"/>
          <p:cNvSpPr/>
          <p:nvPr/>
        </p:nvSpPr>
        <p:spPr bwMode="auto">
          <a:xfrm>
            <a:off x="7487362" y="4745354"/>
            <a:ext cx="6341625" cy="681513"/>
          </a:xfrm>
          <a:prstGeom prst="roundRect">
            <a:avLst>
              <a:gd name="adj" fmla="val 3245"/>
            </a:avLst>
          </a:prstGeom>
          <a:solidFill>
            <a:srgbClr val="B6D6FC"/>
          </a:solidFill>
          <a:ln/>
        </p:spPr>
      </p:sp>
      <p:pic>
        <p:nvPicPr>
          <p:cNvPr id="1469571407" name="Image 10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618868" y="5072419"/>
            <a:ext cx="184189" cy="147398"/>
          </a:xfrm>
          <a:prstGeom prst="rect">
            <a:avLst/>
          </a:prstGeom>
        </p:spPr>
      </p:pic>
      <p:sp>
        <p:nvSpPr>
          <p:cNvPr id="2096634981" name="Text 32"/>
          <p:cNvSpPr/>
          <p:nvPr/>
        </p:nvSpPr>
        <p:spPr bwMode="auto">
          <a:xfrm>
            <a:off x="7966351" y="4877872"/>
            <a:ext cx="5715237" cy="38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9"/>
              </a:lnSpc>
              <a:buNone/>
              <a:defRPr/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Il database cloud ha già </a:t>
            </a:r>
            <a:r>
              <a:rPr lang="en-US" sz="14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15 tabelle</a:t>
            </a: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: una parte in uso attivo, le altre pronte per le funzionalità future.</a:t>
            </a:r>
            <a:endParaRPr sz="1400"/>
          </a:p>
        </p:txBody>
      </p:sp>
      <p:sp>
        <p:nvSpPr>
          <p:cNvPr id="696307484" name=""/>
          <p:cNvSpPr/>
          <p:nvPr/>
        </p:nvSpPr>
        <p:spPr bwMode="auto">
          <a:xfrm rot="0" flipH="0" flipV="0">
            <a:off x="12206590" y="7660956"/>
            <a:ext cx="2371116" cy="5269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319469944" name="Text 15"/>
          <p:cNvSpPr/>
          <p:nvPr/>
        </p:nvSpPr>
        <p:spPr bwMode="auto">
          <a:xfrm>
            <a:off x="7502602" y="5752674"/>
            <a:ext cx="5420616" cy="336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98"/>
              </a:lnSpc>
              <a:buNone/>
              <a:defRPr/>
            </a:pPr>
            <a:r>
              <a:rPr lang="en-US" sz="2000" b="1" u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</a:rPr>
              <a:t>E ORA?? Pausa per mostrarvi una demo con</a:t>
            </a:r>
            <a:endParaRPr sz="2000" b="1" u="none">
              <a:solidFill>
                <a:srgbClr val="C00000"/>
              </a:solidFill>
              <a:latin typeface="Libre Baskerville"/>
              <a:ea typeface="Libre Baskerville"/>
              <a:cs typeface="Libre Baskerville"/>
            </a:endParaRPr>
          </a:p>
          <a:p>
            <a:pPr marL="0" indent="0" algn="l">
              <a:lnSpc>
                <a:spcPts val="2498"/>
              </a:lnSpc>
              <a:buNone/>
              <a:defRPr/>
            </a:pPr>
            <a:r>
              <a:rPr lang="en-US" sz="2000" b="1" u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</a:rPr>
              <a:t>Tutorial Interattivo</a:t>
            </a:r>
            <a:endParaRPr sz="2000" b="1" u="none">
              <a:solidFill>
                <a:srgbClr val="C00000"/>
              </a:solidFill>
            </a:endParaRPr>
          </a:p>
        </p:txBody>
      </p:sp>
      <p:sp>
        <p:nvSpPr>
          <p:cNvPr id="508607235" name="Text 16"/>
          <p:cNvSpPr/>
          <p:nvPr/>
        </p:nvSpPr>
        <p:spPr bwMode="auto">
          <a:xfrm>
            <a:off x="7502604" y="6485648"/>
            <a:ext cx="6021465" cy="62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98"/>
              </a:lnSpc>
              <a:buNone/>
              <a:defRPr/>
            </a:pPr>
            <a:r>
              <a:rPr lang="en-US" sz="16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9 passi guidati, avanzamento a segnali: aspetta l'azione del giocatore.</a:t>
            </a:r>
            <a:endParaRPr sz="16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6F6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555313" name="Text 0"/>
          <p:cNvSpPr/>
          <p:nvPr/>
        </p:nvSpPr>
        <p:spPr bwMode="auto">
          <a:xfrm>
            <a:off x="731520" y="457200"/>
            <a:ext cx="1316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Flusso Signal-Driven</a:t>
            </a:r>
            <a:endParaRPr sz="4200" b="1"/>
          </a:p>
        </p:txBody>
      </p:sp>
      <p:sp>
        <p:nvSpPr>
          <p:cNvPr id="1238261109" name="Text 1"/>
          <p:cNvSpPr/>
          <p:nvPr/>
        </p:nvSpPr>
        <p:spPr bwMode="auto">
          <a:xfrm>
            <a:off x="731520" y="1280160"/>
            <a:ext cx="1316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Zero accoppiamento. </a:t>
            </a:r>
            <a:r>
              <a:rPr lang="en-US" sz="22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Tutto passa dal SignalBus — 46 segnali tipizzati.</a:t>
            </a:r>
            <a:endParaRPr sz="2200"/>
          </a:p>
        </p:txBody>
      </p:sp>
      <p:sp>
        <p:nvSpPr>
          <p:cNvPr id="233864949" name="Shape 2"/>
          <p:cNvSpPr/>
          <p:nvPr/>
        </p:nvSpPr>
        <p:spPr bwMode="auto">
          <a:xfrm>
            <a:off x="5577840" y="3291840"/>
            <a:ext cx="3474720" cy="2194560"/>
          </a:xfrm>
          <a:prstGeom prst="ellipse">
            <a:avLst/>
          </a:prstGeom>
          <a:solidFill>
            <a:srgbClr val="C4B8F5">
              <a:alpha val="50000"/>
            </a:srgbClr>
          </a:solidFill>
          <a:ln/>
        </p:spPr>
      </p:sp>
      <p:sp>
        <p:nvSpPr>
          <p:cNvPr id="703035043" name="Shape 3"/>
          <p:cNvSpPr/>
          <p:nvPr/>
        </p:nvSpPr>
        <p:spPr bwMode="auto">
          <a:xfrm>
            <a:off x="5943600" y="3566160"/>
            <a:ext cx="2743200" cy="164592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19598974" name="Text 4"/>
          <p:cNvSpPr/>
          <p:nvPr/>
        </p:nvSpPr>
        <p:spPr bwMode="auto">
          <a:xfrm>
            <a:off x="5943600" y="35661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SignalBus</a:t>
            </a:r>
            <a:br>
              <a:rPr lang="en-US" sz="2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</a:b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46 segnali tipizzati</a:t>
            </a:r>
            <a:endParaRPr lang="en-US" sz="2800"/>
          </a:p>
        </p:txBody>
      </p:sp>
      <p:sp>
        <p:nvSpPr>
          <p:cNvPr id="1282121660" name="Shape 5"/>
          <p:cNvSpPr/>
          <p:nvPr/>
        </p:nvSpPr>
        <p:spPr bwMode="auto">
          <a:xfrm>
            <a:off x="7242048" y="345643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56022357" name="Shape 6"/>
          <p:cNvSpPr/>
          <p:nvPr/>
        </p:nvSpPr>
        <p:spPr bwMode="auto">
          <a:xfrm>
            <a:off x="731520" y="2286000"/>
            <a:ext cx="2743200" cy="14630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B8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53805926" name="Shape 7"/>
          <p:cNvSpPr/>
          <p:nvPr/>
        </p:nvSpPr>
        <p:spPr bwMode="auto">
          <a:xfrm>
            <a:off x="914400" y="246888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01336284" name="Text 8"/>
          <p:cNvSpPr/>
          <p:nvPr/>
        </p:nvSpPr>
        <p:spPr bwMode="auto">
          <a:xfrm>
            <a:off x="731520" y="2286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Input UI</a:t>
            </a:r>
            <a:br>
              <a:rPr lang="en-US" sz="18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</a:b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azione utente</a:t>
            </a:r>
            <a:endParaRPr lang="en-US" sz="1800"/>
          </a:p>
        </p:txBody>
      </p:sp>
      <p:sp>
        <p:nvSpPr>
          <p:cNvPr id="2018740025" name="Shape 9"/>
          <p:cNvSpPr/>
          <p:nvPr/>
        </p:nvSpPr>
        <p:spPr bwMode="auto">
          <a:xfrm>
            <a:off x="3455919" y="3125625"/>
            <a:ext cx="3154680" cy="54864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076567625" name="Shape 10"/>
          <p:cNvSpPr/>
          <p:nvPr/>
        </p:nvSpPr>
        <p:spPr bwMode="auto">
          <a:xfrm flipH="1" flipV="1">
            <a:off x="3493521" y="2909415"/>
            <a:ext cx="3154680" cy="548640"/>
          </a:xfrm>
          <a:prstGeom prst="line">
            <a:avLst/>
          </a:prstGeom>
          <a:noFill/>
          <a:ln w="25400">
            <a:solidFill>
              <a:srgbClr val="7B6FE8"/>
            </a:solidFill>
            <a:prstDash val="dash"/>
            <a:tailEnd type="triangle"/>
          </a:ln>
        </p:spPr>
      </p:sp>
      <p:sp>
        <p:nvSpPr>
          <p:cNvPr id="1406931836" name="Text 11"/>
          <p:cNvSpPr/>
          <p:nvPr/>
        </p:nvSpPr>
        <p:spPr bwMode="auto">
          <a:xfrm>
            <a:off x="413766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 i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user_action</a:t>
            </a:r>
            <a:endParaRPr sz="1300"/>
          </a:p>
        </p:txBody>
      </p:sp>
      <p:sp>
        <p:nvSpPr>
          <p:cNvPr id="379275845" name="Shape 12"/>
          <p:cNvSpPr/>
          <p:nvPr/>
        </p:nvSpPr>
        <p:spPr bwMode="auto">
          <a:xfrm>
            <a:off x="11155680" y="2286000"/>
            <a:ext cx="2743200" cy="14630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B8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67114437" name="Shape 13"/>
          <p:cNvSpPr/>
          <p:nvPr/>
        </p:nvSpPr>
        <p:spPr bwMode="auto">
          <a:xfrm>
            <a:off x="11338560" y="246888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30653518" name="Text 14"/>
          <p:cNvSpPr/>
          <p:nvPr/>
        </p:nvSpPr>
        <p:spPr bwMode="auto">
          <a:xfrm>
            <a:off x="11155680" y="2286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GameManager</a:t>
            </a:r>
            <a:br>
              <a:rPr lang="en-US" sz="18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</a:b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logica e stato</a:t>
            </a:r>
            <a:endParaRPr sz="1800"/>
          </a:p>
        </p:txBody>
      </p:sp>
      <p:sp>
        <p:nvSpPr>
          <p:cNvPr id="1805437265" name="Shape 15"/>
          <p:cNvSpPr/>
          <p:nvPr/>
        </p:nvSpPr>
        <p:spPr bwMode="auto">
          <a:xfrm flipH="1">
            <a:off x="7982198" y="2909415"/>
            <a:ext cx="3154680" cy="54864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918873075" name="Shape 16"/>
          <p:cNvSpPr/>
          <p:nvPr/>
        </p:nvSpPr>
        <p:spPr bwMode="auto">
          <a:xfrm flipV="1">
            <a:off x="8019801" y="3125625"/>
            <a:ext cx="3154680" cy="548640"/>
          </a:xfrm>
          <a:prstGeom prst="line">
            <a:avLst/>
          </a:prstGeom>
          <a:noFill/>
          <a:ln w="25400">
            <a:solidFill>
              <a:srgbClr val="7B6FE8"/>
            </a:solidFill>
            <a:prstDash val="dash"/>
            <a:tailEnd type="triangle"/>
          </a:ln>
        </p:spPr>
      </p:sp>
      <p:sp>
        <p:nvSpPr>
          <p:cNvPr id="1834583697" name="Text 17"/>
          <p:cNvSpPr/>
          <p:nvPr/>
        </p:nvSpPr>
        <p:spPr bwMode="auto">
          <a:xfrm>
            <a:off x="866394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 i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state_changed</a:t>
            </a:r>
            <a:endParaRPr sz="1300"/>
          </a:p>
        </p:txBody>
      </p:sp>
      <p:sp>
        <p:nvSpPr>
          <p:cNvPr id="394963161" name="Shape 18"/>
          <p:cNvSpPr/>
          <p:nvPr/>
        </p:nvSpPr>
        <p:spPr bwMode="auto">
          <a:xfrm>
            <a:off x="731520" y="5577840"/>
            <a:ext cx="2743200" cy="14630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B8F5"/>
            </a:solidFill>
            <a:prstDash val="solid"/>
          </a:ln>
        </p:spPr>
      </p:sp>
      <p:sp>
        <p:nvSpPr>
          <p:cNvPr id="1706683058" name="Shape 19"/>
          <p:cNvSpPr/>
          <p:nvPr/>
        </p:nvSpPr>
        <p:spPr bwMode="auto">
          <a:xfrm>
            <a:off x="914400" y="576072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46344802" name="Text 20"/>
          <p:cNvSpPr/>
          <p:nvPr/>
        </p:nvSpPr>
        <p:spPr bwMode="auto">
          <a:xfrm>
            <a:off x="731520" y="5577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SaveManager</a:t>
            </a:r>
            <a:br>
              <a:rPr lang="en-US" sz="20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</a:b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JSON + SQLite WAL</a:t>
            </a:r>
            <a:endParaRPr sz="2000"/>
          </a:p>
        </p:txBody>
      </p:sp>
      <p:sp>
        <p:nvSpPr>
          <p:cNvPr id="1179911276" name="Shape 21"/>
          <p:cNvSpPr/>
          <p:nvPr/>
        </p:nvSpPr>
        <p:spPr bwMode="auto">
          <a:xfrm flipV="1">
            <a:off x="3510768" y="5315717"/>
            <a:ext cx="3154680" cy="109728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713634307" name="Shape 22"/>
          <p:cNvSpPr/>
          <p:nvPr/>
        </p:nvSpPr>
        <p:spPr bwMode="auto">
          <a:xfrm flipH="1">
            <a:off x="3438672" y="5108442"/>
            <a:ext cx="3154680" cy="1097280"/>
          </a:xfrm>
          <a:prstGeom prst="line">
            <a:avLst/>
          </a:prstGeom>
          <a:noFill/>
          <a:ln w="25400">
            <a:solidFill>
              <a:srgbClr val="7B6FE8"/>
            </a:solidFill>
            <a:prstDash val="dash"/>
            <a:tailEnd type="triangle"/>
          </a:ln>
        </p:spPr>
      </p:sp>
      <p:sp>
        <p:nvSpPr>
          <p:cNvPr id="1795499624" name="Text 23"/>
          <p:cNvSpPr/>
          <p:nvPr/>
        </p:nvSpPr>
        <p:spPr bwMode="auto">
          <a:xfrm>
            <a:off x="4137660" y="5440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 i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save_complete</a:t>
            </a:r>
            <a:endParaRPr sz="1300"/>
          </a:p>
        </p:txBody>
      </p:sp>
      <p:sp>
        <p:nvSpPr>
          <p:cNvPr id="883417081" name="Shape 24"/>
          <p:cNvSpPr/>
          <p:nvPr/>
        </p:nvSpPr>
        <p:spPr bwMode="auto">
          <a:xfrm>
            <a:off x="11155680" y="5577840"/>
            <a:ext cx="2743200" cy="14630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B8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242684150" name="Shape 25"/>
          <p:cNvSpPr/>
          <p:nvPr/>
        </p:nvSpPr>
        <p:spPr bwMode="auto">
          <a:xfrm>
            <a:off x="11338560" y="576072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58098004" name="Text 26"/>
          <p:cNvSpPr/>
          <p:nvPr/>
        </p:nvSpPr>
        <p:spPr bwMode="auto">
          <a:xfrm>
            <a:off x="11155680" y="5577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SupabaseClient</a:t>
            </a:r>
            <a:br>
              <a:rPr lang="en-US" sz="2000" b="1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</a:b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sync cloud, 15 tbl.</a:t>
            </a:r>
            <a:endParaRPr lang="en-US" sz="1800"/>
          </a:p>
        </p:txBody>
      </p:sp>
      <p:sp>
        <p:nvSpPr>
          <p:cNvPr id="703668616" name="Shape 27"/>
          <p:cNvSpPr/>
          <p:nvPr/>
        </p:nvSpPr>
        <p:spPr bwMode="auto">
          <a:xfrm flipH="1" flipV="1">
            <a:off x="8037048" y="5108442"/>
            <a:ext cx="3154680" cy="109728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062265722" name="Shape 28"/>
          <p:cNvSpPr/>
          <p:nvPr/>
        </p:nvSpPr>
        <p:spPr bwMode="auto">
          <a:xfrm>
            <a:off x="7964952" y="5315717"/>
            <a:ext cx="3154680" cy="1097280"/>
          </a:xfrm>
          <a:prstGeom prst="line">
            <a:avLst/>
          </a:prstGeom>
          <a:noFill/>
          <a:ln w="25400">
            <a:solidFill>
              <a:srgbClr val="7B6FE8"/>
            </a:solidFill>
            <a:prstDash val="dash"/>
            <a:tailEnd type="triangle"/>
          </a:ln>
        </p:spPr>
      </p:sp>
      <p:sp>
        <p:nvSpPr>
          <p:cNvPr id="1884641379" name="Text 29"/>
          <p:cNvSpPr/>
          <p:nvPr/>
        </p:nvSpPr>
        <p:spPr bwMode="auto">
          <a:xfrm>
            <a:off x="8663940" y="5440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 i="1">
                <a:solidFill>
                  <a:srgbClr val="4F46E5"/>
                </a:solidFill>
                <a:latin typeface="Open Sans"/>
                <a:ea typeface="Open Sans"/>
                <a:cs typeface="Open Sans"/>
              </a:rPr>
              <a:t>sync_done</a:t>
            </a:r>
            <a:endParaRPr sz="1300"/>
          </a:p>
        </p:txBody>
      </p:sp>
      <p:sp>
        <p:nvSpPr>
          <p:cNvPr id="879900610" name="Shape 30"/>
          <p:cNvSpPr/>
          <p:nvPr/>
        </p:nvSpPr>
        <p:spPr bwMode="auto">
          <a:xfrm>
            <a:off x="8961120" y="74980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4B8F5"/>
            </a:solidFill>
            <a:prstDash val="solid"/>
          </a:ln>
        </p:spPr>
      </p:sp>
      <p:sp>
        <p:nvSpPr>
          <p:cNvPr id="1292540470" name="Shape 31"/>
          <p:cNvSpPr/>
          <p:nvPr/>
        </p:nvSpPr>
        <p:spPr bwMode="auto">
          <a:xfrm>
            <a:off x="9144000" y="7680960"/>
            <a:ext cx="36576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696732933" name="Text 32"/>
          <p:cNvSpPr/>
          <p:nvPr/>
        </p:nvSpPr>
        <p:spPr bwMode="auto">
          <a:xfrm>
            <a:off x="9555480" y="7543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emette</a:t>
            </a:r>
            <a:endParaRPr sz="1500"/>
          </a:p>
        </p:txBody>
      </p:sp>
      <p:sp>
        <p:nvSpPr>
          <p:cNvPr id="1530649554" name="Shape 33"/>
          <p:cNvSpPr/>
          <p:nvPr/>
        </p:nvSpPr>
        <p:spPr bwMode="auto">
          <a:xfrm>
            <a:off x="10332720" y="7680960"/>
            <a:ext cx="365760" cy="0"/>
          </a:xfrm>
          <a:prstGeom prst="line">
            <a:avLst/>
          </a:prstGeom>
          <a:noFill/>
          <a:ln w="25400">
            <a:solidFill>
              <a:srgbClr val="7B6FE8"/>
            </a:solidFill>
            <a:prstDash val="dash"/>
            <a:tailEnd type="triangle"/>
          </a:ln>
        </p:spPr>
      </p:sp>
      <p:sp>
        <p:nvSpPr>
          <p:cNvPr id="2004853679" name="Text 34"/>
          <p:cNvSpPr/>
          <p:nvPr/>
        </p:nvSpPr>
        <p:spPr bwMode="auto">
          <a:xfrm>
            <a:off x="10744200" y="7543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F1F2E"/>
                </a:solidFill>
                <a:latin typeface="Open Sans"/>
                <a:ea typeface="Open Sans"/>
                <a:cs typeface="Open Sans"/>
              </a:rPr>
              <a:t>riceve</a:t>
            </a:r>
            <a:endParaRPr sz="1500"/>
          </a:p>
        </p:txBody>
      </p:sp>
      <p:sp>
        <p:nvSpPr>
          <p:cNvPr id="1425396804" name=""/>
          <p:cNvSpPr/>
          <p:nvPr/>
        </p:nvSpPr>
        <p:spPr bwMode="auto">
          <a:xfrm rot="0" flipH="0" flipV="0">
            <a:off x="12527280" y="7772400"/>
            <a:ext cx="2024594" cy="41547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864417" name="Text 0"/>
          <p:cNvSpPr/>
          <p:nvPr/>
        </p:nvSpPr>
        <p:spPr bwMode="auto">
          <a:xfrm>
            <a:off x="793789" y="653890"/>
            <a:ext cx="4742440" cy="532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  <a:defRPr/>
            </a:pPr>
            <a:r>
              <a:rPr lang="en-US" sz="42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Filosofia di Design</a:t>
            </a:r>
            <a:endParaRPr sz="4200" b="1"/>
          </a:p>
        </p:txBody>
      </p:sp>
      <p:sp>
        <p:nvSpPr>
          <p:cNvPr id="734932736" name="Text 1"/>
          <p:cNvSpPr/>
          <p:nvPr/>
        </p:nvSpPr>
        <p:spPr bwMode="auto">
          <a:xfrm>
            <a:off x="793789" y="1236463"/>
            <a:ext cx="4908743" cy="266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2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Quattro principi che guidano ogni scelta</a:t>
            </a:r>
            <a:endParaRPr sz="2200"/>
          </a:p>
        </p:txBody>
      </p:sp>
      <p:sp>
        <p:nvSpPr>
          <p:cNvPr id="774455473" name="Shape 2"/>
          <p:cNvSpPr/>
          <p:nvPr/>
        </p:nvSpPr>
        <p:spPr bwMode="auto">
          <a:xfrm>
            <a:off x="793790" y="1693544"/>
            <a:ext cx="6457592" cy="1796296"/>
          </a:xfrm>
          <a:prstGeom prst="roundRect">
            <a:avLst>
              <a:gd name="adj" fmla="val 1421"/>
            </a:avLst>
          </a:prstGeom>
          <a:solidFill>
            <a:srgbClr val="EAE8F3"/>
          </a:solidFill>
          <a:ln/>
        </p:spPr>
      </p:sp>
      <p:pic>
        <p:nvPicPr>
          <p:cNvPr id="77162151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3811" y="1863566"/>
            <a:ext cx="510302" cy="510302"/>
          </a:xfrm>
          <a:prstGeom prst="rect">
            <a:avLst/>
          </a:prstGeom>
        </p:spPr>
      </p:pic>
      <p:pic>
        <p:nvPicPr>
          <p:cNvPr id="1080961630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104186" y="2003822"/>
            <a:ext cx="229553" cy="229552"/>
          </a:xfrm>
          <a:prstGeom prst="rect">
            <a:avLst/>
          </a:prstGeom>
        </p:spPr>
      </p:pic>
      <p:sp>
        <p:nvSpPr>
          <p:cNvPr id="1286460782" name="Text 3"/>
          <p:cNvSpPr/>
          <p:nvPr/>
        </p:nvSpPr>
        <p:spPr bwMode="auto">
          <a:xfrm>
            <a:off x="963810" y="2501383"/>
            <a:ext cx="3299953" cy="2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900" i="1" u="sng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Community, non Competizione</a:t>
            </a:r>
            <a:endParaRPr sz="1900" i="1" u="sng"/>
          </a:p>
        </p:txBody>
      </p:sp>
      <p:sp>
        <p:nvSpPr>
          <p:cNvPr id="1705733089" name="Text 4"/>
          <p:cNvSpPr/>
          <p:nvPr/>
        </p:nvSpPr>
        <p:spPr bwMode="auto">
          <a:xfrm>
            <a:off x="963811" y="2843570"/>
            <a:ext cx="6117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Nessun punteggio, nessuna classifica. Focus sulla creatività personale.</a:t>
            </a:r>
            <a:endParaRPr sz="1600"/>
          </a:p>
        </p:txBody>
      </p:sp>
      <p:sp>
        <p:nvSpPr>
          <p:cNvPr id="1413789751" name="Shape 5"/>
          <p:cNvSpPr/>
          <p:nvPr/>
        </p:nvSpPr>
        <p:spPr bwMode="auto">
          <a:xfrm>
            <a:off x="7378898" y="1693544"/>
            <a:ext cx="6457712" cy="1796296"/>
          </a:xfrm>
          <a:prstGeom prst="roundRect">
            <a:avLst>
              <a:gd name="adj" fmla="val 1421"/>
            </a:avLst>
          </a:prstGeom>
          <a:solidFill>
            <a:srgbClr val="EAE8F3"/>
          </a:solidFill>
          <a:ln/>
        </p:spPr>
      </p:sp>
      <p:pic>
        <p:nvPicPr>
          <p:cNvPr id="766018452" name="Image 2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548920" y="1863566"/>
            <a:ext cx="510302" cy="510302"/>
          </a:xfrm>
          <a:prstGeom prst="rect">
            <a:avLst/>
          </a:prstGeom>
        </p:spPr>
      </p:pic>
      <p:pic>
        <p:nvPicPr>
          <p:cNvPr id="1218474337" name="Image 3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7689294" y="2003822"/>
            <a:ext cx="229553" cy="229552"/>
          </a:xfrm>
          <a:prstGeom prst="rect">
            <a:avLst/>
          </a:prstGeom>
        </p:spPr>
      </p:pic>
      <p:sp>
        <p:nvSpPr>
          <p:cNvPr id="1671272106" name="Text 6"/>
          <p:cNvSpPr/>
          <p:nvPr/>
        </p:nvSpPr>
        <p:spPr bwMode="auto">
          <a:xfrm>
            <a:off x="7548919" y="2501383"/>
            <a:ext cx="1677317" cy="2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900" i="1" u="sng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Tutto Sbloccato</a:t>
            </a:r>
            <a:endParaRPr sz="1900" i="1" u="sng"/>
          </a:p>
        </p:txBody>
      </p:sp>
      <p:sp>
        <p:nvSpPr>
          <p:cNvPr id="1721935963" name="Text 7"/>
          <p:cNvSpPr/>
          <p:nvPr/>
        </p:nvSpPr>
        <p:spPr bwMode="auto">
          <a:xfrm>
            <a:off x="7548920" y="2843570"/>
            <a:ext cx="61176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Nessun grind, nessun paywall. Tutto disponibile da subito.</a:t>
            </a:r>
            <a:endParaRPr sz="1600"/>
          </a:p>
        </p:txBody>
      </p:sp>
      <p:sp>
        <p:nvSpPr>
          <p:cNvPr id="1405088207" name="Shape 8"/>
          <p:cNvSpPr/>
          <p:nvPr/>
        </p:nvSpPr>
        <p:spPr bwMode="auto">
          <a:xfrm>
            <a:off x="793790" y="3617357"/>
            <a:ext cx="6457592" cy="1796296"/>
          </a:xfrm>
          <a:prstGeom prst="roundRect">
            <a:avLst>
              <a:gd name="adj" fmla="val 1421"/>
            </a:avLst>
          </a:prstGeom>
          <a:solidFill>
            <a:srgbClr val="EAE8F3"/>
          </a:solidFill>
          <a:ln/>
        </p:spPr>
      </p:sp>
      <p:pic>
        <p:nvPicPr>
          <p:cNvPr id="836337949" name="Image 4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963811" y="3787378"/>
            <a:ext cx="510302" cy="510302"/>
          </a:xfrm>
          <a:prstGeom prst="rect">
            <a:avLst/>
          </a:prstGeom>
        </p:spPr>
      </p:pic>
      <p:pic>
        <p:nvPicPr>
          <p:cNvPr id="114312302" name="Image 5" descr="preencoded.png"/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 bwMode="auto">
          <a:xfrm>
            <a:off x="1104186" y="3927634"/>
            <a:ext cx="229553" cy="229552"/>
          </a:xfrm>
          <a:prstGeom prst="rect">
            <a:avLst/>
          </a:prstGeom>
        </p:spPr>
      </p:pic>
      <p:sp>
        <p:nvSpPr>
          <p:cNvPr id="845173423" name="Text 9"/>
          <p:cNvSpPr/>
          <p:nvPr/>
        </p:nvSpPr>
        <p:spPr bwMode="auto">
          <a:xfrm>
            <a:off x="963810" y="4425195"/>
            <a:ext cx="1636901" cy="2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900" i="1" u="sng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Zero Pressione</a:t>
            </a:r>
            <a:endParaRPr sz="1900" i="1" u="sng"/>
          </a:p>
        </p:txBody>
      </p:sp>
      <p:sp>
        <p:nvSpPr>
          <p:cNvPr id="255179373" name="Text 10"/>
          <p:cNvSpPr/>
          <p:nvPr/>
        </p:nvSpPr>
        <p:spPr bwMode="auto">
          <a:xfrm>
            <a:off x="963811" y="4767382"/>
            <a:ext cx="6117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Niente notifiche, timer o energia. Gioca quando vuoi, chiudi senza sensi di colpa.</a:t>
            </a:r>
            <a:endParaRPr sz="1600"/>
          </a:p>
        </p:txBody>
      </p:sp>
      <p:sp>
        <p:nvSpPr>
          <p:cNvPr id="1610790771" name="Shape 11"/>
          <p:cNvSpPr/>
          <p:nvPr/>
        </p:nvSpPr>
        <p:spPr bwMode="auto">
          <a:xfrm>
            <a:off x="7378898" y="3617357"/>
            <a:ext cx="6457712" cy="1796296"/>
          </a:xfrm>
          <a:prstGeom prst="roundRect">
            <a:avLst>
              <a:gd name="adj" fmla="val 1421"/>
            </a:avLst>
          </a:prstGeom>
          <a:solidFill>
            <a:srgbClr val="EAE8F3"/>
          </a:solidFill>
          <a:ln/>
        </p:spPr>
      </p:sp>
      <p:pic>
        <p:nvPicPr>
          <p:cNvPr id="1225152661" name="Image 6" descr="preencoded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7548920" y="3787378"/>
            <a:ext cx="510302" cy="510302"/>
          </a:xfrm>
          <a:prstGeom prst="rect">
            <a:avLst/>
          </a:prstGeom>
        </p:spPr>
      </p:pic>
      <p:pic>
        <p:nvPicPr>
          <p:cNvPr id="576662004" name="Image 7" descr="preencoded.png"/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 bwMode="auto">
          <a:xfrm>
            <a:off x="7689294" y="3927634"/>
            <a:ext cx="229553" cy="229552"/>
          </a:xfrm>
          <a:prstGeom prst="rect">
            <a:avLst/>
          </a:prstGeom>
        </p:spPr>
      </p:pic>
      <p:sp>
        <p:nvSpPr>
          <p:cNvPr id="945325185" name="Text 12"/>
          <p:cNvSpPr/>
          <p:nvPr/>
        </p:nvSpPr>
        <p:spPr bwMode="auto">
          <a:xfrm>
            <a:off x="7548919" y="4425195"/>
            <a:ext cx="2831022" cy="2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900" i="1" u="sng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Presenza senza Invasione</a:t>
            </a:r>
            <a:endParaRPr sz="1900" i="1" u="sng"/>
          </a:p>
        </p:txBody>
      </p:sp>
      <p:sp>
        <p:nvSpPr>
          <p:cNvPr id="1572461332" name="Text 13"/>
          <p:cNvSpPr/>
          <p:nvPr/>
        </p:nvSpPr>
        <p:spPr bwMode="auto">
          <a:xfrm>
            <a:off x="7548919" y="4767380"/>
            <a:ext cx="6119065" cy="238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Il gioco esiste sullo sfondo della tua giornata, non per dominarla.</a:t>
            </a:r>
            <a:endParaRPr sz="1600"/>
          </a:p>
        </p:txBody>
      </p:sp>
      <p:sp>
        <p:nvSpPr>
          <p:cNvPr id="1984304400" name="Text 14"/>
          <p:cNvSpPr/>
          <p:nvPr/>
        </p:nvSpPr>
        <p:spPr bwMode="auto">
          <a:xfrm>
            <a:off x="793789" y="5684638"/>
            <a:ext cx="2236314" cy="2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2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A chi è destinato</a:t>
            </a:r>
            <a:endParaRPr sz="2200" b="1"/>
          </a:p>
        </p:txBody>
      </p:sp>
      <p:sp>
        <p:nvSpPr>
          <p:cNvPr id="1565415396" name="Text 15"/>
          <p:cNvSpPr/>
          <p:nvPr/>
        </p:nvSpPr>
        <p:spPr bwMode="auto">
          <a:xfrm>
            <a:off x="793790" y="6077903"/>
            <a:ext cx="631388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Studenti in cerca di uno spazio tranquillo, lavoratori remoti, creativi.</a:t>
            </a:r>
            <a:endParaRPr sz="1600"/>
          </a:p>
        </p:txBody>
      </p:sp>
      <p:sp>
        <p:nvSpPr>
          <p:cNvPr id="2090256467" name="Text 16"/>
          <p:cNvSpPr/>
          <p:nvPr/>
        </p:nvSpPr>
        <p:spPr bwMode="auto">
          <a:xfrm>
            <a:off x="7530345" y="5684638"/>
            <a:ext cx="2919804" cy="2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2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Cosa lo rende diverso</a:t>
            </a:r>
            <a:endParaRPr sz="2200" b="1"/>
          </a:p>
        </p:txBody>
      </p:sp>
      <p:sp>
        <p:nvSpPr>
          <p:cNvPr id="1759215665" name="Text 17"/>
          <p:cNvSpPr/>
          <p:nvPr/>
        </p:nvSpPr>
        <p:spPr bwMode="auto">
          <a:xfrm>
            <a:off x="7530346" y="6077903"/>
            <a:ext cx="63138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Offline, leggero (15 FPS background / 60 foreground), personalizzabile, dati crittografati con HMAC.</a:t>
            </a:r>
            <a:endParaRPr sz="1600"/>
          </a:p>
        </p:txBody>
      </p:sp>
      <p:sp>
        <p:nvSpPr>
          <p:cNvPr id="1262453071" name="Text 18"/>
          <p:cNvSpPr/>
          <p:nvPr/>
        </p:nvSpPr>
        <p:spPr bwMode="auto">
          <a:xfrm>
            <a:off x="1048941" y="7193993"/>
            <a:ext cx="7672602" cy="238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"Il software più utile è quello che ti fa stare bene senza chiederti nulla in cambio."</a:t>
            </a:r>
            <a:endParaRPr sz="1600"/>
          </a:p>
        </p:txBody>
      </p:sp>
      <p:sp>
        <p:nvSpPr>
          <p:cNvPr id="426115926" name="Shape 19"/>
          <p:cNvSpPr/>
          <p:nvPr/>
        </p:nvSpPr>
        <p:spPr bwMode="auto">
          <a:xfrm>
            <a:off x="793790" y="7050524"/>
            <a:ext cx="22860" cy="525066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1466800547" name=""/>
          <p:cNvSpPr/>
          <p:nvPr/>
        </p:nvSpPr>
        <p:spPr bwMode="auto">
          <a:xfrm rot="0" flipH="0" flipV="0">
            <a:off x="12301840" y="7660956"/>
            <a:ext cx="2371116" cy="5269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350014" name="Text 0"/>
          <p:cNvSpPr/>
          <p:nvPr/>
        </p:nvSpPr>
        <p:spPr bwMode="auto">
          <a:xfrm>
            <a:off x="793789" y="641865"/>
            <a:ext cx="5158376" cy="532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  <a:defRPr/>
            </a:pPr>
            <a:r>
              <a:rPr lang="en-US" sz="42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Architettura Tecnica</a:t>
            </a:r>
            <a:endParaRPr sz="4200" b="1"/>
          </a:p>
        </p:txBody>
      </p:sp>
      <p:sp>
        <p:nvSpPr>
          <p:cNvPr id="1434741033" name="Shape 1"/>
          <p:cNvSpPr/>
          <p:nvPr/>
        </p:nvSpPr>
        <p:spPr bwMode="auto">
          <a:xfrm>
            <a:off x="793790" y="1428631"/>
            <a:ext cx="13042821" cy="3732371"/>
          </a:xfrm>
          <a:prstGeom prst="roundRect">
            <a:avLst>
              <a:gd name="adj" fmla="val 684"/>
            </a:avLst>
          </a:prstGeom>
          <a:noFill/>
          <a:ln w="7620">
            <a:solidFill>
              <a:srgbClr val="000000">
                <a:alpha val="7999"/>
              </a:srgbClr>
            </a:solidFill>
            <a:prstDash val="solid"/>
          </a:ln>
        </p:spPr>
      </p:sp>
      <p:sp>
        <p:nvSpPr>
          <p:cNvPr id="1051445018" name="Text 2"/>
          <p:cNvSpPr/>
          <p:nvPr/>
        </p:nvSpPr>
        <p:spPr bwMode="auto">
          <a:xfrm>
            <a:off x="971668" y="1520307"/>
            <a:ext cx="566161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Layer</a:t>
            </a:r>
            <a:endParaRPr sz="1600"/>
          </a:p>
        </p:txBody>
      </p:sp>
      <p:sp>
        <p:nvSpPr>
          <p:cNvPr id="2001180241" name="Text 3"/>
          <p:cNvSpPr/>
          <p:nvPr/>
        </p:nvSpPr>
        <p:spPr bwMode="auto">
          <a:xfrm>
            <a:off x="2929532" y="1520307"/>
            <a:ext cx="1089636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Tecnologia</a:t>
            </a:r>
            <a:endParaRPr sz="1600"/>
          </a:p>
        </p:txBody>
      </p:sp>
      <p:sp>
        <p:nvSpPr>
          <p:cNvPr id="1267306256" name="Text 4"/>
          <p:cNvSpPr/>
          <p:nvPr/>
        </p:nvSpPr>
        <p:spPr bwMode="auto">
          <a:xfrm>
            <a:off x="5534977" y="1520307"/>
            <a:ext cx="934955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Dettaglio</a:t>
            </a:r>
            <a:endParaRPr sz="1600"/>
          </a:p>
        </p:txBody>
      </p:sp>
      <p:sp>
        <p:nvSpPr>
          <p:cNvPr id="1893519090" name="Text 5"/>
          <p:cNvSpPr/>
          <p:nvPr/>
        </p:nvSpPr>
        <p:spPr bwMode="auto">
          <a:xfrm>
            <a:off x="971668" y="1934169"/>
            <a:ext cx="639880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Engine</a:t>
            </a:r>
            <a:endParaRPr sz="1600"/>
          </a:p>
        </p:txBody>
      </p:sp>
      <p:sp>
        <p:nvSpPr>
          <p:cNvPr id="1726213571" name="Text 6"/>
          <p:cNvSpPr/>
          <p:nvPr/>
        </p:nvSpPr>
        <p:spPr bwMode="auto">
          <a:xfrm>
            <a:off x="2929532" y="1934169"/>
            <a:ext cx="929596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Godot 4.6</a:t>
            </a:r>
            <a:endParaRPr sz="1600"/>
          </a:p>
        </p:txBody>
      </p:sp>
      <p:sp>
        <p:nvSpPr>
          <p:cNvPr id="771090270" name="Text 7"/>
          <p:cNvSpPr/>
          <p:nvPr/>
        </p:nvSpPr>
        <p:spPr bwMode="auto">
          <a:xfrm>
            <a:off x="5534977" y="1934169"/>
            <a:ext cx="8447516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GDScript, renderer GL Compatibility, viewport 1280×720, filtro Nearest per pixel art nitido</a:t>
            </a:r>
            <a:endParaRPr sz="1600"/>
          </a:p>
        </p:txBody>
      </p:sp>
      <p:sp>
        <p:nvSpPr>
          <p:cNvPr id="741877454" name="Text 8"/>
          <p:cNvSpPr/>
          <p:nvPr/>
        </p:nvSpPr>
        <p:spPr bwMode="auto">
          <a:xfrm>
            <a:off x="971668" y="2348031"/>
            <a:ext cx="936640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DB Locale</a:t>
            </a:r>
            <a:endParaRPr sz="1600"/>
          </a:p>
        </p:txBody>
      </p:sp>
      <p:sp>
        <p:nvSpPr>
          <p:cNvPr id="1878742116" name="Text 9"/>
          <p:cNvSpPr/>
          <p:nvPr/>
        </p:nvSpPr>
        <p:spPr bwMode="auto">
          <a:xfrm>
            <a:off x="2929532" y="2348031"/>
            <a:ext cx="782058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SQLite 3</a:t>
            </a:r>
            <a:endParaRPr sz="1600"/>
          </a:p>
        </p:txBody>
      </p:sp>
      <p:sp>
        <p:nvSpPr>
          <p:cNvPr id="236395297" name="Text 10"/>
          <p:cNvSpPr/>
          <p:nvPr/>
        </p:nvSpPr>
        <p:spPr bwMode="auto">
          <a:xfrm>
            <a:off x="5534977" y="2348031"/>
            <a:ext cx="7641172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WAL mode, 11 tabelle, foreign keys con CASCADE, migrazioni automatiche v1→v5</a:t>
            </a:r>
            <a:endParaRPr sz="1600"/>
          </a:p>
        </p:txBody>
      </p:sp>
      <p:sp>
        <p:nvSpPr>
          <p:cNvPr id="1725775605" name="Text 11"/>
          <p:cNvSpPr/>
          <p:nvPr/>
        </p:nvSpPr>
        <p:spPr bwMode="auto">
          <a:xfrm>
            <a:off x="971668" y="2761893"/>
            <a:ext cx="884849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DB Cloud</a:t>
            </a:r>
            <a:endParaRPr sz="1600"/>
          </a:p>
        </p:txBody>
      </p:sp>
      <p:sp>
        <p:nvSpPr>
          <p:cNvPr id="905626427" name="Text 12"/>
          <p:cNvSpPr/>
          <p:nvPr/>
        </p:nvSpPr>
        <p:spPr bwMode="auto">
          <a:xfrm>
            <a:off x="2929532" y="2761893"/>
            <a:ext cx="2193232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Supabase (PostgreSQL)</a:t>
            </a:r>
            <a:endParaRPr sz="1600"/>
          </a:p>
        </p:txBody>
      </p:sp>
      <p:sp>
        <p:nvSpPr>
          <p:cNvPr id="461789352" name="Text 13"/>
          <p:cNvSpPr/>
          <p:nvPr/>
        </p:nvSpPr>
        <p:spPr bwMode="auto">
          <a:xfrm>
            <a:off x="5534977" y="2761893"/>
            <a:ext cx="6176317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15 tabelle, Row-Level Security per-utente, REST API auto-generata</a:t>
            </a:r>
            <a:endParaRPr sz="1600"/>
          </a:p>
        </p:txBody>
      </p:sp>
      <p:sp>
        <p:nvSpPr>
          <p:cNvPr id="1754580985" name="Text 14"/>
          <p:cNvSpPr/>
          <p:nvPr/>
        </p:nvSpPr>
        <p:spPr bwMode="auto">
          <a:xfrm>
            <a:off x="971668" y="3175753"/>
            <a:ext cx="1405244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Autenticazione</a:t>
            </a:r>
            <a:endParaRPr sz="1600"/>
          </a:p>
        </p:txBody>
      </p:sp>
      <p:sp>
        <p:nvSpPr>
          <p:cNvPr id="563732745" name="Text 15"/>
          <p:cNvSpPr/>
          <p:nvPr/>
        </p:nvSpPr>
        <p:spPr bwMode="auto">
          <a:xfrm>
            <a:off x="2929532" y="3175753"/>
            <a:ext cx="551974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Duale</a:t>
            </a:r>
            <a:endParaRPr sz="1600"/>
          </a:p>
        </p:txBody>
      </p:sp>
      <p:sp>
        <p:nvSpPr>
          <p:cNvPr id="1949828101" name="Text 16"/>
          <p:cNvSpPr/>
          <p:nvPr/>
        </p:nvSpPr>
        <p:spPr bwMode="auto">
          <a:xfrm>
            <a:off x="5534977" y="3175753"/>
            <a:ext cx="8084675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Locale: PBKDF2-SHA256 con salt random. Cloud: Supabase Auth con JWT auto-refresh</a:t>
            </a:r>
            <a:endParaRPr sz="1600"/>
          </a:p>
        </p:txBody>
      </p:sp>
      <p:sp>
        <p:nvSpPr>
          <p:cNvPr id="815946066" name="Text 17"/>
          <p:cNvSpPr/>
          <p:nvPr/>
        </p:nvSpPr>
        <p:spPr bwMode="auto">
          <a:xfrm>
            <a:off x="971668" y="3589614"/>
            <a:ext cx="798230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Integrità</a:t>
            </a:r>
            <a:endParaRPr sz="1600"/>
          </a:p>
        </p:txBody>
      </p:sp>
      <p:sp>
        <p:nvSpPr>
          <p:cNvPr id="34178998" name="Text 18"/>
          <p:cNvSpPr/>
          <p:nvPr/>
        </p:nvSpPr>
        <p:spPr bwMode="auto">
          <a:xfrm>
            <a:off x="2929532" y="3589614"/>
            <a:ext cx="1394832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HMAC-SHA256</a:t>
            </a:r>
            <a:endParaRPr sz="1600"/>
          </a:p>
        </p:txBody>
      </p:sp>
      <p:sp>
        <p:nvSpPr>
          <p:cNvPr id="1371367975" name="Text 19"/>
          <p:cNvSpPr/>
          <p:nvPr/>
        </p:nvSpPr>
        <p:spPr bwMode="auto">
          <a:xfrm>
            <a:off x="5534977" y="3589614"/>
            <a:ext cx="6203208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Firma crittografica su ogni salvataggio, rilevamento manomissioni</a:t>
            </a:r>
            <a:endParaRPr sz="1600"/>
          </a:p>
        </p:txBody>
      </p:sp>
      <p:sp>
        <p:nvSpPr>
          <p:cNvPr id="1841908456" name="Text 20"/>
          <p:cNvSpPr/>
          <p:nvPr/>
        </p:nvSpPr>
        <p:spPr bwMode="auto">
          <a:xfrm>
            <a:off x="971668" y="4003476"/>
            <a:ext cx="1228042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Osservabilità</a:t>
            </a:r>
            <a:endParaRPr sz="1600"/>
          </a:p>
        </p:txBody>
      </p:sp>
      <p:sp>
        <p:nvSpPr>
          <p:cNvPr id="77798359" name="Text 21"/>
          <p:cNvSpPr/>
          <p:nvPr/>
        </p:nvSpPr>
        <p:spPr bwMode="auto">
          <a:xfrm>
            <a:off x="2929532" y="4003476"/>
            <a:ext cx="1736236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Logger strutturato</a:t>
            </a:r>
            <a:endParaRPr sz="1600"/>
          </a:p>
        </p:txBody>
      </p:sp>
      <p:sp>
        <p:nvSpPr>
          <p:cNvPr id="620509132" name="Text 22"/>
          <p:cNvSpPr/>
          <p:nvPr/>
        </p:nvSpPr>
        <p:spPr bwMode="auto">
          <a:xfrm>
            <a:off x="5534977" y="4003476"/>
            <a:ext cx="7773030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JSON Lines con correlation ID, rotazione 5 MB × 5 file, redazione automatica secret</a:t>
            </a:r>
            <a:endParaRPr sz="1600"/>
          </a:p>
        </p:txBody>
      </p:sp>
      <p:sp>
        <p:nvSpPr>
          <p:cNvPr id="1374808667" name="Text 23"/>
          <p:cNvSpPr/>
          <p:nvPr/>
        </p:nvSpPr>
        <p:spPr bwMode="auto">
          <a:xfrm>
            <a:off x="971668" y="4417337"/>
            <a:ext cx="536492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CI/CD</a:t>
            </a:r>
            <a:endParaRPr sz="1600"/>
          </a:p>
        </p:txBody>
      </p:sp>
      <p:sp>
        <p:nvSpPr>
          <p:cNvPr id="1737634786" name="Text 24"/>
          <p:cNvSpPr/>
          <p:nvPr/>
        </p:nvSpPr>
        <p:spPr bwMode="auto">
          <a:xfrm>
            <a:off x="2929532" y="4417337"/>
            <a:ext cx="1416554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GitHub Actions</a:t>
            </a:r>
            <a:endParaRPr sz="1600"/>
          </a:p>
        </p:txBody>
      </p:sp>
      <p:sp>
        <p:nvSpPr>
          <p:cNvPr id="1058395984" name="Text 25"/>
          <p:cNvSpPr/>
          <p:nvPr/>
        </p:nvSpPr>
        <p:spPr bwMode="auto">
          <a:xfrm>
            <a:off x="5534977" y="4417337"/>
            <a:ext cx="8333104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9 job paralleli: lint, JSON, sprite, crossref, DB schema, signals, pixelart, smoke, deep-tests</a:t>
            </a:r>
            <a:endParaRPr sz="1600"/>
          </a:p>
        </p:txBody>
      </p:sp>
      <p:sp>
        <p:nvSpPr>
          <p:cNvPr id="51848945" name="Text 26"/>
          <p:cNvSpPr/>
          <p:nvPr/>
        </p:nvSpPr>
        <p:spPr bwMode="auto">
          <a:xfrm>
            <a:off x="971668" y="4831198"/>
            <a:ext cx="663891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Deploy</a:t>
            </a:r>
            <a:endParaRPr sz="1600"/>
          </a:p>
        </p:txBody>
      </p:sp>
      <p:sp>
        <p:nvSpPr>
          <p:cNvPr id="423295524" name="Text 27"/>
          <p:cNvSpPr/>
          <p:nvPr/>
        </p:nvSpPr>
        <p:spPr bwMode="auto">
          <a:xfrm>
            <a:off x="2929532" y="4831198"/>
            <a:ext cx="2384317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Netlify + GitHub Releases</a:t>
            </a:r>
            <a:endParaRPr sz="1600"/>
          </a:p>
        </p:txBody>
      </p:sp>
      <p:sp>
        <p:nvSpPr>
          <p:cNvPr id="149213731" name="Text 28"/>
          <p:cNvSpPr/>
          <p:nvPr/>
        </p:nvSpPr>
        <p:spPr bwMode="auto">
          <a:xfrm>
            <a:off x="5534977" y="4831198"/>
            <a:ext cx="5868247" cy="23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Build automatici Windows (.exe) e HTML5 su ogni push a main</a:t>
            </a:r>
            <a:endParaRPr sz="1600"/>
          </a:p>
        </p:txBody>
      </p:sp>
      <p:sp>
        <p:nvSpPr>
          <p:cNvPr id="795554207" name="Shape 31"/>
          <p:cNvSpPr/>
          <p:nvPr/>
        </p:nvSpPr>
        <p:spPr bwMode="auto">
          <a:xfrm>
            <a:off x="793789" y="5667136"/>
            <a:ext cx="4262557" cy="1158478"/>
          </a:xfrm>
          <a:prstGeom prst="roundRect">
            <a:avLst>
              <a:gd name="adj" fmla="val 2203"/>
            </a:avLst>
          </a:prstGeom>
          <a:solidFill>
            <a:srgbClr val="EAE8F3"/>
          </a:solidFill>
          <a:ln/>
        </p:spPr>
      </p:sp>
      <p:sp>
        <p:nvSpPr>
          <p:cNvPr id="587936751" name="Text 32"/>
          <p:cNvSpPr/>
          <p:nvPr/>
        </p:nvSpPr>
        <p:spPr bwMode="auto">
          <a:xfrm>
            <a:off x="963810" y="5837157"/>
            <a:ext cx="2227187" cy="266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Zero Accoppiamento</a:t>
            </a:r>
            <a:endParaRPr sz="1900"/>
          </a:p>
        </p:txBody>
      </p:sp>
      <p:sp>
        <p:nvSpPr>
          <p:cNvPr id="1329076684" name="Text 33"/>
          <p:cNvSpPr/>
          <p:nvPr/>
        </p:nvSpPr>
        <p:spPr bwMode="auto">
          <a:xfrm>
            <a:off x="963810" y="6179343"/>
            <a:ext cx="392251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Rimuovere o sostituire un sistema non rompe gli altri</a:t>
            </a:r>
            <a:endParaRPr sz="1500"/>
          </a:p>
        </p:txBody>
      </p:sp>
      <p:sp>
        <p:nvSpPr>
          <p:cNvPr id="918793519" name="Shape 34"/>
          <p:cNvSpPr/>
          <p:nvPr/>
        </p:nvSpPr>
        <p:spPr bwMode="auto">
          <a:xfrm>
            <a:off x="5183860" y="5667136"/>
            <a:ext cx="4262557" cy="1158478"/>
          </a:xfrm>
          <a:prstGeom prst="roundRect">
            <a:avLst>
              <a:gd name="adj" fmla="val 2203"/>
            </a:avLst>
          </a:prstGeom>
          <a:solidFill>
            <a:srgbClr val="EAE8F3"/>
          </a:solidFill>
          <a:ln/>
        </p:spPr>
      </p:sp>
      <p:sp>
        <p:nvSpPr>
          <p:cNvPr id="1050698530" name="Text 35"/>
          <p:cNvSpPr/>
          <p:nvPr/>
        </p:nvSpPr>
        <p:spPr bwMode="auto">
          <a:xfrm>
            <a:off x="5353882" y="5837157"/>
            <a:ext cx="1100464" cy="266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Testabilità</a:t>
            </a:r>
            <a:endParaRPr sz="1900"/>
          </a:p>
        </p:txBody>
      </p:sp>
      <p:sp>
        <p:nvSpPr>
          <p:cNvPr id="907339181" name="Text 36"/>
          <p:cNvSpPr/>
          <p:nvPr/>
        </p:nvSpPr>
        <p:spPr bwMode="auto">
          <a:xfrm>
            <a:off x="5353882" y="6179343"/>
            <a:ext cx="392251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Ogni componente può essere verificato in isolamento</a:t>
            </a:r>
            <a:endParaRPr sz="1500"/>
          </a:p>
        </p:txBody>
      </p:sp>
      <p:sp>
        <p:nvSpPr>
          <p:cNvPr id="2030545701" name="Shape 37"/>
          <p:cNvSpPr/>
          <p:nvPr/>
        </p:nvSpPr>
        <p:spPr bwMode="auto">
          <a:xfrm>
            <a:off x="9573934" y="5667136"/>
            <a:ext cx="4262557" cy="1158478"/>
          </a:xfrm>
          <a:prstGeom prst="roundRect">
            <a:avLst>
              <a:gd name="adj" fmla="val 2203"/>
            </a:avLst>
          </a:prstGeom>
          <a:solidFill>
            <a:srgbClr val="EAE8F3"/>
          </a:solidFill>
          <a:ln/>
        </p:spPr>
      </p:sp>
      <p:sp>
        <p:nvSpPr>
          <p:cNvPr id="1590030980" name="Text 38"/>
          <p:cNvSpPr/>
          <p:nvPr/>
        </p:nvSpPr>
        <p:spPr bwMode="auto">
          <a:xfrm>
            <a:off x="9743955" y="5837157"/>
            <a:ext cx="1288271" cy="266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Estensibilità</a:t>
            </a:r>
            <a:endParaRPr sz="1900"/>
          </a:p>
        </p:txBody>
      </p:sp>
      <p:sp>
        <p:nvSpPr>
          <p:cNvPr id="1409295349" name="Text 39"/>
          <p:cNvSpPr/>
          <p:nvPr/>
        </p:nvSpPr>
        <p:spPr bwMode="auto">
          <a:xfrm>
            <a:off x="9743955" y="6179343"/>
            <a:ext cx="392251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Aggiungere feature = connettere un listener, senza toccare il resto</a:t>
            </a:r>
            <a:endParaRPr sz="1500"/>
          </a:p>
        </p:txBody>
      </p:sp>
      <p:sp>
        <p:nvSpPr>
          <p:cNvPr id="240205570" name=""/>
          <p:cNvSpPr/>
          <p:nvPr/>
        </p:nvSpPr>
        <p:spPr bwMode="auto">
          <a:xfrm rot="0" flipH="0" flipV="0">
            <a:off x="12301840" y="7660956"/>
            <a:ext cx="2371116" cy="5269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34420" name="Text 0"/>
          <p:cNvSpPr/>
          <p:nvPr/>
        </p:nvSpPr>
        <p:spPr bwMode="auto">
          <a:xfrm>
            <a:off x="793789" y="690562"/>
            <a:ext cx="5040392" cy="63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  <a:defRPr/>
            </a:pPr>
            <a:r>
              <a:rPr lang="en-US" sz="42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Persistenza dei Dati</a:t>
            </a:r>
            <a:endParaRPr sz="4200" b="1"/>
          </a:p>
        </p:txBody>
      </p:sp>
      <p:sp>
        <p:nvSpPr>
          <p:cNvPr id="134220294" name="Text 1"/>
          <p:cNvSpPr/>
          <p:nvPr/>
        </p:nvSpPr>
        <p:spPr bwMode="auto">
          <a:xfrm>
            <a:off x="793789" y="1401960"/>
            <a:ext cx="8394571" cy="31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400">
                <a:solidFill>
                  <a:srgbClr val="5955EB"/>
                </a:solidFill>
                <a:latin typeface="Libre Baskerville"/>
                <a:ea typeface="Libre Baskerville"/>
                <a:cs typeface="Libre Baskerville"/>
              </a:rPr>
              <a:t>Tre livelli di protezione</a:t>
            </a:r>
            <a:r>
              <a:rPr lang="en-US" sz="24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 — I dati dell'utente non si perdono mai.</a:t>
            </a:r>
            <a:endParaRPr sz="2400"/>
          </a:p>
        </p:txBody>
      </p:sp>
      <p:sp>
        <p:nvSpPr>
          <p:cNvPr id="534797007" name="Shape 2"/>
          <p:cNvSpPr/>
          <p:nvPr/>
        </p:nvSpPr>
        <p:spPr bwMode="auto">
          <a:xfrm>
            <a:off x="1099899" y="2812733"/>
            <a:ext cx="3918823" cy="204073"/>
          </a:xfrm>
          <a:prstGeom prst="roundRect">
            <a:avLst>
              <a:gd name="adj" fmla="val 15005"/>
            </a:avLst>
          </a:prstGeom>
          <a:solidFill>
            <a:srgbClr val="EAE8F3"/>
          </a:solidFill>
          <a:ln/>
        </p:spPr>
      </p:sp>
      <p:sp>
        <p:nvSpPr>
          <p:cNvPr id="1519021517" name="Shape 3"/>
          <p:cNvSpPr/>
          <p:nvPr/>
        </p:nvSpPr>
        <p:spPr bwMode="auto">
          <a:xfrm>
            <a:off x="793790" y="2608600"/>
            <a:ext cx="612338" cy="612338"/>
          </a:xfrm>
          <a:prstGeom prst="roundRect">
            <a:avLst>
              <a:gd name="adj" fmla="val 74665"/>
            </a:avLst>
          </a:prstGeom>
          <a:solidFill>
            <a:srgbClr val="EAE8F3"/>
          </a:solidFill>
          <a:ln/>
        </p:spPr>
      </p:sp>
      <p:pic>
        <p:nvPicPr>
          <p:cNvPr id="274824644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946903" y="2761714"/>
            <a:ext cx="306110" cy="306110"/>
          </a:xfrm>
          <a:prstGeom prst="rect">
            <a:avLst/>
          </a:prstGeom>
        </p:spPr>
      </p:pic>
      <p:sp>
        <p:nvSpPr>
          <p:cNvPr id="859246945" name="Text 4"/>
          <p:cNvSpPr/>
          <p:nvPr/>
        </p:nvSpPr>
        <p:spPr bwMode="auto">
          <a:xfrm>
            <a:off x="997862" y="3404709"/>
            <a:ext cx="2124840" cy="31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1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JSON con HMAC</a:t>
            </a:r>
            <a:endParaRPr sz="2150"/>
          </a:p>
        </p:txBody>
      </p:sp>
      <p:sp>
        <p:nvSpPr>
          <p:cNvPr id="65512887" name="Text 5"/>
          <p:cNvSpPr/>
          <p:nvPr/>
        </p:nvSpPr>
        <p:spPr bwMode="auto">
          <a:xfrm>
            <a:off x="997863" y="3833693"/>
            <a:ext cx="3816906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Salvataggio primario in </a:t>
            </a:r>
            <a:r>
              <a:rPr lang="en-US" sz="1700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</a:rPr>
              <a:t>save_data.json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con firma crittografica </a:t>
            </a:r>
            <a:r>
              <a:rPr lang="en-US" sz="17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SHA-256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per rilevare manomissioni. Backup automatico e scrittura atomica (temp → rename) per resistenza ai crash.</a:t>
            </a:r>
            <a:endParaRPr sz="1700"/>
          </a:p>
        </p:txBody>
      </p:sp>
      <p:sp>
        <p:nvSpPr>
          <p:cNvPr id="52727388" name="Shape 6"/>
          <p:cNvSpPr/>
          <p:nvPr/>
        </p:nvSpPr>
        <p:spPr bwMode="auto">
          <a:xfrm>
            <a:off x="5508665" y="2506504"/>
            <a:ext cx="3918942" cy="204073"/>
          </a:xfrm>
          <a:prstGeom prst="roundRect">
            <a:avLst>
              <a:gd name="adj" fmla="val 15005"/>
            </a:avLst>
          </a:prstGeom>
          <a:solidFill>
            <a:srgbClr val="EAE8F3"/>
          </a:solidFill>
          <a:ln/>
        </p:spPr>
      </p:sp>
      <p:sp>
        <p:nvSpPr>
          <p:cNvPr id="1473485468" name="Shape 7"/>
          <p:cNvSpPr/>
          <p:nvPr/>
        </p:nvSpPr>
        <p:spPr bwMode="auto">
          <a:xfrm>
            <a:off x="5202554" y="2302371"/>
            <a:ext cx="612338" cy="612338"/>
          </a:xfrm>
          <a:prstGeom prst="roundRect">
            <a:avLst>
              <a:gd name="adj" fmla="val 74665"/>
            </a:avLst>
          </a:prstGeom>
          <a:solidFill>
            <a:srgbClr val="EAE8F3"/>
          </a:solidFill>
          <a:ln/>
        </p:spPr>
      </p:sp>
      <p:pic>
        <p:nvPicPr>
          <p:cNvPr id="1058496482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5355669" y="2455485"/>
            <a:ext cx="306110" cy="306110"/>
          </a:xfrm>
          <a:prstGeom prst="rect">
            <a:avLst/>
          </a:prstGeom>
        </p:spPr>
      </p:pic>
      <p:sp>
        <p:nvSpPr>
          <p:cNvPr id="1956338123" name="Text 8"/>
          <p:cNvSpPr/>
          <p:nvPr/>
        </p:nvSpPr>
        <p:spPr bwMode="auto">
          <a:xfrm>
            <a:off x="5406626" y="3098482"/>
            <a:ext cx="2019108" cy="31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1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SQLite con WAL</a:t>
            </a:r>
            <a:endParaRPr sz="2150"/>
          </a:p>
        </p:txBody>
      </p:sp>
      <p:sp>
        <p:nvSpPr>
          <p:cNvPr id="1818105258" name="Text 9"/>
          <p:cNvSpPr/>
          <p:nvPr/>
        </p:nvSpPr>
        <p:spPr bwMode="auto">
          <a:xfrm>
            <a:off x="5406628" y="3527465"/>
            <a:ext cx="3817025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Database relazionale locale con </a:t>
            </a:r>
            <a:r>
              <a:rPr lang="en-US" sz="17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11 tabelle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, foreign keys con CASCADE, indici, migrazioni automatiche v1→v5. Write-Ahead Logging per concorrenza sicura.</a:t>
            </a:r>
            <a:endParaRPr sz="1700"/>
          </a:p>
        </p:txBody>
      </p:sp>
      <p:sp>
        <p:nvSpPr>
          <p:cNvPr id="1412520504" name="Shape 10"/>
          <p:cNvSpPr/>
          <p:nvPr/>
        </p:nvSpPr>
        <p:spPr bwMode="auto">
          <a:xfrm>
            <a:off x="9917549" y="2200394"/>
            <a:ext cx="3918942" cy="204073"/>
          </a:xfrm>
          <a:prstGeom prst="roundRect">
            <a:avLst>
              <a:gd name="adj" fmla="val 15005"/>
            </a:avLst>
          </a:prstGeom>
          <a:solidFill>
            <a:srgbClr val="EAE8F3"/>
          </a:solidFill>
          <a:ln/>
        </p:spPr>
      </p:sp>
      <p:sp>
        <p:nvSpPr>
          <p:cNvPr id="1761545356" name="Shape 11"/>
          <p:cNvSpPr/>
          <p:nvPr/>
        </p:nvSpPr>
        <p:spPr bwMode="auto">
          <a:xfrm>
            <a:off x="9611439" y="1996261"/>
            <a:ext cx="612338" cy="612338"/>
          </a:xfrm>
          <a:prstGeom prst="roundRect">
            <a:avLst>
              <a:gd name="adj" fmla="val 74665"/>
            </a:avLst>
          </a:prstGeom>
          <a:solidFill>
            <a:srgbClr val="EAE8F3"/>
          </a:solidFill>
          <a:ln/>
        </p:spPr>
      </p:sp>
      <p:pic>
        <p:nvPicPr>
          <p:cNvPr id="1537599080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9764554" y="2149376"/>
            <a:ext cx="306110" cy="306110"/>
          </a:xfrm>
          <a:prstGeom prst="rect">
            <a:avLst/>
          </a:prstGeom>
        </p:spPr>
      </p:pic>
      <p:sp>
        <p:nvSpPr>
          <p:cNvPr id="586286463" name="Text 12"/>
          <p:cNvSpPr/>
          <p:nvPr/>
        </p:nvSpPr>
        <p:spPr bwMode="auto">
          <a:xfrm>
            <a:off x="9815511" y="2792372"/>
            <a:ext cx="2019771" cy="31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1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Supabase Cloud</a:t>
            </a:r>
            <a:endParaRPr sz="2150"/>
          </a:p>
        </p:txBody>
      </p:sp>
      <p:sp>
        <p:nvSpPr>
          <p:cNvPr id="646334449" name="Text 13"/>
          <p:cNvSpPr/>
          <p:nvPr/>
        </p:nvSpPr>
        <p:spPr bwMode="auto">
          <a:xfrm>
            <a:off x="9815512" y="3221355"/>
            <a:ext cx="3817025" cy="217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Offline-first: i dati locali hanno priorità, la coda si svuota al ritorno della connessione. </a:t>
            </a:r>
            <a:r>
              <a:rPr lang="en-US" sz="17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15 tabelle cloud</a:t>
            </a: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con RLS: ogni utente vede solo i propri dati.</a:t>
            </a:r>
            <a:endParaRPr sz="1700"/>
          </a:p>
        </p:txBody>
      </p:sp>
      <p:sp>
        <p:nvSpPr>
          <p:cNvPr id="1544939207" name="Shape 14"/>
          <p:cNvSpPr/>
          <p:nvPr/>
        </p:nvSpPr>
        <p:spPr bwMode="auto">
          <a:xfrm>
            <a:off x="793790" y="6106120"/>
            <a:ext cx="13042821" cy="1432798"/>
          </a:xfrm>
          <a:prstGeom prst="roundRect">
            <a:avLst>
              <a:gd name="adj" fmla="val 2137"/>
            </a:avLst>
          </a:prstGeom>
          <a:solidFill>
            <a:srgbClr val="B6D6FC"/>
          </a:solidFill>
          <a:ln/>
        </p:spPr>
      </p:sp>
      <p:pic>
        <p:nvPicPr>
          <p:cNvPr id="1834531574" name="Image 3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997863" y="6411158"/>
            <a:ext cx="255151" cy="204073"/>
          </a:xfrm>
          <a:prstGeom prst="rect">
            <a:avLst/>
          </a:prstGeom>
        </p:spPr>
      </p:pic>
      <p:sp>
        <p:nvSpPr>
          <p:cNvPr id="1033821282" name="Text 15"/>
          <p:cNvSpPr/>
          <p:nvPr/>
        </p:nvSpPr>
        <p:spPr bwMode="auto">
          <a:xfrm>
            <a:off x="1457087" y="6340793"/>
            <a:ext cx="12175450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5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Osservabilità — Logger strutturato:</a:t>
            </a:r>
            <a:r>
              <a:rPr lang="en-US" sz="15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JSON Lines, correlation ID, 4 livelli (DEBUG/INFO/WARN/ERROR), rotazione </a:t>
            </a:r>
            <a:r>
              <a:rPr lang="en-US" sz="155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5 MB × 5 file = 25 MB</a:t>
            </a:r>
            <a:r>
              <a:rPr lang="en-US" sz="15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, redazione automatica di secret (password, token, jwt, hmac_key). Flush ogni 2s, buffer 2000 entries.</a:t>
            </a:r>
            <a:endParaRPr sz="1550"/>
          </a:p>
        </p:txBody>
      </p:sp>
      <p:sp>
        <p:nvSpPr>
          <p:cNvPr id="1287244573" name=""/>
          <p:cNvSpPr/>
          <p:nvPr/>
        </p:nvSpPr>
        <p:spPr bwMode="auto">
          <a:xfrm rot="0" flipH="0" flipV="0">
            <a:off x="12301840" y="7660956"/>
            <a:ext cx="2371116" cy="5269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529315" name="Text 0"/>
          <p:cNvSpPr/>
          <p:nvPr/>
        </p:nvSpPr>
        <p:spPr bwMode="auto">
          <a:xfrm>
            <a:off x="793789" y="831771"/>
            <a:ext cx="5424819" cy="532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  <a:defRPr/>
            </a:pPr>
            <a:r>
              <a:rPr lang="en-US" sz="4200" b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Processo di Sviluppo</a:t>
            </a:r>
            <a:endParaRPr sz="4200" b="1"/>
          </a:p>
        </p:txBody>
      </p:sp>
      <p:sp>
        <p:nvSpPr>
          <p:cNvPr id="56124834" name="Shape 1"/>
          <p:cNvSpPr/>
          <p:nvPr/>
        </p:nvSpPr>
        <p:spPr bwMode="auto">
          <a:xfrm>
            <a:off x="671274" y="1554718"/>
            <a:ext cx="5885974" cy="5843111"/>
          </a:xfrm>
          <a:prstGeom prst="roundRect">
            <a:avLst>
              <a:gd name="adj" fmla="val 437"/>
            </a:avLst>
          </a:prstGeom>
          <a:solidFill>
            <a:srgbClr val="E7E0FF"/>
          </a:solidFill>
          <a:ln/>
        </p:spPr>
      </p:sp>
      <p:sp>
        <p:nvSpPr>
          <p:cNvPr id="399746091" name="Text 2"/>
          <p:cNvSpPr/>
          <p:nvPr/>
        </p:nvSpPr>
        <p:spPr bwMode="auto">
          <a:xfrm>
            <a:off x="841295" y="1682233"/>
            <a:ext cx="3455898" cy="2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400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Come abbiamo lavorato</a:t>
            </a:r>
            <a:endParaRPr sz="2400" b="1"/>
          </a:p>
        </p:txBody>
      </p:sp>
      <p:sp>
        <p:nvSpPr>
          <p:cNvPr id="1962097000" name="Text 3"/>
          <p:cNvSpPr/>
          <p:nvPr/>
        </p:nvSpPr>
        <p:spPr bwMode="auto">
          <a:xfrm>
            <a:off x="841296" y="2075498"/>
            <a:ext cx="554593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8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Sviluppo audit-driven</a:t>
            </a: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— 3 passaggi sistematici. Bug classificati per severità (critico/alto/medio) e risolti in ordine.</a:t>
            </a:r>
            <a:endParaRPr sz="1800"/>
          </a:p>
        </p:txBody>
      </p:sp>
      <p:sp>
        <p:nvSpPr>
          <p:cNvPr id="216557342" name="Text 4"/>
          <p:cNvSpPr/>
          <p:nvPr/>
        </p:nvSpPr>
        <p:spPr bwMode="auto">
          <a:xfrm>
            <a:off x="841295" y="3155512"/>
            <a:ext cx="3506648" cy="2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400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Gestione del Repository</a:t>
            </a:r>
            <a:endParaRPr sz="2400" b="1"/>
          </a:p>
        </p:txBody>
      </p:sp>
      <p:sp>
        <p:nvSpPr>
          <p:cNvPr id="1640727695" name="Text 5"/>
          <p:cNvSpPr/>
          <p:nvPr/>
        </p:nvSpPr>
        <p:spPr bwMode="auto">
          <a:xfrm flipH="0" flipV="0">
            <a:off x="841295" y="3548775"/>
            <a:ext cx="5545930" cy="3705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  <a:defRPr/>
            </a:pPr>
            <a:r>
              <a:rPr lang="en-US" sz="20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Commit semantici (feat/fix/chore/docs)</a:t>
            </a:r>
            <a:endParaRPr sz="2000" i="1"/>
          </a:p>
          <a:p>
            <a:pPr marL="342900" indent="-342900" algn="l">
              <a:lnSpc>
                <a:spcPct val="200000"/>
              </a:lnSpc>
              <a:buSzPct val="100000"/>
              <a:buChar char="•"/>
              <a:defRPr/>
            </a:pPr>
            <a:r>
              <a:rPr lang="en-US" sz="20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Sprint iterativi con task tracciati</a:t>
            </a:r>
            <a:endParaRPr sz="2000" i="1"/>
          </a:p>
          <a:p>
            <a:pPr marL="342900" indent="-342900" algn="l">
              <a:lnSpc>
                <a:spcPct val="200000"/>
              </a:lnSpc>
              <a:buSzPct val="100000"/>
              <a:buChar char="•"/>
              <a:defRPr/>
            </a:pPr>
            <a:r>
              <a:rPr lang="en-US" sz="20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Branch main con CI obbligatoria</a:t>
            </a:r>
            <a:endParaRPr sz="2000" i="1"/>
          </a:p>
          <a:p>
            <a:pPr marL="342900" indent="-342900" algn="l">
              <a:lnSpc>
                <a:spcPct val="200000"/>
              </a:lnSpc>
              <a:buSzPct val="100000"/>
              <a:buChar char="•"/>
              <a:defRPr/>
            </a:pPr>
            <a:r>
              <a:rPr lang="en-US" sz="20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Documentazione: guide </a:t>
            </a:r>
            <a:r>
              <a:rPr lang="en-US" sz="20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operative </a:t>
            </a:r>
            <a:r>
              <a:rPr lang="en-US" sz="20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per ogni membro del team</a:t>
            </a:r>
            <a:endParaRPr sz="2000"/>
          </a:p>
        </p:txBody>
      </p:sp>
      <p:sp>
        <p:nvSpPr>
          <p:cNvPr id="20860596" name="Text 6"/>
          <p:cNvSpPr/>
          <p:nvPr/>
        </p:nvSpPr>
        <p:spPr bwMode="auto">
          <a:xfrm>
            <a:off x="6857404" y="1586983"/>
            <a:ext cx="6856560" cy="2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800" b="1" i="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Continuous Integration — </a:t>
            </a:r>
            <a:r>
              <a:rPr lang="en-US" sz="2800" b="1" i="1">
                <a:solidFill>
                  <a:srgbClr val="5955EB"/>
                </a:solidFill>
                <a:latin typeface="Libre Baskerville"/>
                <a:ea typeface="Libre Baskerville"/>
                <a:cs typeface="Libre Baskerville"/>
              </a:rPr>
              <a:t>9 Job Paralleli</a:t>
            </a:r>
            <a:endParaRPr sz="2800" b="1" i="1"/>
          </a:p>
        </p:txBody>
      </p:sp>
      <p:sp>
        <p:nvSpPr>
          <p:cNvPr id="1951417517" name="Text 7"/>
          <p:cNvSpPr/>
          <p:nvPr/>
        </p:nvSpPr>
        <p:spPr bwMode="auto">
          <a:xfrm>
            <a:off x="6857404" y="2075497"/>
            <a:ext cx="6203222" cy="23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8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Pipeline GitHub Actions: nessun merge senza verde totale.</a:t>
            </a:r>
            <a:endParaRPr sz="1800"/>
          </a:p>
        </p:txBody>
      </p:sp>
      <p:pic>
        <p:nvPicPr>
          <p:cNvPr id="798765927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921103" y="2462332"/>
            <a:ext cx="255151" cy="255151"/>
          </a:xfrm>
          <a:prstGeom prst="rect">
            <a:avLst/>
          </a:prstGeom>
        </p:spPr>
      </p:pic>
      <p:sp>
        <p:nvSpPr>
          <p:cNvPr id="1055910259" name="Text 8"/>
          <p:cNvSpPr/>
          <p:nvPr/>
        </p:nvSpPr>
        <p:spPr bwMode="auto">
          <a:xfrm>
            <a:off x="7410092" y="2457092"/>
            <a:ext cx="381589" cy="26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lint</a:t>
            </a:r>
            <a:endParaRPr sz="2000" b="1"/>
          </a:p>
        </p:txBody>
      </p:sp>
      <p:sp>
        <p:nvSpPr>
          <p:cNvPr id="2025587364" name="Text 9"/>
          <p:cNvSpPr/>
          <p:nvPr/>
        </p:nvSpPr>
        <p:spPr bwMode="auto">
          <a:xfrm>
            <a:off x="7410092" y="2850355"/>
            <a:ext cx="2529381" cy="238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GDScript gdlint + gdformat</a:t>
            </a:r>
            <a:endParaRPr sz="1600"/>
          </a:p>
        </p:txBody>
      </p:sp>
      <p:pic>
        <p:nvPicPr>
          <p:cNvPr id="1134419326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6921103" y="3348871"/>
            <a:ext cx="255151" cy="255151"/>
          </a:xfrm>
          <a:prstGeom prst="rect">
            <a:avLst/>
          </a:prstGeom>
        </p:spPr>
      </p:pic>
      <p:sp>
        <p:nvSpPr>
          <p:cNvPr id="1916950620" name="Text 10"/>
          <p:cNvSpPr/>
          <p:nvPr/>
        </p:nvSpPr>
        <p:spPr bwMode="auto">
          <a:xfrm>
            <a:off x="7410092" y="3343631"/>
            <a:ext cx="1553353" cy="26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validate-json</a:t>
            </a:r>
            <a:endParaRPr sz="2000" b="1"/>
          </a:p>
        </p:txBody>
      </p:sp>
      <p:sp>
        <p:nvSpPr>
          <p:cNvPr id="711805487" name="Text 11"/>
          <p:cNvSpPr/>
          <p:nvPr/>
        </p:nvSpPr>
        <p:spPr bwMode="auto">
          <a:xfrm>
            <a:off x="7410092" y="3736895"/>
            <a:ext cx="2186183" cy="238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Cataloghi dei contenuti</a:t>
            </a:r>
            <a:endParaRPr sz="1600"/>
          </a:p>
        </p:txBody>
      </p:sp>
      <p:pic>
        <p:nvPicPr>
          <p:cNvPr id="1359015472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6921103" y="4235410"/>
            <a:ext cx="255151" cy="255151"/>
          </a:xfrm>
          <a:prstGeom prst="rect">
            <a:avLst/>
          </a:prstGeom>
        </p:spPr>
      </p:pic>
      <p:sp>
        <p:nvSpPr>
          <p:cNvPr id="2056772194" name="Text 12"/>
          <p:cNvSpPr/>
          <p:nvPr/>
        </p:nvSpPr>
        <p:spPr bwMode="auto">
          <a:xfrm>
            <a:off x="7410092" y="4230171"/>
            <a:ext cx="1864157" cy="26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validate-sprites</a:t>
            </a:r>
            <a:endParaRPr sz="2000" b="1"/>
          </a:p>
        </p:txBody>
      </p:sp>
      <p:sp>
        <p:nvSpPr>
          <p:cNvPr id="628871154" name="Text 13"/>
          <p:cNvSpPr/>
          <p:nvPr/>
        </p:nvSpPr>
        <p:spPr bwMode="auto">
          <a:xfrm>
            <a:off x="7410092" y="4623435"/>
            <a:ext cx="2483636" cy="238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Esistenza e integrità sprite</a:t>
            </a:r>
            <a:endParaRPr sz="1600"/>
          </a:p>
        </p:txBody>
      </p:sp>
      <p:pic>
        <p:nvPicPr>
          <p:cNvPr id="104669126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6921103" y="5121950"/>
            <a:ext cx="255151" cy="255151"/>
          </a:xfrm>
          <a:prstGeom prst="rect">
            <a:avLst/>
          </a:prstGeom>
        </p:spPr>
      </p:pic>
      <p:sp>
        <p:nvSpPr>
          <p:cNvPr id="1034567452" name="Text 14"/>
          <p:cNvSpPr/>
          <p:nvPr/>
        </p:nvSpPr>
        <p:spPr bwMode="auto">
          <a:xfrm>
            <a:off x="7410092" y="5116710"/>
            <a:ext cx="1341524" cy="26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validate-db</a:t>
            </a:r>
            <a:endParaRPr sz="2000" b="1"/>
          </a:p>
        </p:txBody>
      </p:sp>
      <p:sp>
        <p:nvSpPr>
          <p:cNvPr id="1793851034" name="Text 15"/>
          <p:cNvSpPr/>
          <p:nvPr/>
        </p:nvSpPr>
        <p:spPr bwMode="auto">
          <a:xfrm>
            <a:off x="7410092" y="5509973"/>
            <a:ext cx="2556664" cy="238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Schema SQLite e Supabase</a:t>
            </a:r>
            <a:endParaRPr sz="1600"/>
          </a:p>
        </p:txBody>
      </p:sp>
      <p:pic>
        <p:nvPicPr>
          <p:cNvPr id="1367304867" name="Image 4" descr="preencoded.png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>
            <a:off x="6921103" y="6008489"/>
            <a:ext cx="255151" cy="255151"/>
          </a:xfrm>
          <a:prstGeom prst="rect">
            <a:avLst/>
          </a:prstGeom>
        </p:spPr>
      </p:pic>
      <p:sp>
        <p:nvSpPr>
          <p:cNvPr id="260638175" name="Text 16"/>
          <p:cNvSpPr/>
          <p:nvPr/>
        </p:nvSpPr>
        <p:spPr bwMode="auto">
          <a:xfrm>
            <a:off x="7410092" y="6003249"/>
            <a:ext cx="3537097" cy="26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  <a:defRPr/>
            </a:pPr>
            <a:r>
              <a:rPr lang="en-US" sz="2000" b="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smoke-headless + deep-tests</a:t>
            </a:r>
            <a:endParaRPr sz="2000" b="1"/>
          </a:p>
        </p:txBody>
      </p:sp>
      <p:sp>
        <p:nvSpPr>
          <p:cNvPr id="1043581497" name="Text 17"/>
          <p:cNvSpPr/>
          <p:nvPr/>
        </p:nvSpPr>
        <p:spPr bwMode="auto">
          <a:xfrm>
            <a:off x="7410092" y="6396513"/>
            <a:ext cx="3329170" cy="238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Test Godot headless e approfonditi</a:t>
            </a:r>
            <a:endParaRPr sz="1600"/>
          </a:p>
        </p:txBody>
      </p:sp>
      <p:sp>
        <p:nvSpPr>
          <p:cNvPr id="86229511" name="Text 18"/>
          <p:cNvSpPr/>
          <p:nvPr/>
        </p:nvSpPr>
        <p:spPr bwMode="auto">
          <a:xfrm>
            <a:off x="7112556" y="6778109"/>
            <a:ext cx="673155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  <a:defRPr/>
            </a:pPr>
            <a:r>
              <a:rPr lang="en-US" sz="16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Ogni push validato automaticamente. Niente merge senza tutti i controlli verdi.</a:t>
            </a:r>
            <a:endParaRPr sz="1600"/>
          </a:p>
        </p:txBody>
      </p:sp>
      <p:sp>
        <p:nvSpPr>
          <p:cNvPr id="396296599" name="Shape 19"/>
          <p:cNvSpPr/>
          <p:nvPr/>
        </p:nvSpPr>
        <p:spPr bwMode="auto">
          <a:xfrm>
            <a:off x="6857405" y="6778109"/>
            <a:ext cx="22860" cy="476250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409637510" name=""/>
          <p:cNvSpPr/>
          <p:nvPr/>
        </p:nvSpPr>
        <p:spPr bwMode="auto">
          <a:xfrm rot="0" flipH="0" flipV="0">
            <a:off x="12301840" y="7660956"/>
            <a:ext cx="2371116" cy="5269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773866" name="Text 0"/>
          <p:cNvSpPr/>
          <p:nvPr/>
        </p:nvSpPr>
        <p:spPr bwMode="auto">
          <a:xfrm flipH="0" flipV="0">
            <a:off x="721398" y="666749"/>
            <a:ext cx="13115210" cy="712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99"/>
              </a:lnSpc>
              <a:buNone/>
              <a:defRPr/>
            </a:pPr>
            <a:r>
              <a:rPr lang="en-US" sz="5000" b="1" u="sng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</a:rPr>
              <a:t>Conclusione</a:t>
            </a:r>
            <a:endParaRPr sz="5000" b="1" u="sng"/>
          </a:p>
        </p:txBody>
      </p:sp>
      <p:sp>
        <p:nvSpPr>
          <p:cNvPr id="1408981411" name="Text 1"/>
          <p:cNvSpPr/>
          <p:nvPr/>
        </p:nvSpPr>
        <p:spPr bwMode="auto">
          <a:xfrm>
            <a:off x="7315000" y="1409103"/>
            <a:ext cx="756" cy="21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9"/>
              </a:lnSpc>
              <a:buNone/>
              <a:defRPr/>
            </a:pPr>
            <a:endParaRPr lang="en-US" sz="1250"/>
          </a:p>
        </p:txBody>
      </p:sp>
      <p:sp>
        <p:nvSpPr>
          <p:cNvPr id="1914964364" name="Shape 2"/>
          <p:cNvSpPr/>
          <p:nvPr/>
        </p:nvSpPr>
        <p:spPr bwMode="auto">
          <a:xfrm>
            <a:off x="793789" y="1750099"/>
            <a:ext cx="4273509" cy="1700569"/>
          </a:xfrm>
          <a:prstGeom prst="roundRect">
            <a:avLst>
              <a:gd name="adj" fmla="val 1401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71550240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1399" y="1677709"/>
            <a:ext cx="190499" cy="190499"/>
          </a:xfrm>
          <a:prstGeom prst="rect">
            <a:avLst/>
          </a:prstGeom>
        </p:spPr>
      </p:pic>
      <p:pic>
        <p:nvPicPr>
          <p:cNvPr id="83275332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49190" y="3332558"/>
            <a:ext cx="190499" cy="190499"/>
          </a:xfrm>
          <a:prstGeom prst="rect">
            <a:avLst/>
          </a:prstGeom>
        </p:spPr>
      </p:pic>
      <p:sp>
        <p:nvSpPr>
          <p:cNvPr id="503814100" name="Text 3"/>
          <p:cNvSpPr/>
          <p:nvPr/>
        </p:nvSpPr>
        <p:spPr bwMode="auto">
          <a:xfrm>
            <a:off x="1054773" y="2011083"/>
            <a:ext cx="2054284" cy="24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9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FreeSerif"/>
                <a:ea typeface="FreeSerif"/>
                <a:cs typeface="FreeSerif"/>
              </a:rPr>
              <a:t>Giorgia Chiampan</a:t>
            </a:r>
            <a:endParaRPr sz="2200">
              <a:latin typeface="FreeSerif"/>
              <a:cs typeface="FreeSerif"/>
            </a:endParaRPr>
          </a:p>
        </p:txBody>
      </p:sp>
      <p:sp>
        <p:nvSpPr>
          <p:cNvPr id="675268200" name="Text 4"/>
          <p:cNvSpPr/>
          <p:nvPr/>
        </p:nvSpPr>
        <p:spPr bwMode="auto">
          <a:xfrm>
            <a:off x="1054773" y="2611515"/>
            <a:ext cx="3751539" cy="86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9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La nostra tutor. Per la guida costante, la pazienza e la fiducia in ogni fase del progetto.</a:t>
            </a:r>
            <a:endParaRPr sz="1400"/>
          </a:p>
        </p:txBody>
      </p:sp>
      <p:sp>
        <p:nvSpPr>
          <p:cNvPr id="1047812754" name="Shape 5"/>
          <p:cNvSpPr/>
          <p:nvPr/>
        </p:nvSpPr>
        <p:spPr bwMode="auto">
          <a:xfrm>
            <a:off x="5178384" y="1750099"/>
            <a:ext cx="4273509" cy="1700569"/>
          </a:xfrm>
          <a:prstGeom prst="roundRect">
            <a:avLst>
              <a:gd name="adj" fmla="val 1401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593947154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05994" y="1677709"/>
            <a:ext cx="190499" cy="190499"/>
          </a:xfrm>
          <a:prstGeom prst="rect">
            <a:avLst/>
          </a:prstGeom>
        </p:spPr>
      </p:pic>
      <p:pic>
        <p:nvPicPr>
          <p:cNvPr id="2144323121" name="Image 3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333785" y="3332558"/>
            <a:ext cx="190499" cy="190499"/>
          </a:xfrm>
          <a:prstGeom prst="rect">
            <a:avLst/>
          </a:prstGeom>
        </p:spPr>
      </p:pic>
      <p:sp>
        <p:nvSpPr>
          <p:cNvPr id="1557508357" name="Text 6"/>
          <p:cNvSpPr/>
          <p:nvPr/>
        </p:nvSpPr>
        <p:spPr bwMode="auto">
          <a:xfrm>
            <a:off x="5439368" y="2011083"/>
            <a:ext cx="2903112" cy="24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9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FreeSerif"/>
                <a:ea typeface="FreeSerif"/>
                <a:cs typeface="FreeSerif"/>
              </a:rPr>
              <a:t>311-Verona &amp; Facilitatori</a:t>
            </a:r>
            <a:endParaRPr sz="2200">
              <a:latin typeface="FreeSerif"/>
              <a:cs typeface="FreeSerif"/>
            </a:endParaRPr>
          </a:p>
        </p:txBody>
      </p:sp>
      <p:sp>
        <p:nvSpPr>
          <p:cNvPr id="985375378" name="Text 7"/>
          <p:cNvSpPr/>
          <p:nvPr/>
        </p:nvSpPr>
        <p:spPr bwMode="auto">
          <a:xfrm>
            <a:off x="5439368" y="2611515"/>
            <a:ext cx="3751539" cy="86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9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Per gli spazi, gli strumenti e le opportunità che hanno trasformato un'idea in un prodotto.</a:t>
            </a:r>
            <a:endParaRPr sz="1400"/>
          </a:p>
        </p:txBody>
      </p:sp>
      <p:sp>
        <p:nvSpPr>
          <p:cNvPr id="583248070" name="Shape 8"/>
          <p:cNvSpPr/>
          <p:nvPr/>
        </p:nvSpPr>
        <p:spPr bwMode="auto">
          <a:xfrm>
            <a:off x="9562980" y="1750099"/>
            <a:ext cx="4273509" cy="1700569"/>
          </a:xfrm>
          <a:prstGeom prst="roundRect">
            <a:avLst>
              <a:gd name="adj" fmla="val 1401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652603118" name="Image 4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490590" y="1677709"/>
            <a:ext cx="190499" cy="190499"/>
          </a:xfrm>
          <a:prstGeom prst="rect">
            <a:avLst/>
          </a:prstGeom>
        </p:spPr>
      </p:pic>
      <p:pic>
        <p:nvPicPr>
          <p:cNvPr id="1034492912" name="Image 5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3718380" y="3332558"/>
            <a:ext cx="190499" cy="190499"/>
          </a:xfrm>
          <a:prstGeom prst="rect">
            <a:avLst/>
          </a:prstGeom>
        </p:spPr>
      </p:pic>
      <p:sp>
        <p:nvSpPr>
          <p:cNvPr id="1062101453" name="Text 9"/>
          <p:cNvSpPr/>
          <p:nvPr/>
        </p:nvSpPr>
        <p:spPr bwMode="auto">
          <a:xfrm>
            <a:off x="9823964" y="2011083"/>
            <a:ext cx="2385370" cy="24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9"/>
              </a:lnSpc>
              <a:buNone/>
              <a:defRPr/>
            </a:pPr>
            <a:r>
              <a:rPr lang="en-US" sz="2200">
                <a:solidFill>
                  <a:srgbClr val="49495A"/>
                </a:solidFill>
                <a:latin typeface="FreeSerif"/>
                <a:ea typeface="FreeSerif"/>
                <a:cs typeface="FreeSerif"/>
              </a:rPr>
              <a:t>Docenti &amp; Compagni</a:t>
            </a:r>
            <a:endParaRPr sz="2200">
              <a:latin typeface="FreeSerif"/>
              <a:cs typeface="FreeSerif"/>
            </a:endParaRPr>
          </a:p>
        </p:txBody>
      </p:sp>
      <p:sp>
        <p:nvSpPr>
          <p:cNvPr id="903147248" name="Text 10"/>
          <p:cNvSpPr/>
          <p:nvPr/>
        </p:nvSpPr>
        <p:spPr bwMode="auto">
          <a:xfrm>
            <a:off x="9823964" y="2611515"/>
            <a:ext cx="3751539" cy="647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9"/>
              </a:lnSpc>
              <a:buNone/>
              <a:defRPr/>
            </a:pPr>
            <a:r>
              <a:rPr lang="en-US" sz="140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Per domande, spunti e confronti durante tutto l'anno. Ogni conversazione ha lasciato un segno.</a:t>
            </a:r>
            <a:endParaRPr sz="1400"/>
          </a:p>
        </p:txBody>
      </p:sp>
      <p:sp>
        <p:nvSpPr>
          <p:cNvPr id="1207080431" name="Text 11"/>
          <p:cNvSpPr/>
          <p:nvPr/>
        </p:nvSpPr>
        <p:spPr bwMode="auto">
          <a:xfrm>
            <a:off x="1031913" y="3986451"/>
            <a:ext cx="12804696" cy="43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9"/>
              </a:lnSpc>
              <a:buNone/>
              <a:defRPr/>
            </a:pPr>
            <a:r>
              <a:rPr lang="en-US" sz="20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Relax Room non sarebbe esistito senza di voi.</a:t>
            </a:r>
            <a:r>
              <a:rPr lang="en-US" sz="20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Grazie.</a:t>
            </a:r>
            <a:endParaRPr sz="2000"/>
          </a:p>
        </p:txBody>
      </p:sp>
      <p:sp>
        <p:nvSpPr>
          <p:cNvPr id="1797739125" name="Shape 12"/>
          <p:cNvSpPr/>
          <p:nvPr/>
        </p:nvSpPr>
        <p:spPr bwMode="auto">
          <a:xfrm>
            <a:off x="793789" y="3575684"/>
            <a:ext cx="22860" cy="681989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1132671682" name="Text 13"/>
          <p:cNvSpPr/>
          <p:nvPr/>
        </p:nvSpPr>
        <p:spPr bwMode="auto">
          <a:xfrm>
            <a:off x="3184404" y="4461984"/>
            <a:ext cx="1671006" cy="52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99"/>
              </a:lnSpc>
              <a:buNone/>
              <a:defRPr/>
            </a:pPr>
            <a:r>
              <a:rPr lang="en-US" sz="4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10.650</a:t>
            </a:r>
            <a:endParaRPr sz="4300"/>
          </a:p>
        </p:txBody>
      </p:sp>
      <p:sp>
        <p:nvSpPr>
          <p:cNvPr id="1948582336" name="Text 14"/>
          <p:cNvSpPr/>
          <p:nvPr/>
        </p:nvSpPr>
        <p:spPr bwMode="auto">
          <a:xfrm>
            <a:off x="3194622" y="5148499"/>
            <a:ext cx="1650571" cy="248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49"/>
              </a:lnSpc>
              <a:buNone/>
              <a:defRPr/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Righe di codice</a:t>
            </a:r>
            <a:endParaRPr sz="1900"/>
          </a:p>
        </p:txBody>
      </p:sp>
      <p:sp>
        <p:nvSpPr>
          <p:cNvPr id="1095659636" name="Text 15"/>
          <p:cNvSpPr/>
          <p:nvPr/>
        </p:nvSpPr>
        <p:spPr bwMode="auto">
          <a:xfrm>
            <a:off x="2520856" y="5463181"/>
            <a:ext cx="2998220" cy="21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9"/>
              </a:lnSpc>
              <a:buNone/>
              <a:defRPr/>
            </a:pPr>
            <a:r>
              <a:rPr lang="en-US" sz="15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Pulito, testabile, pronto a scalare</a:t>
            </a:r>
            <a:endParaRPr sz="1550"/>
          </a:p>
        </p:txBody>
      </p:sp>
      <p:sp>
        <p:nvSpPr>
          <p:cNvPr id="671110806" name="Text 16"/>
          <p:cNvSpPr/>
          <p:nvPr/>
        </p:nvSpPr>
        <p:spPr bwMode="auto">
          <a:xfrm>
            <a:off x="10306658" y="4461984"/>
            <a:ext cx="608145" cy="52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99"/>
              </a:lnSpc>
              <a:buNone/>
              <a:defRPr/>
            </a:pPr>
            <a:r>
              <a:rPr lang="en-US" sz="4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46</a:t>
            </a:r>
            <a:endParaRPr sz="4300"/>
          </a:p>
        </p:txBody>
      </p:sp>
      <p:sp>
        <p:nvSpPr>
          <p:cNvPr id="659770062" name="Text 17"/>
          <p:cNvSpPr/>
          <p:nvPr/>
        </p:nvSpPr>
        <p:spPr bwMode="auto">
          <a:xfrm>
            <a:off x="9825565" y="5148499"/>
            <a:ext cx="1570332" cy="248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49"/>
              </a:lnSpc>
              <a:buNone/>
              <a:defRPr/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Segnali globali</a:t>
            </a:r>
            <a:endParaRPr sz="1900"/>
          </a:p>
        </p:txBody>
      </p:sp>
      <p:sp>
        <p:nvSpPr>
          <p:cNvPr id="360289620" name="Text 18"/>
          <p:cNvSpPr/>
          <p:nvPr/>
        </p:nvSpPr>
        <p:spPr bwMode="auto">
          <a:xfrm>
            <a:off x="9158292" y="5463181"/>
            <a:ext cx="2904995" cy="21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9"/>
              </a:lnSpc>
              <a:buNone/>
              <a:defRPr/>
            </a:pPr>
            <a:r>
              <a:rPr lang="en-US" sz="15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Zero accoppiamento tra sistemi</a:t>
            </a:r>
            <a:endParaRPr sz="1550"/>
          </a:p>
        </p:txBody>
      </p:sp>
      <p:sp>
        <p:nvSpPr>
          <p:cNvPr id="450492655" name="Text 19"/>
          <p:cNvSpPr/>
          <p:nvPr/>
        </p:nvSpPr>
        <p:spPr bwMode="auto">
          <a:xfrm>
            <a:off x="3563978" y="5980746"/>
            <a:ext cx="911857" cy="52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99"/>
              </a:lnSpc>
              <a:buNone/>
              <a:defRPr/>
            </a:pPr>
            <a:r>
              <a:rPr lang="en-US" sz="4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129</a:t>
            </a:r>
            <a:endParaRPr sz="4300"/>
          </a:p>
        </p:txBody>
      </p:sp>
      <p:sp>
        <p:nvSpPr>
          <p:cNvPr id="1747883700" name="Text 20"/>
          <p:cNvSpPr/>
          <p:nvPr/>
        </p:nvSpPr>
        <p:spPr bwMode="auto">
          <a:xfrm>
            <a:off x="3080688" y="6667260"/>
            <a:ext cx="1878439" cy="248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49"/>
              </a:lnSpc>
              <a:buNone/>
              <a:defRPr/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Oggetti decorativi</a:t>
            </a:r>
            <a:endParaRPr sz="1900"/>
          </a:p>
        </p:txBody>
      </p:sp>
      <p:sp>
        <p:nvSpPr>
          <p:cNvPr id="2130548786" name="Text 21"/>
          <p:cNvSpPr/>
          <p:nvPr/>
        </p:nvSpPr>
        <p:spPr bwMode="auto">
          <a:xfrm>
            <a:off x="2649073" y="6981942"/>
            <a:ext cx="2741786" cy="21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9"/>
              </a:lnSpc>
              <a:buNone/>
              <a:defRPr/>
            </a:pPr>
            <a:r>
              <a:rPr lang="en-US" sz="15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In 13 categorie drag-and-drop</a:t>
            </a:r>
            <a:endParaRPr sz="1550"/>
          </a:p>
        </p:txBody>
      </p:sp>
      <p:sp>
        <p:nvSpPr>
          <p:cNvPr id="389016232" name="Text 22"/>
          <p:cNvSpPr/>
          <p:nvPr/>
        </p:nvSpPr>
        <p:spPr bwMode="auto">
          <a:xfrm>
            <a:off x="10458513" y="5980746"/>
            <a:ext cx="304432" cy="52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99"/>
              </a:lnSpc>
              <a:buNone/>
              <a:defRPr/>
            </a:pPr>
            <a:r>
              <a:rPr lang="en-US" sz="4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3</a:t>
            </a:r>
            <a:endParaRPr sz="4300"/>
          </a:p>
        </p:txBody>
      </p:sp>
      <p:sp>
        <p:nvSpPr>
          <p:cNvPr id="108450995" name="Text 23"/>
          <p:cNvSpPr/>
          <p:nvPr/>
        </p:nvSpPr>
        <p:spPr bwMode="auto">
          <a:xfrm>
            <a:off x="9979969" y="6667260"/>
            <a:ext cx="1261523" cy="248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49"/>
              </a:lnSpc>
              <a:buNone/>
              <a:defRPr/>
            </a:pPr>
            <a:r>
              <a:rPr lang="en-US" sz="19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</a:rPr>
              <a:t>Sviluppatori</a:t>
            </a:r>
            <a:endParaRPr sz="1900"/>
          </a:p>
        </p:txBody>
      </p:sp>
      <p:sp>
        <p:nvSpPr>
          <p:cNvPr id="2082575702" name="Text 24"/>
          <p:cNvSpPr/>
          <p:nvPr/>
        </p:nvSpPr>
        <p:spPr bwMode="auto">
          <a:xfrm>
            <a:off x="9655990" y="6981942"/>
            <a:ext cx="1909598" cy="21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9"/>
              </a:lnSpc>
              <a:buNone/>
              <a:defRPr/>
            </a:pPr>
            <a:r>
              <a:rPr lang="en-US" sz="15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Renan · Elia · Cristian</a:t>
            </a:r>
            <a:endParaRPr sz="1550"/>
          </a:p>
        </p:txBody>
      </p:sp>
      <p:sp>
        <p:nvSpPr>
          <p:cNvPr id="1301422964" name="Text 25"/>
          <p:cNvSpPr/>
          <p:nvPr/>
        </p:nvSpPr>
        <p:spPr bwMode="auto">
          <a:xfrm>
            <a:off x="6219241" y="7322937"/>
            <a:ext cx="2192635" cy="21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9"/>
              </a:lnSpc>
              <a:buNone/>
              <a:defRPr/>
            </a:pPr>
            <a:r>
              <a:rPr lang="en-US" sz="1400" i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rojectwork IFTS 2025/2026</a:t>
            </a:r>
            <a:endParaRPr sz="1400"/>
          </a:p>
        </p:txBody>
      </p:sp>
      <p:sp>
        <p:nvSpPr>
          <p:cNvPr id="1175974637" name=""/>
          <p:cNvSpPr/>
          <p:nvPr/>
        </p:nvSpPr>
        <p:spPr bwMode="auto">
          <a:xfrm rot="0" flipH="0" flipV="0">
            <a:off x="12206590" y="7660956"/>
            <a:ext cx="2371116" cy="5269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4</cp:revision>
  <dcterms:created xsi:type="dcterms:W3CDTF">2026-04-17T07:28:38Z</dcterms:created>
  <dcterms:modified xsi:type="dcterms:W3CDTF">2026-04-17T10:20:26Z</dcterms:modified>
</cp:coreProperties>
</file>